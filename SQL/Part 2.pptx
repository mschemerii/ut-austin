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65" r:id="rId1"/>
  </p:sldMasterIdLst>
  <p:notesMasterIdLst>
    <p:notesMasterId r:id="rId58"/>
  </p:notesMasterIdLst>
  <p:handoutMasterIdLst>
    <p:handoutMasterId r:id="rId59"/>
  </p:handoutMasterIdLst>
  <p:sldIdLst>
    <p:sldId id="256" r:id="rId2"/>
    <p:sldId id="257" r:id="rId3"/>
    <p:sldId id="526" r:id="rId4"/>
    <p:sldId id="524" r:id="rId5"/>
    <p:sldId id="374" r:id="rId6"/>
    <p:sldId id="286" r:id="rId7"/>
    <p:sldId id="436" r:id="rId8"/>
    <p:sldId id="521" r:id="rId9"/>
    <p:sldId id="473" r:id="rId10"/>
    <p:sldId id="431" r:id="rId11"/>
    <p:sldId id="504" r:id="rId12"/>
    <p:sldId id="517" r:id="rId13"/>
    <p:sldId id="505" r:id="rId14"/>
    <p:sldId id="518" r:id="rId15"/>
    <p:sldId id="519" r:id="rId16"/>
    <p:sldId id="491" r:id="rId17"/>
    <p:sldId id="435" r:id="rId18"/>
    <p:sldId id="449" r:id="rId19"/>
    <p:sldId id="456" r:id="rId20"/>
    <p:sldId id="520" r:id="rId21"/>
    <p:sldId id="432" r:id="rId22"/>
    <p:sldId id="433" r:id="rId23"/>
    <p:sldId id="474" r:id="rId24"/>
    <p:sldId id="445" r:id="rId25"/>
    <p:sldId id="451" r:id="rId26"/>
    <p:sldId id="522" r:id="rId27"/>
    <p:sldId id="523" r:id="rId28"/>
    <p:sldId id="527" r:id="rId29"/>
    <p:sldId id="452" r:id="rId30"/>
    <p:sldId id="453" r:id="rId31"/>
    <p:sldId id="455" r:id="rId32"/>
    <p:sldId id="454" r:id="rId33"/>
    <p:sldId id="538" r:id="rId34"/>
    <p:sldId id="536" r:id="rId35"/>
    <p:sldId id="539" r:id="rId36"/>
    <p:sldId id="534" r:id="rId37"/>
    <p:sldId id="540" r:id="rId38"/>
    <p:sldId id="475" r:id="rId39"/>
    <p:sldId id="457" r:id="rId40"/>
    <p:sldId id="458" r:id="rId41"/>
    <p:sldId id="460" r:id="rId42"/>
    <p:sldId id="511" r:id="rId43"/>
    <p:sldId id="529" r:id="rId44"/>
    <p:sldId id="461" r:id="rId45"/>
    <p:sldId id="512" r:id="rId46"/>
    <p:sldId id="530" r:id="rId47"/>
    <p:sldId id="462" r:id="rId48"/>
    <p:sldId id="513" r:id="rId49"/>
    <p:sldId id="531" r:id="rId50"/>
    <p:sldId id="463" r:id="rId51"/>
    <p:sldId id="532" r:id="rId52"/>
    <p:sldId id="469" r:id="rId53"/>
    <p:sldId id="470" r:id="rId54"/>
    <p:sldId id="481" r:id="rId55"/>
    <p:sldId id="482" r:id="rId56"/>
    <p:sldId id="528" r:id="rId5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82" userDrawn="1">
          <p15:clr>
            <a:srgbClr val="A4A3A4"/>
          </p15:clr>
        </p15:guide>
        <p15:guide id="2" pos="325" userDrawn="1">
          <p15:clr>
            <a:srgbClr val="A4A3A4"/>
          </p15:clr>
        </p15:guide>
        <p15:guide id="3" pos="483" userDrawn="1">
          <p15:clr>
            <a:srgbClr val="A4A3A4"/>
          </p15:clr>
        </p15:guide>
        <p15:guide id="4" orient="horz" pos="935" userDrawn="1">
          <p15:clr>
            <a:srgbClr val="A4A3A4"/>
          </p15:clr>
        </p15:guide>
        <p15:guide id="5" pos="443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ndhya V" initials="SV" lastIdx="1" clrIdx="0">
    <p:extLst>
      <p:ext uri="{19B8F6BF-5375-455C-9EA6-DF929625EA0E}">
        <p15:presenceInfo xmlns:p15="http://schemas.microsoft.com/office/powerpoint/2012/main" userId="Sandhya V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7C5E0"/>
    <a:srgbClr val="AC93D1"/>
    <a:srgbClr val="DBFF01"/>
    <a:srgbClr val="9AC6FC"/>
    <a:srgbClr val="CFD7ED"/>
    <a:srgbClr val="464C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9" autoAdjust="0"/>
    <p:restoredTop sz="94000" autoAdjust="0"/>
  </p:normalViewPr>
  <p:slideViewPr>
    <p:cSldViewPr snapToGrid="0">
      <p:cViewPr varScale="1">
        <p:scale>
          <a:sx n="69" d="100"/>
          <a:sy n="69" d="100"/>
        </p:scale>
        <p:origin x="1044" y="66"/>
      </p:cViewPr>
      <p:guideLst>
        <p:guide orient="horz" pos="482"/>
        <p:guide pos="325"/>
        <p:guide pos="483"/>
        <p:guide orient="horz" pos="935"/>
        <p:guide pos="4430"/>
      </p:guideLst>
    </p:cSldViewPr>
  </p:slideViewPr>
  <p:outlineViewPr>
    <p:cViewPr>
      <p:scale>
        <a:sx n="33" d="100"/>
        <a:sy n="33" d="100"/>
      </p:scale>
      <p:origin x="0" y="-3704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8" d="100"/>
          <a:sy n="68" d="100"/>
        </p:scale>
        <p:origin x="3160" y="21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68D6D0B-3E5E-3B45-8FBB-4892F9C879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EC2BE3-E721-8245-9040-4B9C5B6F62F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7C38CC-80D7-CE4D-8C36-7E7175775BEF}" type="datetimeFigureOut">
              <a:rPr lang="en-US" smtClean="0"/>
              <a:t>4/13/2019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131DC5-CA7E-BB47-B950-ED03B646D51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DBMS Session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B2B9C9-128B-734F-9405-F1F344E7D79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074B8E-A265-5F4F-841B-F1620FB68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3643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79DA23-5C30-4663-B21B-35A9EB94FBD7}" type="datetimeFigureOut">
              <a:rPr lang="en-US" smtClean="0"/>
              <a:pPr/>
              <a:t>4/13/2019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DBMS Session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14FC26-B9EC-4977-A2D6-2A39F1575EF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10462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14FC26-B9EC-4977-A2D6-2A39F1575EF8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22882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14FC26-B9EC-4977-A2D6-2A39F1575EF8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6725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14FC26-B9EC-4977-A2D6-2A39F1575EF8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7720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14FC26-B9EC-4977-A2D6-2A39F1575EF8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37726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14FC26-B9EC-4977-A2D6-2A39F1575EF8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83858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14FC26-B9EC-4977-A2D6-2A39F1575EF8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7388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14FC26-B9EC-4977-A2D6-2A39F1575EF8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88302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009196">
              <a:defRPr sz="1300" b="1">
                <a:solidFill>
                  <a:schemeClr val="tx1"/>
                </a:solidFill>
                <a:latin typeface="Arial" charset="0"/>
              </a:defRPr>
            </a:lvl1pPr>
            <a:lvl2pPr marL="804605" indent="-309464" defTabSz="1009196">
              <a:defRPr sz="1300" b="1">
                <a:solidFill>
                  <a:schemeClr val="tx1"/>
                </a:solidFill>
                <a:latin typeface="Arial" charset="0"/>
              </a:defRPr>
            </a:lvl2pPr>
            <a:lvl3pPr marL="1237855" indent="-247572" defTabSz="1009196">
              <a:defRPr sz="1300" b="1">
                <a:solidFill>
                  <a:schemeClr val="tx1"/>
                </a:solidFill>
                <a:latin typeface="Arial" charset="0"/>
              </a:defRPr>
            </a:lvl3pPr>
            <a:lvl4pPr marL="1732997" indent="-247572" defTabSz="1009196">
              <a:defRPr sz="1300" b="1">
                <a:solidFill>
                  <a:schemeClr val="tx1"/>
                </a:solidFill>
                <a:latin typeface="Arial" charset="0"/>
              </a:defRPr>
            </a:lvl4pPr>
            <a:lvl5pPr marL="2228139" indent="-247572" defTabSz="1009196">
              <a:defRPr sz="1300" b="1">
                <a:solidFill>
                  <a:schemeClr val="tx1"/>
                </a:solidFill>
                <a:latin typeface="Arial" charset="0"/>
              </a:defRPr>
            </a:lvl5pPr>
            <a:lvl6pPr marL="2723281" indent="-247572" algn="ctr" defTabSz="1009196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33CC"/>
              </a:buClr>
              <a:buSzPct val="155000"/>
              <a:buFont typeface="Symbol" pitchFamily="18" charset="2"/>
              <a:defRPr sz="1300" b="1">
                <a:solidFill>
                  <a:schemeClr val="tx1"/>
                </a:solidFill>
                <a:latin typeface="Arial" charset="0"/>
              </a:defRPr>
            </a:lvl6pPr>
            <a:lvl7pPr marL="3218423" indent="-247572" algn="ctr" defTabSz="1009196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33CC"/>
              </a:buClr>
              <a:buSzPct val="155000"/>
              <a:buFont typeface="Symbol" pitchFamily="18" charset="2"/>
              <a:defRPr sz="1300" b="1">
                <a:solidFill>
                  <a:schemeClr val="tx1"/>
                </a:solidFill>
                <a:latin typeface="Arial" charset="0"/>
              </a:defRPr>
            </a:lvl7pPr>
            <a:lvl8pPr marL="3713565" indent="-247572" algn="ctr" defTabSz="1009196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33CC"/>
              </a:buClr>
              <a:buSzPct val="155000"/>
              <a:buFont typeface="Symbol" pitchFamily="18" charset="2"/>
              <a:defRPr sz="1300" b="1">
                <a:solidFill>
                  <a:schemeClr val="tx1"/>
                </a:solidFill>
                <a:latin typeface="Arial" charset="0"/>
              </a:defRPr>
            </a:lvl8pPr>
            <a:lvl9pPr marL="4208706" indent="-247572" algn="ctr" defTabSz="1009196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33CC"/>
              </a:buClr>
              <a:buSzPct val="155000"/>
              <a:buFont typeface="Symbol" pitchFamily="18" charset="2"/>
              <a:defRPr sz="13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EEEFCEBB-12B4-472D-B36F-0FD1CB2F1D30}" type="slidenum">
              <a:rPr lang="en-US" b="0" smtClean="0"/>
              <a:pPr/>
              <a:t>13</a:t>
            </a:fld>
            <a:endParaRPr lang="en-US" b="0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41663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009196">
              <a:defRPr sz="1300" b="1">
                <a:solidFill>
                  <a:schemeClr val="tx1"/>
                </a:solidFill>
                <a:latin typeface="Arial" charset="0"/>
              </a:defRPr>
            </a:lvl1pPr>
            <a:lvl2pPr marL="804605" indent="-309464" defTabSz="1009196">
              <a:defRPr sz="1300" b="1">
                <a:solidFill>
                  <a:schemeClr val="tx1"/>
                </a:solidFill>
                <a:latin typeface="Arial" charset="0"/>
              </a:defRPr>
            </a:lvl2pPr>
            <a:lvl3pPr marL="1237855" indent="-247572" defTabSz="1009196">
              <a:defRPr sz="1300" b="1">
                <a:solidFill>
                  <a:schemeClr val="tx1"/>
                </a:solidFill>
                <a:latin typeface="Arial" charset="0"/>
              </a:defRPr>
            </a:lvl3pPr>
            <a:lvl4pPr marL="1732997" indent="-247572" defTabSz="1009196">
              <a:defRPr sz="1300" b="1">
                <a:solidFill>
                  <a:schemeClr val="tx1"/>
                </a:solidFill>
                <a:latin typeface="Arial" charset="0"/>
              </a:defRPr>
            </a:lvl4pPr>
            <a:lvl5pPr marL="2228139" indent="-247572" defTabSz="1009196">
              <a:defRPr sz="1300" b="1">
                <a:solidFill>
                  <a:schemeClr val="tx1"/>
                </a:solidFill>
                <a:latin typeface="Arial" charset="0"/>
              </a:defRPr>
            </a:lvl5pPr>
            <a:lvl6pPr marL="2723281" indent="-247572" algn="ctr" defTabSz="1009196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33CC"/>
              </a:buClr>
              <a:buSzPct val="155000"/>
              <a:buFont typeface="Symbol" pitchFamily="18" charset="2"/>
              <a:defRPr sz="1300" b="1">
                <a:solidFill>
                  <a:schemeClr val="tx1"/>
                </a:solidFill>
                <a:latin typeface="Arial" charset="0"/>
              </a:defRPr>
            </a:lvl6pPr>
            <a:lvl7pPr marL="3218423" indent="-247572" algn="ctr" defTabSz="1009196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33CC"/>
              </a:buClr>
              <a:buSzPct val="155000"/>
              <a:buFont typeface="Symbol" pitchFamily="18" charset="2"/>
              <a:defRPr sz="1300" b="1">
                <a:solidFill>
                  <a:schemeClr val="tx1"/>
                </a:solidFill>
                <a:latin typeface="Arial" charset="0"/>
              </a:defRPr>
            </a:lvl7pPr>
            <a:lvl8pPr marL="3713565" indent="-247572" algn="ctr" defTabSz="1009196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33CC"/>
              </a:buClr>
              <a:buSzPct val="155000"/>
              <a:buFont typeface="Symbol" pitchFamily="18" charset="2"/>
              <a:defRPr sz="1300" b="1">
                <a:solidFill>
                  <a:schemeClr val="tx1"/>
                </a:solidFill>
                <a:latin typeface="Arial" charset="0"/>
              </a:defRPr>
            </a:lvl8pPr>
            <a:lvl9pPr marL="4208706" indent="-247572" algn="ctr" defTabSz="1009196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33CC"/>
              </a:buClr>
              <a:buSzPct val="155000"/>
              <a:buFont typeface="Symbol" pitchFamily="18" charset="2"/>
              <a:defRPr sz="13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EEEFCEBB-12B4-472D-B36F-0FD1CB2F1D30}" type="slidenum">
              <a:rPr lang="en-US" b="0" smtClean="0"/>
              <a:pPr/>
              <a:t>14</a:t>
            </a:fld>
            <a:endParaRPr lang="en-US" b="0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5583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14FC26-B9EC-4977-A2D6-2A39F1575EF8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8445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14FC26-B9EC-4977-A2D6-2A39F1575EF8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08204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14FC26-B9EC-4977-A2D6-2A39F1575EF8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5846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14FC26-B9EC-4977-A2D6-2A39F1575EF8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7602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DBMS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BD299-4115-435C-9390-0BF281B3F2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185240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DBMS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C0474-FAC8-4A61-AE60-AF58C3E14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895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DBMS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BD299-4115-435C-9390-0BF281B3F2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0609177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DBMS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BD299-4115-435C-9390-0BF281B3F2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7033632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DBMS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BD299-4115-435C-9390-0BF281B3F2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3664858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DBMS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BD299-4115-435C-9390-0BF281B3F2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2987737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DBMS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BD299-4115-435C-9390-0BF281B3F2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473392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DBMS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BD299-4115-435C-9390-0BF281B3F2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6512523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DBMS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BD299-4115-435C-9390-0BF281B3F2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478875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DBMS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BD299-4115-435C-9390-0BF281B3F2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484800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DBMS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BD299-4115-435C-9390-0BF281B3F2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235362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urs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1"/>
          </p:cNvSpPr>
          <p:nvPr>
            <p:ph type="title" hasCustomPrompt="1"/>
          </p:nvPr>
        </p:nvSpPr>
        <p:spPr>
          <a:xfrm>
            <a:off x="1048637" y="3964773"/>
            <a:ext cx="9055100" cy="746633"/>
          </a:xfrm>
          <a:prstGeom prst="rect">
            <a:avLst/>
          </a:prstGeom>
        </p:spPr>
        <p:txBody>
          <a:bodyPr anchor="b"/>
          <a:lstStyle>
            <a:lvl1pPr>
              <a:defRPr sz="4400" b="0" i="0">
                <a:solidFill>
                  <a:schemeClr val="tx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 dirty="0"/>
              <a:t>TITLE OF THE PRESENTATION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81199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86746" y="1549831"/>
            <a:ext cx="10515600" cy="4664989"/>
          </a:xfrm>
          <a:prstGeom prst="rect">
            <a:avLst/>
          </a:prstGeom>
        </p:spPr>
        <p:txBody>
          <a:bodyPr anchor="t"/>
          <a:lstStyle>
            <a:lvl1pPr marL="457200" indent="-457200">
              <a:lnSpc>
                <a:spcPct val="100000"/>
              </a:lnSpc>
              <a:spcBef>
                <a:spcPts val="0"/>
              </a:spcBef>
              <a:buSzPct val="137000"/>
              <a:buFont typeface="Courier New" panose="02070309020205020404" pitchFamily="49" charset="0"/>
              <a:buChar char="o"/>
              <a:defRPr sz="2400" b="0" i="0">
                <a:solidFill>
                  <a:schemeClr val="tx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defRPr sz="2400">
                <a:latin typeface="Helvetica LT Std Cond" panose="020B0506020202030204" pitchFamily="34" charset="0"/>
              </a:defRPr>
            </a:lvl2pPr>
            <a:lvl3pPr>
              <a:defRPr sz="2400">
                <a:latin typeface="Helvetica LT Std Cond" panose="020B0506020202030204" pitchFamily="34" charset="0"/>
              </a:defRPr>
            </a:lvl3pPr>
            <a:lvl4pPr>
              <a:defRPr sz="2400">
                <a:latin typeface="Helvetica LT Std Cond" panose="020B0506020202030204" pitchFamily="34" charset="0"/>
              </a:defRPr>
            </a:lvl4pPr>
            <a:lvl5pPr>
              <a:defRPr sz="2400">
                <a:latin typeface="Helvetica LT Std Cond" panose="020B0506020202030204" pitchFamily="34" charset="0"/>
              </a:defRPr>
            </a:lvl5pPr>
          </a:lstStyle>
          <a:p>
            <a:pPr lvl="0"/>
            <a:r>
              <a:rPr lang="en-US" dirty="0"/>
              <a:t>Define the first objective of this lecture.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Identify the second objective of this lecture.</a:t>
            </a:r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9C6A8DE-8FE9-C947-ABEB-0D96FF350D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8354" y="782156"/>
            <a:ext cx="9545006" cy="369812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Helvetica LT Std Cond" panose="020B0506020202030204" pitchFamily="34" charset="0"/>
              </a:defRPr>
            </a:lvl1pPr>
          </a:lstStyle>
          <a:p>
            <a:r>
              <a:rPr lang="en-US" dirty="0"/>
              <a:t>SLIDE TITLE</a:t>
            </a:r>
            <a:endParaRPr lang="en-IN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E253269-44A6-C246-A2C3-2854ADB5E3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8B07A9C-47ED-034F-A839-F18687017D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05665" y="6356350"/>
            <a:ext cx="58946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DBMS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3563B48-3766-0F4B-B81A-02F2A560A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6A7BD299-4115-435C-9390-0BF281B3F2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209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3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1"/>
                      </p:to>
                    </p:animClr>
                  </p:subTnLst>
                </p:cTn>
              </p:par>
            </p:tnLst>
          </p:tmpl>
        </p:tmplLst>
      </p:bldP>
    </p:bld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28354" y="1410347"/>
            <a:ext cx="10622576" cy="4904394"/>
          </a:xfrm>
          <a:prstGeom prst="rect">
            <a:avLst/>
          </a:prstGeom>
        </p:spPr>
        <p:txBody>
          <a:bodyPr anchor="t"/>
          <a:lstStyle>
            <a:lvl1pPr marL="457200" indent="-457200">
              <a:spcBef>
                <a:spcPts val="500"/>
              </a:spcBef>
              <a:buFont typeface="Wingdings" panose="05000000000000000000" pitchFamily="2" charset="2"/>
              <a:buChar char="Ø"/>
              <a:defRPr sz="24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defRPr sz="2200" b="0" i="0"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2000" b="0" i="0"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800" b="0" i="0"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 b="0" i="0"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28354" y="782156"/>
            <a:ext cx="9545006" cy="369812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Helvetica LT Std Cond" panose="020B0506020202030204" pitchFamily="34" charset="0"/>
              </a:defRPr>
            </a:lvl1pPr>
          </a:lstStyle>
          <a:p>
            <a:r>
              <a:rPr lang="en-US" dirty="0"/>
              <a:t>SLIDE TITLE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BC9A6D-6E96-CC49-AD7F-0562048D0B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3D4BEE-0E82-9441-8139-5B666B725B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3883" y="6377671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DBMS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FBE29A-2F43-674D-941C-BA15B828F2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6A7BD299-4115-435C-9390-0BF281B3F2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5630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28354" y="1409075"/>
            <a:ext cx="10622576" cy="4905665"/>
          </a:xfrm>
          <a:prstGeom prst="rect">
            <a:avLst/>
          </a:prstGeom>
        </p:spPr>
        <p:txBody>
          <a:bodyPr anchor="t"/>
          <a:lstStyle>
            <a:lvl1pPr marL="457200" indent="-457200">
              <a:spcBef>
                <a:spcPts val="500"/>
              </a:spcBef>
              <a:buFont typeface="Wingdings" panose="05000000000000000000" pitchFamily="2" charset="2"/>
              <a:buChar char="Ø"/>
              <a:defRPr sz="24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defRPr sz="2200" b="0" i="0"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2000" b="0" i="0"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800" b="0" i="0"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 b="0" i="0"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0DBBCB8-3376-954B-B199-B431B258F2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8354" y="782156"/>
            <a:ext cx="9545006" cy="369812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Helvetica LT Std Cond" panose="020B0506020202030204" pitchFamily="34" charset="0"/>
              </a:defRPr>
            </a:lvl1pPr>
          </a:lstStyle>
          <a:p>
            <a:r>
              <a:rPr lang="en-US" dirty="0"/>
              <a:t>SLIDE TITLE</a:t>
            </a:r>
            <a:endParaRPr lang="en-IN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385C25B-31D4-B74B-B4BF-D3B88BC705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A04E04F-9B78-A14F-92D3-9BA9A49D7D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05665" y="6371944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DBMS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59A618E-F9DD-8942-BB49-12F3515E93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6A7BD299-4115-435C-9390-0BF281B3F2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1241156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&amp; Imag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28354" y="1379349"/>
            <a:ext cx="10622576" cy="2760965"/>
          </a:xfrm>
          <a:prstGeom prst="rect">
            <a:avLst/>
          </a:prstGeom>
        </p:spPr>
        <p:txBody>
          <a:bodyPr anchor="t"/>
          <a:lstStyle>
            <a:lvl1pPr marL="457200" indent="-457200">
              <a:spcBef>
                <a:spcPts val="500"/>
              </a:spcBef>
              <a:buFont typeface="Wingdings" panose="05000000000000000000" pitchFamily="2" charset="2"/>
              <a:buChar char="Ø"/>
              <a:defRPr sz="24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defRPr sz="2200" b="0" i="0"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2000" b="0" i="0"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800" b="0" i="0"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 b="0" i="0"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28355" y="4272147"/>
            <a:ext cx="10622575" cy="19452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5B16AFC-B109-0C45-BA18-4E3BA8EF3D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8354" y="782156"/>
            <a:ext cx="9545006" cy="369812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Helvetica LT Std Cond" panose="020B0506020202030204" pitchFamily="34" charset="0"/>
              </a:defRPr>
            </a:lvl1pPr>
          </a:lstStyle>
          <a:p>
            <a:r>
              <a:rPr lang="en-US" dirty="0"/>
              <a:t>SLIDE TITLE</a:t>
            </a:r>
            <a:endParaRPr lang="en-IN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FA5AECF-AE16-FF47-A486-F2105CD0E6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6989028-5E7B-0D4F-8AAD-8F694E810B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05665" y="6367060"/>
            <a:ext cx="5789735" cy="3544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DBMS</a:t>
            </a:r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4D08402-92F4-924A-B23B-C2212E8441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6A7BD299-4115-435C-9390-0BF281B3F2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131818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DBMS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7BD299-4115-435C-9390-0BF281B3F2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920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6" r:id="rId1"/>
    <p:sldLayoutId id="2147483967" r:id="rId2"/>
    <p:sldLayoutId id="2147483968" r:id="rId3"/>
    <p:sldLayoutId id="2147483969" r:id="rId4"/>
    <p:sldLayoutId id="2147483970" r:id="rId5"/>
    <p:sldLayoutId id="2147483971" r:id="rId6"/>
    <p:sldLayoutId id="2147483972" r:id="rId7"/>
    <p:sldLayoutId id="2147483973" r:id="rId8"/>
    <p:sldLayoutId id="2147483974" r:id="rId9"/>
    <p:sldLayoutId id="2147483975" r:id="rId10"/>
    <p:sldLayoutId id="2147483976" r:id="rId11"/>
    <p:sldLayoutId id="2147483977" r:id="rId12"/>
    <p:sldLayoutId id="2147483978" r:id="rId13"/>
    <p:sldLayoutId id="2147483979" r:id="rId14"/>
    <p:sldLayoutId id="2147483980" r:id="rId15"/>
    <p:sldLayoutId id="2147483841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247877" y="3844966"/>
            <a:ext cx="9055100" cy="734291"/>
          </a:xfrm>
        </p:spPr>
        <p:txBody>
          <a:bodyPr>
            <a:normAutofit/>
          </a:bodyPr>
          <a:lstStyle/>
          <a:p>
            <a:pPr algn="ctr"/>
            <a:r>
              <a:rPr lang="en-IN" b="1" dirty="0" smtClean="0">
                <a:latin typeface="+mn-lt"/>
              </a:rPr>
              <a:t>Structured Query Language</a:t>
            </a:r>
            <a:endParaRPr lang="en-US" b="1" dirty="0">
              <a:latin typeface="+mn-lt"/>
            </a:endParaRPr>
          </a:p>
        </p:txBody>
      </p:sp>
      <p:pic>
        <p:nvPicPr>
          <p:cNvPr id="1026" name="Picture 2" descr="https://d1vwxdpzbgdqj.cloudfront.net/assets/Greatlearning_Logo-4b88cc7639c4139813b2691e77a52d1143606e1fc9a7202139fa1e28c0bafb0c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9364" y="2314161"/>
            <a:ext cx="5572125" cy="1095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953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766763" y="1484313"/>
            <a:ext cx="9162075" cy="4440052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+mn-lt"/>
              </a:rPr>
              <a:t>Introduction </a:t>
            </a:r>
            <a:r>
              <a:rPr lang="en-US" sz="2000" dirty="0" smtClean="0">
                <a:latin typeface="+mn-lt"/>
              </a:rPr>
              <a:t>to SQL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+mn-lt"/>
              </a:rPr>
              <a:t>Subsets of SQL</a:t>
            </a:r>
          </a:p>
          <a:p>
            <a:pPr lvl="1"/>
            <a:r>
              <a:rPr lang="en-US" sz="2000" dirty="0" smtClean="0">
                <a:latin typeface="+mn-lt"/>
              </a:rPr>
              <a:t>DDL</a:t>
            </a:r>
          </a:p>
          <a:p>
            <a:pPr lvl="1"/>
            <a:r>
              <a:rPr lang="en-US" sz="2000" dirty="0" smtClean="0">
                <a:latin typeface="+mn-lt"/>
              </a:rPr>
              <a:t>DML</a:t>
            </a:r>
          </a:p>
          <a:p>
            <a:pPr lvl="1"/>
            <a:r>
              <a:rPr lang="en-US" sz="2000" dirty="0" smtClean="0">
                <a:latin typeface="+mn-lt"/>
              </a:rPr>
              <a:t>DCL</a:t>
            </a:r>
          </a:p>
          <a:p>
            <a:pPr lvl="1"/>
            <a:r>
              <a:rPr lang="en-US" sz="2000" dirty="0" smtClean="0">
                <a:latin typeface="+mn-lt"/>
              </a:rPr>
              <a:t>TCL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+mn-lt"/>
              </a:rPr>
              <a:t>SQL Operators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+mn-lt"/>
              </a:rPr>
              <a:t>SQL </a:t>
            </a:r>
            <a:r>
              <a:rPr lang="en-US" sz="2000" dirty="0" smtClean="0">
                <a:latin typeface="+mn-lt"/>
              </a:rPr>
              <a:t>Functions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+mn-lt"/>
              </a:rPr>
              <a:t>SQL SET Operators</a:t>
            </a:r>
            <a:endParaRPr lang="en-US" sz="2000" dirty="0" smtClean="0"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+mn-lt"/>
              </a:rPr>
              <a:t>SQL Joins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CB4540-02EA-A847-9B20-43D76721B5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A7BD299-4115-435C-9390-0BF281B3F2C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938" y="765175"/>
            <a:ext cx="9545006" cy="369812"/>
          </a:xfrm>
        </p:spPr>
        <p:txBody>
          <a:bodyPr>
            <a:noAutofit/>
          </a:bodyPr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Table of Contents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6765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568450" y="3061855"/>
            <a:ext cx="9055100" cy="734291"/>
          </a:xfrm>
        </p:spPr>
        <p:txBody>
          <a:bodyPr>
            <a:normAutofit/>
          </a:bodyPr>
          <a:lstStyle/>
          <a:p>
            <a:pPr algn="ctr"/>
            <a:r>
              <a:rPr lang="en-IN" b="1" dirty="0" smtClean="0">
                <a:latin typeface="+mn-lt"/>
              </a:rPr>
              <a:t>Introduction to SQL</a:t>
            </a:r>
            <a:endParaRPr lang="en-US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74899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766763" y="1484313"/>
            <a:ext cx="9162075" cy="214745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dirty="0" smtClean="0">
                <a:latin typeface="+mn-lt"/>
              </a:rPr>
              <a:t>Programming </a:t>
            </a:r>
            <a:r>
              <a:rPr lang="en-US" sz="2000" dirty="0">
                <a:latin typeface="+mn-lt"/>
              </a:rPr>
              <a:t>language specifically designed for working with </a:t>
            </a:r>
            <a:r>
              <a:rPr lang="en-US" sz="2000" dirty="0" smtClean="0">
                <a:latin typeface="+mn-lt"/>
              </a:rPr>
              <a:t>Database to…</a:t>
            </a:r>
          </a:p>
          <a:p>
            <a:pPr marL="0" indent="0">
              <a:buNone/>
            </a:pPr>
            <a:endParaRPr lang="en-US" sz="2000" dirty="0" smtClean="0">
              <a:latin typeface="+mn-lt"/>
            </a:endParaRPr>
          </a:p>
          <a:p>
            <a:pPr lvl="1"/>
            <a:r>
              <a:rPr lang="en-US" sz="2000" dirty="0" smtClean="0">
                <a:latin typeface="+mn-lt"/>
              </a:rPr>
              <a:t>CREATE</a:t>
            </a:r>
          </a:p>
          <a:p>
            <a:pPr lvl="1"/>
            <a:endParaRPr lang="en-US" sz="2000" dirty="0">
              <a:latin typeface="+mn-lt"/>
            </a:endParaRPr>
          </a:p>
          <a:p>
            <a:pPr lvl="1"/>
            <a:r>
              <a:rPr lang="en-US" sz="2000" dirty="0" smtClean="0">
                <a:latin typeface="+mn-lt"/>
              </a:rPr>
              <a:t>MANIPULATE</a:t>
            </a:r>
          </a:p>
          <a:p>
            <a:pPr lvl="1"/>
            <a:endParaRPr lang="en-US" sz="2000" dirty="0">
              <a:latin typeface="+mn-lt"/>
            </a:endParaRPr>
          </a:p>
          <a:p>
            <a:pPr lvl="1"/>
            <a:r>
              <a:rPr lang="en-US" sz="2000" dirty="0" smtClean="0">
                <a:latin typeface="+mn-lt"/>
              </a:rPr>
              <a:t>SHARE/ACCESS</a:t>
            </a:r>
            <a:endParaRPr lang="en-US" sz="2000" dirty="0">
              <a:latin typeface="+mn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CB4540-02EA-A847-9B20-43D76721B5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A7BD299-4115-435C-9390-0BF281B3F2C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is SQL ?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2212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766763" y="1484313"/>
            <a:ext cx="9793282" cy="4904394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sz="2000" dirty="0">
                <a:latin typeface="+mn-lt"/>
                <a:cs typeface="Arial" panose="020B0604020202020204" pitchFamily="34" charset="0"/>
              </a:rPr>
              <a:t>SQL is widely popular because it offers the following advantages: </a:t>
            </a:r>
            <a:endParaRPr lang="en-US" sz="2000" dirty="0" smtClean="0">
              <a:latin typeface="+mn-lt"/>
              <a:cs typeface="Arial" panose="020B0604020202020204" pitchFamily="34" charset="0"/>
            </a:endParaRPr>
          </a:p>
          <a:p>
            <a:pPr marL="0" indent="0">
              <a:spcBef>
                <a:spcPts val="1200"/>
              </a:spcBef>
              <a:buNone/>
            </a:pPr>
            <a:endParaRPr lang="en-US" sz="2000" dirty="0">
              <a:latin typeface="+mn-lt"/>
              <a:cs typeface="Arial" panose="020B0604020202020204" pitchFamily="34" charset="0"/>
            </a:endParaRPr>
          </a:p>
          <a:p>
            <a:pPr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+mn-lt"/>
                <a:cs typeface="Arial" panose="020B0604020202020204" pitchFamily="34" charset="0"/>
              </a:rPr>
              <a:t>Allows </a:t>
            </a:r>
            <a:r>
              <a:rPr lang="en-US" sz="2000" dirty="0">
                <a:latin typeface="+mn-lt"/>
                <a:cs typeface="Arial" panose="020B0604020202020204" pitchFamily="34" charset="0"/>
              </a:rPr>
              <a:t>users to </a:t>
            </a:r>
            <a:r>
              <a:rPr lang="en-US" sz="2000" b="1" dirty="0">
                <a:latin typeface="+mn-lt"/>
                <a:cs typeface="Arial" panose="020B0604020202020204" pitchFamily="34" charset="0"/>
              </a:rPr>
              <a:t>access data </a:t>
            </a:r>
            <a:r>
              <a:rPr lang="en-US" sz="2000" dirty="0">
                <a:latin typeface="+mn-lt"/>
                <a:cs typeface="Arial" panose="020B0604020202020204" pitchFamily="34" charset="0"/>
              </a:rPr>
              <a:t>in the relational database management systems. </a:t>
            </a:r>
            <a:endParaRPr lang="en-US" sz="2000" dirty="0" smtClean="0">
              <a:latin typeface="+mn-lt"/>
              <a:cs typeface="Arial" panose="020B0604020202020204" pitchFamily="34" charset="0"/>
            </a:endParaRPr>
          </a:p>
          <a:p>
            <a:pPr>
              <a:spcBef>
                <a:spcPts val="1200"/>
              </a:spcBef>
              <a:buFont typeface="Wingdings" panose="05000000000000000000" pitchFamily="2" charset="2"/>
              <a:buChar char="§"/>
            </a:pPr>
            <a:endParaRPr lang="en-US" sz="2000" dirty="0">
              <a:latin typeface="+mn-lt"/>
              <a:cs typeface="Arial" panose="020B0604020202020204" pitchFamily="34" charset="0"/>
            </a:endParaRPr>
          </a:p>
          <a:p>
            <a:pPr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+mn-lt"/>
                <a:cs typeface="Arial" panose="020B0604020202020204" pitchFamily="34" charset="0"/>
              </a:rPr>
              <a:t>Allows </a:t>
            </a:r>
            <a:r>
              <a:rPr lang="en-US" sz="2000" dirty="0">
                <a:latin typeface="+mn-lt"/>
                <a:cs typeface="Arial" panose="020B0604020202020204" pitchFamily="34" charset="0"/>
              </a:rPr>
              <a:t>users to </a:t>
            </a:r>
            <a:r>
              <a:rPr lang="en-US" sz="2000" b="1" dirty="0">
                <a:latin typeface="+mn-lt"/>
                <a:cs typeface="Arial" panose="020B0604020202020204" pitchFamily="34" charset="0"/>
              </a:rPr>
              <a:t>describe the data</a:t>
            </a:r>
            <a:r>
              <a:rPr lang="en-US" sz="2000" dirty="0">
                <a:latin typeface="+mn-lt"/>
                <a:cs typeface="Arial" panose="020B0604020202020204" pitchFamily="34" charset="0"/>
              </a:rPr>
              <a:t>. </a:t>
            </a:r>
            <a:endParaRPr lang="en-US" sz="2000" dirty="0" smtClean="0">
              <a:latin typeface="+mn-lt"/>
              <a:cs typeface="Arial" panose="020B0604020202020204" pitchFamily="34" charset="0"/>
            </a:endParaRPr>
          </a:p>
          <a:p>
            <a:pPr>
              <a:spcBef>
                <a:spcPts val="1200"/>
              </a:spcBef>
              <a:buFont typeface="Wingdings" panose="05000000000000000000" pitchFamily="2" charset="2"/>
              <a:buChar char="§"/>
            </a:pPr>
            <a:endParaRPr lang="en-US" sz="2000" dirty="0">
              <a:latin typeface="+mn-lt"/>
              <a:cs typeface="Arial" panose="020B0604020202020204" pitchFamily="34" charset="0"/>
            </a:endParaRPr>
          </a:p>
          <a:p>
            <a:pPr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+mn-lt"/>
                <a:cs typeface="Arial" panose="020B0604020202020204" pitchFamily="34" charset="0"/>
              </a:rPr>
              <a:t>Allows </a:t>
            </a:r>
            <a:r>
              <a:rPr lang="en-US" sz="2000" dirty="0">
                <a:latin typeface="+mn-lt"/>
                <a:cs typeface="Arial" panose="020B0604020202020204" pitchFamily="34" charset="0"/>
              </a:rPr>
              <a:t>users to </a:t>
            </a:r>
            <a:r>
              <a:rPr lang="en-US" sz="2000" b="1" dirty="0">
                <a:latin typeface="+mn-lt"/>
                <a:cs typeface="Arial" panose="020B0604020202020204" pitchFamily="34" charset="0"/>
              </a:rPr>
              <a:t>define the data </a:t>
            </a:r>
            <a:r>
              <a:rPr lang="en-US" sz="2000" dirty="0">
                <a:latin typeface="+mn-lt"/>
                <a:cs typeface="Arial" panose="020B0604020202020204" pitchFamily="34" charset="0"/>
              </a:rPr>
              <a:t>in a database and manipulate that data.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Why SQL?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9F0097-4884-6F44-BC7A-286FF34B2D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A7BD299-4115-435C-9390-0BF281B3F2C8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766763" y="1484313"/>
            <a:ext cx="9336082" cy="385156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 smtClean="0">
                <a:latin typeface="+mn-lt"/>
                <a:cs typeface="Arial" panose="020B0604020202020204" pitchFamily="34" charset="0"/>
              </a:rPr>
              <a:t>Data</a:t>
            </a:r>
          </a:p>
          <a:p>
            <a:pPr marL="0" indent="0">
              <a:buNone/>
            </a:pPr>
            <a:r>
              <a:rPr lang="en-US" sz="2000" dirty="0" smtClean="0">
                <a:latin typeface="+mn-lt"/>
                <a:cs typeface="Arial" panose="020B0604020202020204" pitchFamily="34" charset="0"/>
              </a:rPr>
              <a:t>Data </a:t>
            </a:r>
            <a:r>
              <a:rPr lang="en-US" sz="2000" dirty="0">
                <a:latin typeface="+mn-lt"/>
                <a:cs typeface="Arial" panose="020B0604020202020204" pitchFamily="34" charset="0"/>
              </a:rPr>
              <a:t>is defined as facts or figures, or information that's stored in or used by a computer</a:t>
            </a:r>
            <a:r>
              <a:rPr lang="en-US" sz="2000" dirty="0" smtClean="0">
                <a:latin typeface="+mn-lt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n-US" dirty="0" smtClean="0">
              <a:latin typeface="+mn-lt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b="1" dirty="0" smtClean="0">
                <a:latin typeface="+mn-lt"/>
                <a:cs typeface="Arial" panose="020B0604020202020204" pitchFamily="34" charset="0"/>
              </a:rPr>
              <a:t>Database</a:t>
            </a:r>
          </a:p>
          <a:p>
            <a:pPr marL="0" indent="0">
              <a:buNone/>
            </a:pPr>
            <a:r>
              <a:rPr lang="en-US" sz="2000" dirty="0" smtClean="0">
                <a:latin typeface="+mn-lt"/>
                <a:cs typeface="Arial" panose="020B0604020202020204" pitchFamily="34" charset="0"/>
              </a:rPr>
              <a:t>A </a:t>
            </a:r>
            <a:r>
              <a:rPr lang="en-US" sz="2000" dirty="0">
                <a:latin typeface="+mn-lt"/>
                <a:cs typeface="Arial" panose="020B0604020202020204" pitchFamily="34" charset="0"/>
              </a:rPr>
              <a:t>database is a collection of information that is organized so that it can be easily accessed, managed and updated</a:t>
            </a:r>
            <a:r>
              <a:rPr lang="en-US" sz="2000" dirty="0" smtClean="0">
                <a:latin typeface="+mn-lt"/>
                <a:cs typeface="Arial" panose="020B0604020202020204" pitchFamily="34" charset="0"/>
              </a:rPr>
              <a:t>.</a:t>
            </a:r>
          </a:p>
          <a:p>
            <a:endParaRPr lang="en-US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SQL Terms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625E48-7043-E746-9EA0-BFA85157E6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A7BD299-4115-435C-9390-0BF281B3F2C8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5521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8746" y="1354283"/>
            <a:ext cx="8714509" cy="4897588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SQL Data Types</a:t>
            </a:r>
          </a:p>
        </p:txBody>
      </p:sp>
    </p:spTree>
    <p:extLst>
      <p:ext uri="{BB962C8B-B14F-4D97-AF65-F5344CB8AC3E}">
        <p14:creationId xmlns:p14="http://schemas.microsoft.com/office/powerpoint/2010/main" val="5340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SQL Constraints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75EB18E-7DE0-462F-925E-B153ED663F68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66763" y="1484313"/>
            <a:ext cx="916982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cs typeface="Arial" panose="020B0604020202020204" pitchFamily="34" charset="0"/>
              </a:rPr>
              <a:t>Constraints are the rules enforced on data columns on a table. </a:t>
            </a:r>
            <a:endParaRPr lang="en-US" sz="2000" dirty="0" smtClean="0"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cs typeface="Arial" panose="020B0604020202020204" pitchFamily="34" charset="0"/>
              </a:rPr>
              <a:t>These </a:t>
            </a:r>
            <a:r>
              <a:rPr lang="en-US" sz="2000" dirty="0">
                <a:cs typeface="Arial" panose="020B0604020202020204" pitchFamily="34" charset="0"/>
              </a:rPr>
              <a:t>are used to limit </a:t>
            </a:r>
            <a:r>
              <a:rPr lang="en-US" sz="2000" dirty="0" smtClean="0">
                <a:cs typeface="Arial" panose="020B0604020202020204" pitchFamily="34" charset="0"/>
              </a:rPr>
              <a:t>the type </a:t>
            </a:r>
            <a:r>
              <a:rPr lang="en-US" sz="2000" dirty="0">
                <a:cs typeface="Arial" panose="020B0604020202020204" pitchFamily="34" charset="0"/>
              </a:rPr>
              <a:t>of data that can go into a table.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cs typeface="Arial" panose="020B0604020202020204" pitchFamily="34" charset="0"/>
              </a:rPr>
              <a:t>Constraints can either be column level or table </a:t>
            </a:r>
            <a:r>
              <a:rPr lang="en-US" sz="2000" dirty="0" smtClean="0">
                <a:cs typeface="Arial" panose="020B0604020202020204" pitchFamily="34" charset="0"/>
              </a:rPr>
              <a:t>level. </a:t>
            </a:r>
          </a:p>
        </p:txBody>
      </p:sp>
      <p:graphicFrame>
        <p:nvGraphicFramePr>
          <p:cNvPr id="9" name="Content Placeholder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71798795"/>
              </p:ext>
            </p:extLst>
          </p:nvPr>
        </p:nvGraphicFramePr>
        <p:xfrm>
          <a:off x="932794" y="2684642"/>
          <a:ext cx="10326412" cy="356928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7210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053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640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Constraint</a:t>
                      </a:r>
                      <a:endParaRPr lang="en-IN" sz="2000" b="0" i="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Description</a:t>
                      </a:r>
                      <a:endParaRPr lang="en-IN" sz="2000" b="0" i="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407">
                <a:tc>
                  <a:txBody>
                    <a:bodyPr/>
                    <a:lstStyle/>
                    <a:p>
                      <a:r>
                        <a:rPr lang="en-GB" sz="2000" b="1" dirty="0" smtClean="0"/>
                        <a:t>NOT NULL</a:t>
                      </a:r>
                      <a:endParaRPr lang="en-IN" sz="2000" b="1" i="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Ensures that a column cannot have a NULL value.</a:t>
                      </a:r>
                      <a:endParaRPr lang="en-US" sz="2000" b="0" i="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407">
                <a:tc>
                  <a:txBody>
                    <a:bodyPr/>
                    <a:lstStyle/>
                    <a:p>
                      <a:r>
                        <a:rPr lang="en-GB" sz="2000" b="1" dirty="0" smtClean="0"/>
                        <a:t>DEFAULT</a:t>
                      </a:r>
                      <a:endParaRPr lang="en-IN" sz="2000" b="1" i="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Provides a default value for a column when none is specified.</a:t>
                      </a:r>
                      <a:endParaRPr lang="en-US" sz="2000" b="0" i="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407">
                <a:tc>
                  <a:txBody>
                    <a:bodyPr/>
                    <a:lstStyle/>
                    <a:p>
                      <a:r>
                        <a:rPr lang="en-US" sz="2000" b="1" dirty="0" smtClean="0"/>
                        <a:t>UNIQUE</a:t>
                      </a:r>
                      <a:endParaRPr lang="en-IN" sz="2000" b="1" i="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Ensures that all the values in a column are different</a:t>
                      </a:r>
                      <a:endParaRPr lang="en-US" sz="2000" b="0" i="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407">
                <a:tc>
                  <a:txBody>
                    <a:bodyPr/>
                    <a:lstStyle/>
                    <a:p>
                      <a:r>
                        <a:rPr lang="en-GB" sz="2000" b="1" dirty="0" smtClean="0"/>
                        <a:t>PRIMARY</a:t>
                      </a:r>
                      <a:endParaRPr lang="en-IN" sz="2000" b="1" i="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Uniquely identifies each row/record in a database table</a:t>
                      </a:r>
                      <a:endParaRPr lang="en-US" sz="2000" b="0" i="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4794289"/>
                  </a:ext>
                </a:extLst>
              </a:tr>
              <a:tr h="326407">
                <a:tc>
                  <a:txBody>
                    <a:bodyPr/>
                    <a:lstStyle/>
                    <a:p>
                      <a:r>
                        <a:rPr lang="en-GB" sz="2000" b="1" dirty="0" smtClean="0"/>
                        <a:t>FOREIGN</a:t>
                      </a:r>
                      <a:endParaRPr lang="en-IN" sz="2000" b="1" i="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Uniquely identifies a row/record in any another database table</a:t>
                      </a:r>
                      <a:endParaRPr lang="en-US" sz="2000" b="0" i="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4913266"/>
                  </a:ext>
                </a:extLst>
              </a:tr>
              <a:tr h="530452">
                <a:tc>
                  <a:txBody>
                    <a:bodyPr/>
                    <a:lstStyle/>
                    <a:p>
                      <a:r>
                        <a:rPr lang="en-GB" sz="2000" b="1" dirty="0" smtClean="0"/>
                        <a:t>CHECK</a:t>
                      </a:r>
                      <a:endParaRPr lang="en-IN" sz="2000" b="1" i="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The CHECK constraint ensures that all values in a column satisfy certain    conditions.</a:t>
                      </a:r>
                      <a:endParaRPr lang="en-US" sz="2000" dirty="0" smtClean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0762315"/>
                  </a:ext>
                </a:extLst>
              </a:tr>
              <a:tr h="490805">
                <a:tc>
                  <a:txBody>
                    <a:bodyPr/>
                    <a:lstStyle/>
                    <a:p>
                      <a:r>
                        <a:rPr lang="en-GB" sz="2000" b="1" dirty="0" smtClean="0"/>
                        <a:t>INDEX</a:t>
                      </a:r>
                      <a:endParaRPr lang="en-IN" sz="2000" b="1" i="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Used to create and retrieve data from the database very quickly.</a:t>
                      </a:r>
                      <a:endParaRPr lang="en-US" sz="2000" dirty="0" smtClean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2736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0763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568450" y="3061855"/>
            <a:ext cx="9055100" cy="734291"/>
          </a:xfrm>
        </p:spPr>
        <p:txBody>
          <a:bodyPr>
            <a:normAutofit/>
          </a:bodyPr>
          <a:lstStyle/>
          <a:p>
            <a:pPr algn="ctr"/>
            <a:r>
              <a:rPr lang="en-IN" b="1" dirty="0" smtClean="0">
                <a:latin typeface="+mn-lt"/>
              </a:rPr>
              <a:t>Subsets of SQL</a:t>
            </a:r>
            <a:endParaRPr lang="en-US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80740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89215" y="1484313"/>
            <a:ext cx="11153403" cy="355069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+mn-lt"/>
              </a:rPr>
              <a:t>DDL</a:t>
            </a:r>
            <a:r>
              <a:rPr lang="en-US" dirty="0">
                <a:latin typeface="+mn-lt"/>
              </a:rPr>
              <a:t> </a:t>
            </a:r>
            <a:r>
              <a:rPr lang="en-US" sz="2000" dirty="0">
                <a:latin typeface="+mn-lt"/>
              </a:rPr>
              <a:t>(</a:t>
            </a:r>
            <a:r>
              <a:rPr lang="en-US" sz="2000" dirty="0" smtClean="0">
                <a:latin typeface="+mn-lt"/>
              </a:rPr>
              <a:t>Data </a:t>
            </a:r>
            <a:r>
              <a:rPr lang="en-US" sz="2000" dirty="0">
                <a:latin typeface="+mn-lt"/>
              </a:rPr>
              <a:t>Definition </a:t>
            </a:r>
            <a:r>
              <a:rPr lang="en-US" sz="2000" dirty="0" smtClean="0">
                <a:latin typeface="+mn-lt"/>
              </a:rPr>
              <a:t>Language) : creation </a:t>
            </a:r>
            <a:r>
              <a:rPr lang="en-US" sz="2000" dirty="0">
                <a:latin typeface="+mn-lt"/>
              </a:rPr>
              <a:t>of </a:t>
            </a:r>
            <a:r>
              <a:rPr lang="en-US" sz="2000" dirty="0" smtClean="0">
                <a:latin typeface="+mn-lt"/>
              </a:rPr>
              <a:t>objects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+mn-lt"/>
              </a:rPr>
              <a:t>DML</a:t>
            </a:r>
            <a:r>
              <a:rPr lang="en-US" dirty="0">
                <a:latin typeface="+mn-lt"/>
              </a:rPr>
              <a:t> </a:t>
            </a:r>
            <a:r>
              <a:rPr lang="en-US" sz="2000" dirty="0">
                <a:latin typeface="+mn-lt"/>
              </a:rPr>
              <a:t>(</a:t>
            </a:r>
            <a:r>
              <a:rPr lang="en-US" sz="2000" dirty="0" smtClean="0">
                <a:latin typeface="+mn-lt"/>
              </a:rPr>
              <a:t>Data </a:t>
            </a:r>
            <a:r>
              <a:rPr lang="en-US" sz="2000" dirty="0">
                <a:latin typeface="+mn-lt"/>
              </a:rPr>
              <a:t>Manipulation </a:t>
            </a:r>
            <a:r>
              <a:rPr lang="en-US" sz="2000" dirty="0" smtClean="0">
                <a:latin typeface="+mn-lt"/>
              </a:rPr>
              <a:t>Language) : manipulation </a:t>
            </a:r>
            <a:r>
              <a:rPr lang="en-US" sz="2000" dirty="0">
                <a:latin typeface="+mn-lt"/>
              </a:rPr>
              <a:t>of </a:t>
            </a:r>
            <a:r>
              <a:rPr lang="en-US" sz="2000" dirty="0" smtClean="0">
                <a:latin typeface="+mn-lt"/>
              </a:rPr>
              <a:t>data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+mn-lt"/>
              </a:rPr>
              <a:t>DCL</a:t>
            </a:r>
            <a:r>
              <a:rPr lang="en-US" dirty="0">
                <a:latin typeface="+mn-lt"/>
              </a:rPr>
              <a:t> </a:t>
            </a:r>
            <a:r>
              <a:rPr lang="en-US" sz="2000" dirty="0">
                <a:latin typeface="+mn-lt"/>
              </a:rPr>
              <a:t>(</a:t>
            </a:r>
            <a:r>
              <a:rPr lang="en-US" sz="2000" dirty="0" smtClean="0">
                <a:latin typeface="+mn-lt"/>
              </a:rPr>
              <a:t>Data </a:t>
            </a:r>
            <a:r>
              <a:rPr lang="en-US" sz="2000" dirty="0">
                <a:latin typeface="+mn-lt"/>
              </a:rPr>
              <a:t>Control </a:t>
            </a:r>
            <a:r>
              <a:rPr lang="en-US" sz="2000" dirty="0" smtClean="0">
                <a:latin typeface="+mn-lt"/>
              </a:rPr>
              <a:t>Language) : assignment </a:t>
            </a:r>
            <a:r>
              <a:rPr lang="en-US" sz="2000" dirty="0">
                <a:latin typeface="+mn-lt"/>
              </a:rPr>
              <a:t>and removal of permissions </a:t>
            </a:r>
            <a:endParaRPr lang="en-US" sz="2000" dirty="0" smtClean="0"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 smtClean="0"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>
                <a:latin typeface="+mn-lt"/>
              </a:rPr>
              <a:t>TCL </a:t>
            </a:r>
            <a:r>
              <a:rPr lang="en-US" sz="2000" dirty="0">
                <a:latin typeface="+mn-lt"/>
              </a:rPr>
              <a:t>(</a:t>
            </a:r>
            <a:r>
              <a:rPr lang="en-US" sz="2000" dirty="0" smtClean="0">
                <a:latin typeface="+mn-lt"/>
              </a:rPr>
              <a:t>Transaction </a:t>
            </a:r>
            <a:r>
              <a:rPr lang="en-US" sz="2000" dirty="0">
                <a:latin typeface="+mn-lt"/>
              </a:rPr>
              <a:t>Control </a:t>
            </a:r>
            <a:r>
              <a:rPr lang="en-US" sz="2000" dirty="0" smtClean="0">
                <a:latin typeface="+mn-lt"/>
              </a:rPr>
              <a:t>Language) : saving </a:t>
            </a:r>
            <a:r>
              <a:rPr lang="en-US" sz="2000" dirty="0">
                <a:latin typeface="+mn-lt"/>
              </a:rPr>
              <a:t>and restoring changes to a database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SQL Command Groups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75EB18E-7DE0-462F-925E-B153ED663F68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326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28354" y="1409076"/>
            <a:ext cx="9197537" cy="4395980"/>
          </a:xfrm>
        </p:spPr>
        <p:txBody>
          <a:bodyPr>
            <a:normAutofit/>
          </a:bodyPr>
          <a:lstStyle/>
          <a:p>
            <a:pPr marL="457200" lvl="1" indent="0" algn="just">
              <a:buNone/>
            </a:pP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 algn="just">
              <a:buNone/>
            </a:pP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1" algn="l" rtl="0">
              <a:lnSpc>
                <a:spcPct val="90000"/>
              </a:lnSpc>
              <a:spcBef>
                <a:spcPct val="0"/>
              </a:spcBef>
            </a:pPr>
            <a:r>
              <a:rPr lang="en-US" sz="2400" b="1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DDL - Data Definition Language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75EB18E-7DE0-462F-925E-B153ED663F68}" type="slidenum">
              <a:rPr lang="en-US" smtClean="0"/>
              <a:pPr/>
              <a:t>11</a:t>
            </a:fld>
            <a:endParaRPr lang="en-US"/>
          </a:p>
        </p:txBody>
      </p:sp>
      <p:graphicFrame>
        <p:nvGraphicFramePr>
          <p:cNvPr id="7" name="Content Placeholder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45990049"/>
              </p:ext>
            </p:extLst>
          </p:nvPr>
        </p:nvGraphicFramePr>
        <p:xfrm>
          <a:off x="2441932" y="1889760"/>
          <a:ext cx="7283959" cy="30784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699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14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Command</a:t>
                      </a:r>
                      <a:endParaRPr lang="en-IN" sz="2000" b="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Description</a:t>
                      </a:r>
                      <a:endParaRPr lang="en-IN" sz="2000" b="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CREATE </a:t>
                      </a:r>
                      <a:endParaRPr lang="en-IN" sz="2000" b="1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Create objects in the database</a:t>
                      </a:r>
                      <a:endParaRPr lang="en-US" sz="2000" b="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ALTER </a:t>
                      </a:r>
                      <a:endParaRPr lang="en-IN" sz="2000" b="1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Alters the structure of the </a:t>
                      </a:r>
                      <a:r>
                        <a:rPr lang="en-US" sz="2000" dirty="0" smtClean="0"/>
                        <a:t>database</a:t>
                      </a:r>
                      <a:r>
                        <a:rPr lang="en-US" sz="2000" baseline="0" dirty="0" smtClean="0"/>
                        <a:t> object</a:t>
                      </a:r>
                      <a:endParaRPr lang="en-US" sz="2000" b="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DROP </a:t>
                      </a:r>
                      <a:endParaRPr lang="en-IN" sz="2000" b="1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Delete objects from the database</a:t>
                      </a:r>
                      <a:endParaRPr lang="en-US" sz="2000" b="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TRUNCATE </a:t>
                      </a:r>
                      <a:endParaRPr lang="en-IN" sz="2000" b="1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Remove all records from a table permanently</a:t>
                      </a:r>
                      <a:endParaRPr lang="en-US" sz="2000" b="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7635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COMMENT </a:t>
                      </a:r>
                      <a:endParaRPr lang="en-IN" sz="2000" b="1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Add comments to the data dictionary</a:t>
                      </a:r>
                      <a:endParaRPr lang="en-US" sz="2000" b="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3103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RENAME </a:t>
                      </a:r>
                      <a:endParaRPr lang="en-IN" sz="2000" b="1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Rename an object</a:t>
                      </a:r>
                      <a:endParaRPr lang="en-US" sz="2000" b="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07963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2150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6763" y="1484313"/>
            <a:ext cx="6576145" cy="4395980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CREATE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TABLE employees 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pPr marL="228600" lvl="1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employee_id INT (11) UNSIGNED NOT NULL,</a:t>
            </a:r>
          </a:p>
          <a:p>
            <a:pPr marL="228600" lvl="1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first_name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VARCHAR(20),</a:t>
            </a:r>
          </a:p>
          <a:p>
            <a:pPr marL="228600" lvl="1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last_name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VARCHAR(25) NOT NULL,</a:t>
            </a:r>
          </a:p>
          <a:p>
            <a:pPr marL="228600" lvl="1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salary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(7) NOT NULL,</a:t>
            </a:r>
          </a:p>
          <a:p>
            <a:pPr marL="228600" lvl="1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PRIMARY KEY (employee_id)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2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 algn="just">
              <a:buNone/>
            </a:pPr>
            <a:endParaRPr lang="en-US" sz="2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1" algn="l" rtl="0">
              <a:lnSpc>
                <a:spcPct val="90000"/>
              </a:lnSpc>
              <a:spcBef>
                <a:spcPct val="0"/>
              </a:spcBef>
            </a:pPr>
            <a:r>
              <a:rPr lang="en-US" sz="2400" b="1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DDL - Data Definition Language – Create Command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75EB18E-7DE0-462F-925E-B153ED663F68}" type="slidenum">
              <a:rPr lang="en-US" smtClean="0"/>
              <a:pPr/>
              <a:t>12</a:t>
            </a:fld>
            <a:endParaRPr lang="en-US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2719849"/>
              </p:ext>
            </p:extLst>
          </p:nvPr>
        </p:nvGraphicFramePr>
        <p:xfrm>
          <a:off x="7046622" y="1484313"/>
          <a:ext cx="3920838" cy="4297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27755">
                  <a:extLst>
                    <a:ext uri="{9D8B030D-6E8A-4147-A177-3AD203B41FA5}">
                      <a16:colId xmlns:a16="http://schemas.microsoft.com/office/drawing/2014/main" val="491039929"/>
                    </a:ext>
                  </a:extLst>
                </a:gridCol>
                <a:gridCol w="880702">
                  <a:extLst>
                    <a:ext uri="{9D8B030D-6E8A-4147-A177-3AD203B41FA5}">
                      <a16:colId xmlns:a16="http://schemas.microsoft.com/office/drawing/2014/main" val="1335422721"/>
                    </a:ext>
                  </a:extLst>
                </a:gridCol>
                <a:gridCol w="837810">
                  <a:extLst>
                    <a:ext uri="{9D8B030D-6E8A-4147-A177-3AD203B41FA5}">
                      <a16:colId xmlns:a16="http://schemas.microsoft.com/office/drawing/2014/main" val="3090124900"/>
                    </a:ext>
                  </a:extLst>
                </a:gridCol>
                <a:gridCol w="1074571">
                  <a:extLst>
                    <a:ext uri="{9D8B030D-6E8A-4147-A177-3AD203B41FA5}">
                      <a16:colId xmlns:a16="http://schemas.microsoft.com/office/drawing/2014/main" val="1464259991"/>
                    </a:ext>
                  </a:extLst>
                </a:gridCol>
              </a:tblGrid>
              <a:tr h="31930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employee_id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first_name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last_name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salary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508193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411634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7860768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9050337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4545095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4555282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345161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206130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5279891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9281692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65515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9461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4" name="Rectangle 5"/>
          <p:cNvSpPr>
            <a:spLocks noGrp="1" noChangeArrowheads="1"/>
          </p:cNvSpPr>
          <p:nvPr>
            <p:ph sz="half" idx="1"/>
          </p:nvPr>
        </p:nvSpPr>
        <p:spPr>
          <a:xfrm>
            <a:off x="766763" y="1484313"/>
            <a:ext cx="5938537" cy="4904394"/>
          </a:xfrm>
        </p:spPr>
        <p:txBody>
          <a:bodyPr>
            <a:noAutofit/>
          </a:bodyPr>
          <a:lstStyle/>
          <a:p>
            <a:pPr marL="0" lvl="1" indent="0">
              <a:spcBef>
                <a:spcPts val="0"/>
              </a:spcBef>
              <a:buNone/>
            </a:pPr>
            <a:r>
              <a:rPr lang="en-IN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ALTER </a:t>
            </a:r>
            <a:r>
              <a:rPr lang="en-I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TABLE </a:t>
            </a:r>
            <a:r>
              <a:rPr lang="en-IN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employees ADD COLUMN contact INT(10);</a:t>
            </a:r>
            <a:endParaRPr lang="en-IN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0724" name="Rectangle 4"/>
          <p:cNvSpPr>
            <a:spLocks noGrp="1" noChangeArrowheads="1"/>
          </p:cNvSpPr>
          <p:nvPr>
            <p:ph type="title"/>
          </p:nvPr>
        </p:nvSpPr>
        <p:spPr>
          <a:xfrm>
            <a:off x="528354" y="770401"/>
            <a:ext cx="9545006" cy="369812"/>
          </a:xfrm>
        </p:spPr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DDL - Data Definition Language – Alter Command</a:t>
            </a:r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D232D8-D9AC-4C78-8343-294DBED5A5EE}" type="slidenum">
              <a:rPr lang="en-US" smtClean="0"/>
              <a:pPr/>
              <a:t>13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8332197"/>
              </p:ext>
            </p:extLst>
          </p:nvPr>
        </p:nvGraphicFramePr>
        <p:xfrm>
          <a:off x="7030854" y="1484313"/>
          <a:ext cx="3920838" cy="4297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27755">
                  <a:extLst>
                    <a:ext uri="{9D8B030D-6E8A-4147-A177-3AD203B41FA5}">
                      <a16:colId xmlns:a16="http://schemas.microsoft.com/office/drawing/2014/main" val="491039929"/>
                    </a:ext>
                  </a:extLst>
                </a:gridCol>
                <a:gridCol w="880702">
                  <a:extLst>
                    <a:ext uri="{9D8B030D-6E8A-4147-A177-3AD203B41FA5}">
                      <a16:colId xmlns:a16="http://schemas.microsoft.com/office/drawing/2014/main" val="1335422721"/>
                    </a:ext>
                  </a:extLst>
                </a:gridCol>
                <a:gridCol w="837810">
                  <a:extLst>
                    <a:ext uri="{9D8B030D-6E8A-4147-A177-3AD203B41FA5}">
                      <a16:colId xmlns:a16="http://schemas.microsoft.com/office/drawing/2014/main" val="3090124900"/>
                    </a:ext>
                  </a:extLst>
                </a:gridCol>
                <a:gridCol w="1074571">
                  <a:extLst>
                    <a:ext uri="{9D8B030D-6E8A-4147-A177-3AD203B41FA5}">
                      <a16:colId xmlns:a16="http://schemas.microsoft.com/office/drawing/2014/main" val="1464259991"/>
                    </a:ext>
                  </a:extLst>
                </a:gridCol>
              </a:tblGrid>
              <a:tr h="31930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employee_id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first_name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last_name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salary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508193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411634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7860768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9050337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4545095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4555282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345161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206130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5279891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9281692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6551503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393315" y="2143931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101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8275858" y="2139049"/>
            <a:ext cx="818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Steven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9063995" y="2150839"/>
            <a:ext cx="788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Cohen</a:t>
            </a:r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10030778" y="2112480"/>
            <a:ext cx="1308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10000</a:t>
            </a:r>
            <a:endParaRPr lang="en-IN" dirty="0"/>
          </a:p>
        </p:txBody>
      </p:sp>
      <p:sp>
        <p:nvSpPr>
          <p:cNvPr id="15" name="TextBox 14"/>
          <p:cNvSpPr txBox="1"/>
          <p:nvPr/>
        </p:nvSpPr>
        <p:spPr>
          <a:xfrm>
            <a:off x="7377673" y="2525879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102</a:t>
            </a:r>
            <a:endParaRPr lang="en-IN" dirty="0"/>
          </a:p>
        </p:txBody>
      </p:sp>
      <p:sp>
        <p:nvSpPr>
          <p:cNvPr id="16" name="TextBox 15"/>
          <p:cNvSpPr txBox="1"/>
          <p:nvPr/>
        </p:nvSpPr>
        <p:spPr>
          <a:xfrm>
            <a:off x="8275858" y="2513263"/>
            <a:ext cx="755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Edwin</a:t>
            </a:r>
            <a:endParaRPr lang="en-IN" dirty="0"/>
          </a:p>
        </p:txBody>
      </p:sp>
      <p:sp>
        <p:nvSpPr>
          <p:cNvPr id="17" name="TextBox 16"/>
          <p:cNvSpPr txBox="1"/>
          <p:nvPr/>
        </p:nvSpPr>
        <p:spPr>
          <a:xfrm>
            <a:off x="9065354" y="2508381"/>
            <a:ext cx="7088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Thom</a:t>
            </a:r>
            <a:endParaRPr lang="en-IN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10030778" y="2496905"/>
            <a:ext cx="1308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15000</a:t>
            </a:r>
            <a:endParaRPr lang="en-IN" dirty="0"/>
          </a:p>
        </p:txBody>
      </p:sp>
      <p:sp>
        <p:nvSpPr>
          <p:cNvPr id="19" name="TextBox 18"/>
          <p:cNvSpPr txBox="1"/>
          <p:nvPr/>
        </p:nvSpPr>
        <p:spPr>
          <a:xfrm>
            <a:off x="7393315" y="2892558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103</a:t>
            </a:r>
            <a:endParaRPr lang="en-IN" dirty="0"/>
          </a:p>
        </p:txBody>
      </p:sp>
      <p:sp>
        <p:nvSpPr>
          <p:cNvPr id="20" name="TextBox 19"/>
          <p:cNvSpPr txBox="1"/>
          <p:nvPr/>
        </p:nvSpPr>
        <p:spPr>
          <a:xfrm>
            <a:off x="8275858" y="2857363"/>
            <a:ext cx="758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Harry </a:t>
            </a:r>
            <a:endParaRPr lang="en-IN" dirty="0"/>
          </a:p>
        </p:txBody>
      </p:sp>
      <p:sp>
        <p:nvSpPr>
          <p:cNvPr id="21" name="TextBox 20"/>
          <p:cNvSpPr txBox="1"/>
          <p:nvPr/>
        </p:nvSpPr>
        <p:spPr>
          <a:xfrm>
            <a:off x="9065354" y="2818573"/>
            <a:ext cx="764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Potter</a:t>
            </a:r>
            <a:endParaRPr lang="en-IN" dirty="0"/>
          </a:p>
        </p:txBody>
      </p:sp>
      <p:sp>
        <p:nvSpPr>
          <p:cNvPr id="22" name="TextBox 21"/>
          <p:cNvSpPr txBox="1"/>
          <p:nvPr/>
        </p:nvSpPr>
        <p:spPr>
          <a:xfrm>
            <a:off x="10030778" y="2846935"/>
            <a:ext cx="1308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20000</a:t>
            </a:r>
            <a:endParaRPr lang="en-IN" dirty="0"/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7791800"/>
              </p:ext>
            </p:extLst>
          </p:nvPr>
        </p:nvGraphicFramePr>
        <p:xfrm>
          <a:off x="10962391" y="1484313"/>
          <a:ext cx="1063354" cy="43042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3354">
                  <a:extLst>
                    <a:ext uri="{9D8B030D-6E8A-4147-A177-3AD203B41FA5}">
                      <a16:colId xmlns:a16="http://schemas.microsoft.com/office/drawing/2014/main" val="491039929"/>
                    </a:ext>
                  </a:extLst>
                </a:gridCol>
              </a:tblGrid>
              <a:tr h="646612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contact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508193"/>
                  </a:ext>
                </a:extLst>
              </a:tr>
              <a:tr h="36510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411634"/>
                  </a:ext>
                </a:extLst>
              </a:tr>
              <a:tr h="36510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7860768"/>
                  </a:ext>
                </a:extLst>
              </a:tr>
              <a:tr h="36510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9050337"/>
                  </a:ext>
                </a:extLst>
              </a:tr>
              <a:tr h="36510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4545095"/>
                  </a:ext>
                </a:extLst>
              </a:tr>
              <a:tr h="36510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4555282"/>
                  </a:ext>
                </a:extLst>
              </a:tr>
              <a:tr h="36510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345161"/>
                  </a:ext>
                </a:extLst>
              </a:tr>
              <a:tr h="36510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206130"/>
                  </a:ext>
                </a:extLst>
              </a:tr>
              <a:tr h="36510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5279891"/>
                  </a:ext>
                </a:extLst>
              </a:tr>
              <a:tr h="36510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9281692"/>
                  </a:ext>
                </a:extLst>
              </a:tr>
              <a:tr h="36510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65515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943408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27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4" name="Rectangle 5"/>
          <p:cNvSpPr>
            <a:spLocks noGrp="1" noChangeArrowheads="1"/>
          </p:cNvSpPr>
          <p:nvPr>
            <p:ph sz="half" idx="1"/>
          </p:nvPr>
        </p:nvSpPr>
        <p:spPr>
          <a:xfrm>
            <a:off x="229797" y="1500044"/>
            <a:ext cx="5307227" cy="4904394"/>
          </a:xfrm>
        </p:spPr>
        <p:txBody>
          <a:bodyPr>
            <a:noAutofit/>
          </a:bodyPr>
          <a:lstStyle/>
          <a:p>
            <a:pPr marL="502920" lvl="1" indent="0">
              <a:buNone/>
            </a:pP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ALTER TABLE employees 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RENAME COLUMN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contact TO job_code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</p:txBody>
      </p:sp>
      <p:sp>
        <p:nvSpPr>
          <p:cNvPr id="30724" name="Rectangle 4"/>
          <p:cNvSpPr>
            <a:spLocks noGrp="1" noChangeArrowheads="1"/>
          </p:cNvSpPr>
          <p:nvPr>
            <p:ph type="title"/>
          </p:nvPr>
        </p:nvSpPr>
        <p:spPr>
          <a:xfrm>
            <a:off x="528354" y="770401"/>
            <a:ext cx="9545006" cy="369812"/>
          </a:xfrm>
        </p:spPr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DDL - Data Definition Language – Rename Command</a:t>
            </a:r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D232D8-D9AC-4C78-8343-294DBED5A5EE}" type="slidenum">
              <a:rPr lang="en-US" smtClean="0"/>
              <a:pPr/>
              <a:t>14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7471060"/>
              </p:ext>
            </p:extLst>
          </p:nvPr>
        </p:nvGraphicFramePr>
        <p:xfrm>
          <a:off x="7033893" y="1500044"/>
          <a:ext cx="3920838" cy="4297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27755">
                  <a:extLst>
                    <a:ext uri="{9D8B030D-6E8A-4147-A177-3AD203B41FA5}">
                      <a16:colId xmlns:a16="http://schemas.microsoft.com/office/drawing/2014/main" val="491039929"/>
                    </a:ext>
                  </a:extLst>
                </a:gridCol>
                <a:gridCol w="880702">
                  <a:extLst>
                    <a:ext uri="{9D8B030D-6E8A-4147-A177-3AD203B41FA5}">
                      <a16:colId xmlns:a16="http://schemas.microsoft.com/office/drawing/2014/main" val="1335422721"/>
                    </a:ext>
                  </a:extLst>
                </a:gridCol>
                <a:gridCol w="837810">
                  <a:extLst>
                    <a:ext uri="{9D8B030D-6E8A-4147-A177-3AD203B41FA5}">
                      <a16:colId xmlns:a16="http://schemas.microsoft.com/office/drawing/2014/main" val="3090124900"/>
                    </a:ext>
                  </a:extLst>
                </a:gridCol>
                <a:gridCol w="1074571">
                  <a:extLst>
                    <a:ext uri="{9D8B030D-6E8A-4147-A177-3AD203B41FA5}">
                      <a16:colId xmlns:a16="http://schemas.microsoft.com/office/drawing/2014/main" val="1464259991"/>
                    </a:ext>
                  </a:extLst>
                </a:gridCol>
              </a:tblGrid>
              <a:tr h="31930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employee_id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first_name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last_name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salary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508193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411634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7860768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9050337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4545095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4555282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345161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206130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5279891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9281692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6551503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322530" y="2145453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101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8180373" y="2145453"/>
            <a:ext cx="818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Steven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9140890" y="2145453"/>
            <a:ext cx="788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Cohen</a:t>
            </a:r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9982721" y="2107633"/>
            <a:ext cx="1308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10000</a:t>
            </a:r>
            <a:endParaRPr lang="en-IN" dirty="0"/>
          </a:p>
        </p:txBody>
      </p:sp>
      <p:sp>
        <p:nvSpPr>
          <p:cNvPr id="15" name="TextBox 14"/>
          <p:cNvSpPr txBox="1"/>
          <p:nvPr/>
        </p:nvSpPr>
        <p:spPr>
          <a:xfrm>
            <a:off x="7322530" y="2476965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102</a:t>
            </a:r>
            <a:endParaRPr lang="en-IN" dirty="0"/>
          </a:p>
        </p:txBody>
      </p:sp>
      <p:sp>
        <p:nvSpPr>
          <p:cNvPr id="16" name="TextBox 15"/>
          <p:cNvSpPr txBox="1"/>
          <p:nvPr/>
        </p:nvSpPr>
        <p:spPr>
          <a:xfrm>
            <a:off x="8180373" y="2476965"/>
            <a:ext cx="755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Edwin</a:t>
            </a:r>
            <a:endParaRPr lang="en-IN" dirty="0"/>
          </a:p>
        </p:txBody>
      </p:sp>
      <p:sp>
        <p:nvSpPr>
          <p:cNvPr id="17" name="TextBox 16"/>
          <p:cNvSpPr txBox="1"/>
          <p:nvPr/>
        </p:nvSpPr>
        <p:spPr>
          <a:xfrm>
            <a:off x="8996708" y="2524549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Thomas</a:t>
            </a:r>
            <a:endParaRPr lang="en-IN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9982721" y="2480568"/>
            <a:ext cx="1308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15000</a:t>
            </a:r>
            <a:endParaRPr lang="en-IN" dirty="0"/>
          </a:p>
        </p:txBody>
      </p:sp>
      <p:sp>
        <p:nvSpPr>
          <p:cNvPr id="19" name="TextBox 18"/>
          <p:cNvSpPr txBox="1"/>
          <p:nvPr/>
        </p:nvSpPr>
        <p:spPr>
          <a:xfrm>
            <a:off x="7322530" y="2879908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103</a:t>
            </a:r>
            <a:endParaRPr lang="en-IN" dirty="0"/>
          </a:p>
        </p:txBody>
      </p:sp>
      <p:sp>
        <p:nvSpPr>
          <p:cNvPr id="20" name="TextBox 19"/>
          <p:cNvSpPr txBox="1"/>
          <p:nvPr/>
        </p:nvSpPr>
        <p:spPr>
          <a:xfrm>
            <a:off x="8180373" y="2879908"/>
            <a:ext cx="758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Harry </a:t>
            </a:r>
            <a:endParaRPr lang="en-IN" dirty="0"/>
          </a:p>
        </p:txBody>
      </p:sp>
      <p:sp>
        <p:nvSpPr>
          <p:cNvPr id="21" name="TextBox 20"/>
          <p:cNvSpPr txBox="1"/>
          <p:nvPr/>
        </p:nvSpPr>
        <p:spPr>
          <a:xfrm>
            <a:off x="9140890" y="2879908"/>
            <a:ext cx="764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Potter</a:t>
            </a:r>
            <a:endParaRPr lang="en-IN" dirty="0"/>
          </a:p>
        </p:txBody>
      </p:sp>
      <p:sp>
        <p:nvSpPr>
          <p:cNvPr id="22" name="TextBox 21"/>
          <p:cNvSpPr txBox="1"/>
          <p:nvPr/>
        </p:nvSpPr>
        <p:spPr>
          <a:xfrm>
            <a:off x="9982721" y="2842088"/>
            <a:ext cx="1308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20000</a:t>
            </a:r>
            <a:endParaRPr lang="en-IN" dirty="0"/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6951381"/>
              </p:ext>
            </p:extLst>
          </p:nvPr>
        </p:nvGraphicFramePr>
        <p:xfrm>
          <a:off x="10949329" y="1493512"/>
          <a:ext cx="1127755" cy="43042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27755">
                  <a:extLst>
                    <a:ext uri="{9D8B030D-6E8A-4147-A177-3AD203B41FA5}">
                      <a16:colId xmlns:a16="http://schemas.microsoft.com/office/drawing/2014/main" val="491039929"/>
                    </a:ext>
                  </a:extLst>
                </a:gridCol>
              </a:tblGrid>
              <a:tr h="646612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contact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508193"/>
                  </a:ext>
                </a:extLst>
              </a:tr>
              <a:tr h="36510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411634"/>
                  </a:ext>
                </a:extLst>
              </a:tr>
              <a:tr h="36510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7860768"/>
                  </a:ext>
                </a:extLst>
              </a:tr>
              <a:tr h="36510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9050337"/>
                  </a:ext>
                </a:extLst>
              </a:tr>
              <a:tr h="36510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4545095"/>
                  </a:ext>
                </a:extLst>
              </a:tr>
              <a:tr h="36510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4555282"/>
                  </a:ext>
                </a:extLst>
              </a:tr>
              <a:tr h="36510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345161"/>
                  </a:ext>
                </a:extLst>
              </a:tr>
              <a:tr h="36510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206130"/>
                  </a:ext>
                </a:extLst>
              </a:tr>
              <a:tr h="36510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5279891"/>
                  </a:ext>
                </a:extLst>
              </a:tr>
              <a:tr h="36510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9281692"/>
                  </a:ext>
                </a:extLst>
              </a:tr>
              <a:tr h="36510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6551503"/>
                  </a:ext>
                </a:extLst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10963843" y="1490641"/>
            <a:ext cx="1100073" cy="64633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dirty="0" err="1"/>
              <a:t>j</a:t>
            </a:r>
            <a:r>
              <a:rPr lang="en-US" dirty="0" err="1" smtClean="0"/>
              <a:t>ob_code</a:t>
            </a:r>
            <a:endParaRPr lang="en-US" dirty="0" smtClean="0"/>
          </a:p>
          <a:p>
            <a:endParaRPr lang="en-IN" dirty="0">
              <a:ln>
                <a:solidFill>
                  <a:schemeClr val="accent2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49627715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7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4" grpId="0" build="p"/>
      <p:bldP spid="2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DDL - Data Definition Language – Truncate Command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74701" y="1484313"/>
            <a:ext cx="10622576" cy="4904394"/>
          </a:xfrm>
        </p:spPr>
        <p:txBody>
          <a:bodyPr>
            <a:normAutofit/>
          </a:bodyPr>
          <a:lstStyle/>
          <a:p>
            <a:pPr marL="0" lvl="1" indent="0">
              <a:buNone/>
            </a:pPr>
            <a:r>
              <a:rPr lang="en-US" altLang="en-US" sz="1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TRUNCATE TABLE employees;</a:t>
            </a:r>
          </a:p>
          <a:p>
            <a:endParaRPr lang="en-IN" sz="3200" dirty="0"/>
          </a:p>
        </p:txBody>
      </p:sp>
      <p:graphicFrame>
        <p:nvGraphicFramePr>
          <p:cNvPr id="50" name="Table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3972776"/>
              </p:ext>
            </p:extLst>
          </p:nvPr>
        </p:nvGraphicFramePr>
        <p:xfrm>
          <a:off x="8112941" y="1484313"/>
          <a:ext cx="3920838" cy="4297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27755">
                  <a:extLst>
                    <a:ext uri="{9D8B030D-6E8A-4147-A177-3AD203B41FA5}">
                      <a16:colId xmlns:a16="http://schemas.microsoft.com/office/drawing/2014/main" val="491039929"/>
                    </a:ext>
                  </a:extLst>
                </a:gridCol>
                <a:gridCol w="880702">
                  <a:extLst>
                    <a:ext uri="{9D8B030D-6E8A-4147-A177-3AD203B41FA5}">
                      <a16:colId xmlns:a16="http://schemas.microsoft.com/office/drawing/2014/main" val="1335422721"/>
                    </a:ext>
                  </a:extLst>
                </a:gridCol>
                <a:gridCol w="837810">
                  <a:extLst>
                    <a:ext uri="{9D8B030D-6E8A-4147-A177-3AD203B41FA5}">
                      <a16:colId xmlns:a16="http://schemas.microsoft.com/office/drawing/2014/main" val="3090124900"/>
                    </a:ext>
                  </a:extLst>
                </a:gridCol>
                <a:gridCol w="1074571">
                  <a:extLst>
                    <a:ext uri="{9D8B030D-6E8A-4147-A177-3AD203B41FA5}">
                      <a16:colId xmlns:a16="http://schemas.microsoft.com/office/drawing/2014/main" val="1464259991"/>
                    </a:ext>
                  </a:extLst>
                </a:gridCol>
              </a:tblGrid>
              <a:tr h="31930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employee_id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first_name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last_name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salary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508193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411634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7860768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9050337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4545095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4555282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345161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206130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5279891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9281692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6551503"/>
                  </a:ext>
                </a:extLst>
              </a:tr>
            </a:tbl>
          </a:graphicData>
        </a:graphic>
      </p:graphicFrame>
      <p:sp>
        <p:nvSpPr>
          <p:cNvPr id="51" name="TextBox 50"/>
          <p:cNvSpPr txBox="1"/>
          <p:nvPr/>
        </p:nvSpPr>
        <p:spPr>
          <a:xfrm>
            <a:off x="8401578" y="2129722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101</a:t>
            </a:r>
            <a:endParaRPr lang="en-IN" dirty="0"/>
          </a:p>
        </p:txBody>
      </p:sp>
      <p:sp>
        <p:nvSpPr>
          <p:cNvPr id="52" name="TextBox 51"/>
          <p:cNvSpPr txBox="1"/>
          <p:nvPr/>
        </p:nvSpPr>
        <p:spPr>
          <a:xfrm>
            <a:off x="9259421" y="2129722"/>
            <a:ext cx="818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Steven</a:t>
            </a:r>
            <a:endParaRPr lang="en-IN" dirty="0"/>
          </a:p>
        </p:txBody>
      </p:sp>
      <p:sp>
        <p:nvSpPr>
          <p:cNvPr id="53" name="TextBox 52"/>
          <p:cNvSpPr txBox="1"/>
          <p:nvPr/>
        </p:nvSpPr>
        <p:spPr>
          <a:xfrm>
            <a:off x="10219938" y="2129722"/>
            <a:ext cx="788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Cohen</a:t>
            </a:r>
            <a:endParaRPr lang="en-IN" dirty="0"/>
          </a:p>
        </p:txBody>
      </p:sp>
      <p:sp>
        <p:nvSpPr>
          <p:cNvPr id="54" name="TextBox 53"/>
          <p:cNvSpPr txBox="1"/>
          <p:nvPr/>
        </p:nvSpPr>
        <p:spPr>
          <a:xfrm>
            <a:off x="11061769" y="2091902"/>
            <a:ext cx="1308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10000</a:t>
            </a:r>
            <a:endParaRPr lang="en-IN" dirty="0"/>
          </a:p>
        </p:txBody>
      </p:sp>
      <p:sp>
        <p:nvSpPr>
          <p:cNvPr id="55" name="TextBox 54"/>
          <p:cNvSpPr txBox="1"/>
          <p:nvPr/>
        </p:nvSpPr>
        <p:spPr>
          <a:xfrm>
            <a:off x="8401578" y="246123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102</a:t>
            </a:r>
            <a:endParaRPr lang="en-IN" dirty="0"/>
          </a:p>
        </p:txBody>
      </p:sp>
      <p:sp>
        <p:nvSpPr>
          <p:cNvPr id="56" name="TextBox 55"/>
          <p:cNvSpPr txBox="1"/>
          <p:nvPr/>
        </p:nvSpPr>
        <p:spPr>
          <a:xfrm>
            <a:off x="9259421" y="2461234"/>
            <a:ext cx="755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Edwin</a:t>
            </a:r>
            <a:endParaRPr lang="en-IN" dirty="0"/>
          </a:p>
        </p:txBody>
      </p:sp>
      <p:sp>
        <p:nvSpPr>
          <p:cNvPr id="57" name="TextBox 56"/>
          <p:cNvSpPr txBox="1"/>
          <p:nvPr/>
        </p:nvSpPr>
        <p:spPr>
          <a:xfrm>
            <a:off x="10075756" y="2508818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Thomas</a:t>
            </a:r>
            <a:endParaRPr lang="en-IN" sz="1600" dirty="0"/>
          </a:p>
        </p:txBody>
      </p:sp>
      <p:sp>
        <p:nvSpPr>
          <p:cNvPr id="58" name="TextBox 57"/>
          <p:cNvSpPr txBox="1"/>
          <p:nvPr/>
        </p:nvSpPr>
        <p:spPr>
          <a:xfrm>
            <a:off x="11061769" y="2464837"/>
            <a:ext cx="1308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15000</a:t>
            </a:r>
            <a:endParaRPr lang="en-IN" dirty="0"/>
          </a:p>
        </p:txBody>
      </p:sp>
      <p:sp>
        <p:nvSpPr>
          <p:cNvPr id="59" name="TextBox 58"/>
          <p:cNvSpPr txBox="1"/>
          <p:nvPr/>
        </p:nvSpPr>
        <p:spPr>
          <a:xfrm>
            <a:off x="8401578" y="2864177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103</a:t>
            </a:r>
            <a:endParaRPr lang="en-IN" dirty="0"/>
          </a:p>
        </p:txBody>
      </p:sp>
      <p:sp>
        <p:nvSpPr>
          <p:cNvPr id="60" name="TextBox 59"/>
          <p:cNvSpPr txBox="1"/>
          <p:nvPr/>
        </p:nvSpPr>
        <p:spPr>
          <a:xfrm>
            <a:off x="9259421" y="2864177"/>
            <a:ext cx="758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Harry </a:t>
            </a:r>
            <a:endParaRPr lang="en-IN" dirty="0"/>
          </a:p>
        </p:txBody>
      </p:sp>
      <p:sp>
        <p:nvSpPr>
          <p:cNvPr id="61" name="TextBox 60"/>
          <p:cNvSpPr txBox="1"/>
          <p:nvPr/>
        </p:nvSpPr>
        <p:spPr>
          <a:xfrm>
            <a:off x="10219938" y="2864177"/>
            <a:ext cx="764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Potter</a:t>
            </a:r>
            <a:endParaRPr lang="en-IN" dirty="0"/>
          </a:p>
        </p:txBody>
      </p:sp>
      <p:sp>
        <p:nvSpPr>
          <p:cNvPr id="62" name="TextBox 61"/>
          <p:cNvSpPr txBox="1"/>
          <p:nvPr/>
        </p:nvSpPr>
        <p:spPr>
          <a:xfrm>
            <a:off x="11061769" y="2826357"/>
            <a:ext cx="1308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20000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516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1"/>
          <p:cNvSpPr>
            <a:spLocks noGrp="1"/>
          </p:cNvSpPr>
          <p:nvPr>
            <p:ph sz="half" idx="1"/>
          </p:nvPr>
        </p:nvSpPr>
        <p:spPr>
          <a:xfrm>
            <a:off x="766763" y="1484313"/>
            <a:ext cx="6078698" cy="49043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DROP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TABLE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table_name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DROP TABLE 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employees;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DDL - Data Definition Language – Drop Command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75EB18E-7DE0-462F-925E-B153ED663F68}" type="slidenum">
              <a:rPr lang="en-US" smtClean="0"/>
              <a:pPr/>
              <a:t>16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7892997"/>
              </p:ext>
            </p:extLst>
          </p:nvPr>
        </p:nvGraphicFramePr>
        <p:xfrm>
          <a:off x="8112941" y="1484313"/>
          <a:ext cx="3920838" cy="4297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27755">
                  <a:extLst>
                    <a:ext uri="{9D8B030D-6E8A-4147-A177-3AD203B41FA5}">
                      <a16:colId xmlns:a16="http://schemas.microsoft.com/office/drawing/2014/main" val="491039929"/>
                    </a:ext>
                  </a:extLst>
                </a:gridCol>
                <a:gridCol w="880702">
                  <a:extLst>
                    <a:ext uri="{9D8B030D-6E8A-4147-A177-3AD203B41FA5}">
                      <a16:colId xmlns:a16="http://schemas.microsoft.com/office/drawing/2014/main" val="1335422721"/>
                    </a:ext>
                  </a:extLst>
                </a:gridCol>
                <a:gridCol w="837810">
                  <a:extLst>
                    <a:ext uri="{9D8B030D-6E8A-4147-A177-3AD203B41FA5}">
                      <a16:colId xmlns:a16="http://schemas.microsoft.com/office/drawing/2014/main" val="3090124900"/>
                    </a:ext>
                  </a:extLst>
                </a:gridCol>
                <a:gridCol w="1074571">
                  <a:extLst>
                    <a:ext uri="{9D8B030D-6E8A-4147-A177-3AD203B41FA5}">
                      <a16:colId xmlns:a16="http://schemas.microsoft.com/office/drawing/2014/main" val="1464259991"/>
                    </a:ext>
                  </a:extLst>
                </a:gridCol>
              </a:tblGrid>
              <a:tr h="31930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employee_id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first_name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last_name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salary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508193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411634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7860768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9050337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4545095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4555282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345161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206130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5279891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9281692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6551503"/>
                  </a:ext>
                </a:extLst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8401578" y="2129722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101</a:t>
            </a:r>
            <a:endParaRPr lang="en-IN" dirty="0"/>
          </a:p>
        </p:txBody>
      </p:sp>
      <p:sp>
        <p:nvSpPr>
          <p:cNvPr id="28" name="TextBox 27"/>
          <p:cNvSpPr txBox="1"/>
          <p:nvPr/>
        </p:nvSpPr>
        <p:spPr>
          <a:xfrm>
            <a:off x="9259421" y="2129722"/>
            <a:ext cx="818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Steven</a:t>
            </a:r>
            <a:endParaRPr lang="en-IN" dirty="0"/>
          </a:p>
        </p:txBody>
      </p:sp>
      <p:sp>
        <p:nvSpPr>
          <p:cNvPr id="29" name="TextBox 28"/>
          <p:cNvSpPr txBox="1"/>
          <p:nvPr/>
        </p:nvSpPr>
        <p:spPr>
          <a:xfrm>
            <a:off x="10219938" y="2129722"/>
            <a:ext cx="788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Cohen</a:t>
            </a:r>
            <a:endParaRPr lang="en-IN" dirty="0"/>
          </a:p>
        </p:txBody>
      </p:sp>
      <p:sp>
        <p:nvSpPr>
          <p:cNvPr id="30" name="TextBox 29"/>
          <p:cNvSpPr txBox="1"/>
          <p:nvPr/>
        </p:nvSpPr>
        <p:spPr>
          <a:xfrm>
            <a:off x="11061769" y="2091902"/>
            <a:ext cx="1308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10000</a:t>
            </a:r>
            <a:endParaRPr lang="en-IN" dirty="0"/>
          </a:p>
        </p:txBody>
      </p:sp>
      <p:sp>
        <p:nvSpPr>
          <p:cNvPr id="31" name="TextBox 30"/>
          <p:cNvSpPr txBox="1"/>
          <p:nvPr/>
        </p:nvSpPr>
        <p:spPr>
          <a:xfrm>
            <a:off x="8401578" y="246123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102</a:t>
            </a:r>
            <a:endParaRPr lang="en-IN" dirty="0"/>
          </a:p>
        </p:txBody>
      </p:sp>
      <p:sp>
        <p:nvSpPr>
          <p:cNvPr id="32" name="TextBox 31"/>
          <p:cNvSpPr txBox="1"/>
          <p:nvPr/>
        </p:nvSpPr>
        <p:spPr>
          <a:xfrm>
            <a:off x="9259421" y="2461234"/>
            <a:ext cx="755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Edwin</a:t>
            </a:r>
            <a:endParaRPr lang="en-IN" dirty="0"/>
          </a:p>
        </p:txBody>
      </p:sp>
      <p:sp>
        <p:nvSpPr>
          <p:cNvPr id="33" name="TextBox 32"/>
          <p:cNvSpPr txBox="1"/>
          <p:nvPr/>
        </p:nvSpPr>
        <p:spPr>
          <a:xfrm>
            <a:off x="10075756" y="2508818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Thomas</a:t>
            </a:r>
            <a:endParaRPr lang="en-IN" sz="1600" dirty="0"/>
          </a:p>
        </p:txBody>
      </p:sp>
      <p:sp>
        <p:nvSpPr>
          <p:cNvPr id="34" name="TextBox 33"/>
          <p:cNvSpPr txBox="1"/>
          <p:nvPr/>
        </p:nvSpPr>
        <p:spPr>
          <a:xfrm>
            <a:off x="11061769" y="2464837"/>
            <a:ext cx="1308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15000</a:t>
            </a:r>
            <a:endParaRPr lang="en-IN" dirty="0"/>
          </a:p>
        </p:txBody>
      </p:sp>
      <p:sp>
        <p:nvSpPr>
          <p:cNvPr id="35" name="TextBox 34"/>
          <p:cNvSpPr txBox="1"/>
          <p:nvPr/>
        </p:nvSpPr>
        <p:spPr>
          <a:xfrm>
            <a:off x="8401578" y="2864177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103</a:t>
            </a:r>
            <a:endParaRPr lang="en-IN" dirty="0"/>
          </a:p>
        </p:txBody>
      </p:sp>
      <p:sp>
        <p:nvSpPr>
          <p:cNvPr id="36" name="TextBox 35"/>
          <p:cNvSpPr txBox="1"/>
          <p:nvPr/>
        </p:nvSpPr>
        <p:spPr>
          <a:xfrm>
            <a:off x="9259421" y="2864177"/>
            <a:ext cx="758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Harry </a:t>
            </a:r>
            <a:endParaRPr lang="en-IN" dirty="0"/>
          </a:p>
        </p:txBody>
      </p:sp>
      <p:sp>
        <p:nvSpPr>
          <p:cNvPr id="37" name="TextBox 36"/>
          <p:cNvSpPr txBox="1"/>
          <p:nvPr/>
        </p:nvSpPr>
        <p:spPr>
          <a:xfrm>
            <a:off x="10219938" y="2864177"/>
            <a:ext cx="764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Potter</a:t>
            </a:r>
            <a:endParaRPr lang="en-IN" dirty="0"/>
          </a:p>
        </p:txBody>
      </p:sp>
      <p:sp>
        <p:nvSpPr>
          <p:cNvPr id="38" name="TextBox 37"/>
          <p:cNvSpPr txBox="1"/>
          <p:nvPr/>
        </p:nvSpPr>
        <p:spPr>
          <a:xfrm>
            <a:off x="11061769" y="2826357"/>
            <a:ext cx="1308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20000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1640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DML – Data Manipulation Language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75EB18E-7DE0-462F-925E-B153ED663F68}" type="slidenum">
              <a:rPr lang="en-US" smtClean="0"/>
              <a:pPr/>
              <a:t>17</a:t>
            </a:fld>
            <a:endParaRPr lang="en-US"/>
          </a:p>
        </p:txBody>
      </p:sp>
      <p:graphicFrame>
        <p:nvGraphicFramePr>
          <p:cNvPr id="8" name="Content Placeholder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12398446"/>
              </p:ext>
            </p:extLst>
          </p:nvPr>
        </p:nvGraphicFramePr>
        <p:xfrm>
          <a:off x="2431473" y="2636520"/>
          <a:ext cx="7356764" cy="15849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9788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77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Command</a:t>
                      </a:r>
                      <a:endParaRPr lang="en-IN" sz="2000" b="0" i="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Description</a:t>
                      </a:r>
                      <a:endParaRPr lang="en-IN" sz="2000" b="0" i="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 smtClean="0"/>
                        <a:t>INSERT </a:t>
                      </a:r>
                      <a:endParaRPr lang="en-IN" sz="2000" b="1" i="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I</a:t>
                      </a:r>
                      <a:r>
                        <a:rPr lang="en-US" sz="2000" dirty="0" smtClean="0"/>
                        <a:t>nsert </a:t>
                      </a:r>
                      <a:r>
                        <a:rPr lang="en-US" sz="2000" dirty="0"/>
                        <a:t>data into a table</a:t>
                      </a:r>
                      <a:endParaRPr lang="en-US" sz="2000" b="0" i="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UPDATE </a:t>
                      </a:r>
                      <a:endParaRPr lang="en-IN" sz="2000" b="1" i="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U</a:t>
                      </a:r>
                      <a:r>
                        <a:rPr lang="en-US" sz="2000" dirty="0" smtClean="0"/>
                        <a:t>pdates </a:t>
                      </a:r>
                      <a:r>
                        <a:rPr lang="en-US" sz="2000" dirty="0"/>
                        <a:t>existing data within a table</a:t>
                      </a:r>
                      <a:endParaRPr lang="en-IN" sz="2000" b="0" i="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DELETE </a:t>
                      </a:r>
                      <a:endParaRPr lang="en-IN" sz="2000" b="1" i="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D</a:t>
                      </a:r>
                      <a:r>
                        <a:rPr lang="en-US" sz="2000" dirty="0" smtClean="0"/>
                        <a:t>eletes </a:t>
                      </a:r>
                      <a:r>
                        <a:rPr lang="en-US" sz="2000" dirty="0"/>
                        <a:t>unwanted/all records from a table</a:t>
                      </a:r>
                      <a:endParaRPr lang="en-IN" sz="2000" b="0" i="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6150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DML – Data Manipulation Language – INSERT Command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75EB18E-7DE0-462F-925E-B153ED663F68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7106" y="1484313"/>
            <a:ext cx="618994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INSERT 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INTO </a:t>
            </a:r>
            <a:r>
              <a:rPr lang="en-I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employees </a:t>
            </a:r>
            <a:r>
              <a:rPr lang="en-I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  <a:r>
              <a:rPr lang="en-IN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mployee_id,first_name,last_name,salary</a:t>
            </a:r>
            <a:r>
              <a:rPr lang="en-I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 VALUES 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101, </a:t>
            </a:r>
            <a:r>
              <a:rPr lang="en-I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‘</a:t>
            </a:r>
            <a:r>
              <a:rPr lang="en-I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Steven</a:t>
            </a:r>
            <a:r>
              <a:rPr lang="en-I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’</a:t>
            </a:r>
            <a:r>
              <a:rPr lang="en-I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‘King</a:t>
            </a:r>
            <a:r>
              <a:rPr lang="en-I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’</a:t>
            </a:r>
            <a:r>
              <a:rPr lang="en-I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I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10000);</a:t>
            </a:r>
            <a:endParaRPr lang="en-IN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89806" y="2911121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INSERT INTO employees 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employee_id,first_name,last_name,salary</a:t>
            </a:r>
            <a:r>
              <a:rPr lang="en-I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VALUES (</a:t>
            </a:r>
            <a:r>
              <a:rPr lang="en-I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102, </a:t>
            </a:r>
            <a:r>
              <a:rPr lang="en-I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‘</a:t>
            </a:r>
            <a:r>
              <a:rPr lang="en-I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Edwin’, ‘Thomas’, </a:t>
            </a:r>
            <a:r>
              <a:rPr lang="en-I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15000 );</a:t>
            </a:r>
            <a:endParaRPr lang="en-IN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89806" y="4674919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  <a:p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INSERT INTO employees 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employee_id,first_name,last_name,salary</a:t>
            </a:r>
            <a:r>
              <a:rPr lang="en-I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VALUES (</a:t>
            </a:r>
            <a:r>
              <a:rPr lang="en-I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103, </a:t>
            </a:r>
            <a:r>
              <a:rPr lang="en-I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‘</a:t>
            </a:r>
            <a:r>
              <a:rPr lang="en-I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Harry’, </a:t>
            </a:r>
            <a:r>
              <a:rPr lang="en-I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‘</a:t>
            </a:r>
            <a:r>
              <a:rPr lang="en-I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Potter’, </a:t>
            </a:r>
            <a:r>
              <a:rPr lang="en-I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20000);</a:t>
            </a:r>
            <a:endParaRPr lang="en-IN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7514993"/>
              </p:ext>
            </p:extLst>
          </p:nvPr>
        </p:nvGraphicFramePr>
        <p:xfrm>
          <a:off x="8094469" y="1484313"/>
          <a:ext cx="3957781" cy="4297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38381">
                  <a:extLst>
                    <a:ext uri="{9D8B030D-6E8A-4147-A177-3AD203B41FA5}">
                      <a16:colId xmlns:a16="http://schemas.microsoft.com/office/drawing/2014/main" val="491039929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1335422721"/>
                    </a:ext>
                  </a:extLst>
                </a:gridCol>
                <a:gridCol w="845704">
                  <a:extLst>
                    <a:ext uri="{9D8B030D-6E8A-4147-A177-3AD203B41FA5}">
                      <a16:colId xmlns:a16="http://schemas.microsoft.com/office/drawing/2014/main" val="3090124900"/>
                    </a:ext>
                  </a:extLst>
                </a:gridCol>
                <a:gridCol w="1084696">
                  <a:extLst>
                    <a:ext uri="{9D8B030D-6E8A-4147-A177-3AD203B41FA5}">
                      <a16:colId xmlns:a16="http://schemas.microsoft.com/office/drawing/2014/main" val="1464259991"/>
                    </a:ext>
                  </a:extLst>
                </a:gridCol>
              </a:tblGrid>
              <a:tr h="31930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employee_id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first_name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last_name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salary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508193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411634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7860768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9050337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4545095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4555282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345161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206130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5279891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9281692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65515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420050" y="2129722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101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9277893" y="2129722"/>
            <a:ext cx="818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Steven</a:t>
            </a:r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10238410" y="2129722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King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11091668" y="2117022"/>
            <a:ext cx="1308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10000</a:t>
            </a:r>
            <a:endParaRPr lang="en-IN" dirty="0"/>
          </a:p>
        </p:txBody>
      </p:sp>
      <p:sp>
        <p:nvSpPr>
          <p:cNvPr id="15" name="TextBox 14"/>
          <p:cNvSpPr txBox="1"/>
          <p:nvPr/>
        </p:nvSpPr>
        <p:spPr>
          <a:xfrm>
            <a:off x="8420050" y="246123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102</a:t>
            </a:r>
            <a:endParaRPr lang="en-IN" dirty="0"/>
          </a:p>
        </p:txBody>
      </p:sp>
      <p:sp>
        <p:nvSpPr>
          <p:cNvPr id="16" name="TextBox 15"/>
          <p:cNvSpPr txBox="1"/>
          <p:nvPr/>
        </p:nvSpPr>
        <p:spPr>
          <a:xfrm>
            <a:off x="9277893" y="2461234"/>
            <a:ext cx="755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Edwin</a:t>
            </a:r>
            <a:endParaRPr lang="en-IN" dirty="0"/>
          </a:p>
        </p:txBody>
      </p:sp>
      <p:sp>
        <p:nvSpPr>
          <p:cNvPr id="17" name="TextBox 16"/>
          <p:cNvSpPr txBox="1"/>
          <p:nvPr/>
        </p:nvSpPr>
        <p:spPr>
          <a:xfrm>
            <a:off x="10094228" y="2508818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Thomas</a:t>
            </a:r>
            <a:endParaRPr lang="en-IN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11091668" y="2448534"/>
            <a:ext cx="1308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15000</a:t>
            </a:r>
            <a:endParaRPr lang="en-IN" dirty="0"/>
          </a:p>
        </p:txBody>
      </p:sp>
      <p:sp>
        <p:nvSpPr>
          <p:cNvPr id="23" name="TextBox 22"/>
          <p:cNvSpPr txBox="1"/>
          <p:nvPr/>
        </p:nvSpPr>
        <p:spPr>
          <a:xfrm>
            <a:off x="8420050" y="2864177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103</a:t>
            </a:r>
            <a:endParaRPr lang="en-IN" dirty="0"/>
          </a:p>
        </p:txBody>
      </p:sp>
      <p:sp>
        <p:nvSpPr>
          <p:cNvPr id="24" name="TextBox 23"/>
          <p:cNvSpPr txBox="1"/>
          <p:nvPr/>
        </p:nvSpPr>
        <p:spPr>
          <a:xfrm>
            <a:off x="9277893" y="2864177"/>
            <a:ext cx="758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Harry </a:t>
            </a:r>
            <a:endParaRPr lang="en-IN" dirty="0"/>
          </a:p>
        </p:txBody>
      </p:sp>
      <p:sp>
        <p:nvSpPr>
          <p:cNvPr id="25" name="TextBox 24"/>
          <p:cNvSpPr txBox="1"/>
          <p:nvPr/>
        </p:nvSpPr>
        <p:spPr>
          <a:xfrm>
            <a:off x="10174910" y="2864177"/>
            <a:ext cx="764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Potter</a:t>
            </a:r>
            <a:endParaRPr lang="en-IN" dirty="0"/>
          </a:p>
        </p:txBody>
      </p:sp>
      <p:sp>
        <p:nvSpPr>
          <p:cNvPr id="26" name="TextBox 25"/>
          <p:cNvSpPr txBox="1"/>
          <p:nvPr/>
        </p:nvSpPr>
        <p:spPr>
          <a:xfrm>
            <a:off x="11091668" y="2851477"/>
            <a:ext cx="1308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20000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4051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" grpId="0"/>
      <p:bldP spid="4" grpId="0"/>
      <p:bldP spid="5" grpId="0"/>
      <p:bldP spid="13" grpId="0"/>
      <p:bldP spid="14" grpId="0"/>
      <p:bldP spid="7" grpId="0"/>
      <p:bldP spid="15" grpId="0"/>
      <p:bldP spid="16" grpId="0"/>
      <p:bldP spid="17" grpId="0"/>
      <p:bldP spid="18" grpId="0"/>
      <p:bldP spid="23" grpId="0"/>
      <p:bldP spid="24" grpId="0"/>
      <p:bldP spid="25" grpId="0"/>
      <p:bldP spid="2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DML – Data Manipulation Language – UPDATE Command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75EB18E-7DE0-462F-925E-B153ED663F68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0935" y="1484313"/>
            <a:ext cx="653746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UPDATE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employees 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SET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last_name=‘Cohen’ 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WHERE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employee_id=101;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0102028"/>
              </p:ext>
            </p:extLst>
          </p:nvPr>
        </p:nvGraphicFramePr>
        <p:xfrm>
          <a:off x="8094469" y="1484313"/>
          <a:ext cx="3957781" cy="4297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38381">
                  <a:extLst>
                    <a:ext uri="{9D8B030D-6E8A-4147-A177-3AD203B41FA5}">
                      <a16:colId xmlns:a16="http://schemas.microsoft.com/office/drawing/2014/main" val="491039929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1335422721"/>
                    </a:ext>
                  </a:extLst>
                </a:gridCol>
                <a:gridCol w="845704">
                  <a:extLst>
                    <a:ext uri="{9D8B030D-6E8A-4147-A177-3AD203B41FA5}">
                      <a16:colId xmlns:a16="http://schemas.microsoft.com/office/drawing/2014/main" val="3090124900"/>
                    </a:ext>
                  </a:extLst>
                </a:gridCol>
                <a:gridCol w="1084696">
                  <a:extLst>
                    <a:ext uri="{9D8B030D-6E8A-4147-A177-3AD203B41FA5}">
                      <a16:colId xmlns:a16="http://schemas.microsoft.com/office/drawing/2014/main" val="1464259991"/>
                    </a:ext>
                  </a:extLst>
                </a:gridCol>
              </a:tblGrid>
              <a:tr h="31930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employee_id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first_name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last_name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salary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508193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411634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7860768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9050337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4545095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4555282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345161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206130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5279891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9281692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6551503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8420050" y="2129722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101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9277893" y="2129722"/>
            <a:ext cx="818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Steven</a:t>
            </a:r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10238410" y="2129722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King</a:t>
            </a:r>
            <a:endParaRPr lang="en-IN" dirty="0"/>
          </a:p>
        </p:txBody>
      </p:sp>
      <p:sp>
        <p:nvSpPr>
          <p:cNvPr id="15" name="TextBox 14"/>
          <p:cNvSpPr txBox="1"/>
          <p:nvPr/>
        </p:nvSpPr>
        <p:spPr>
          <a:xfrm>
            <a:off x="11091668" y="2117022"/>
            <a:ext cx="1308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10000</a:t>
            </a:r>
            <a:endParaRPr lang="en-IN" dirty="0"/>
          </a:p>
        </p:txBody>
      </p:sp>
      <p:sp>
        <p:nvSpPr>
          <p:cNvPr id="16" name="TextBox 15"/>
          <p:cNvSpPr txBox="1"/>
          <p:nvPr/>
        </p:nvSpPr>
        <p:spPr>
          <a:xfrm>
            <a:off x="8420050" y="246123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102</a:t>
            </a:r>
            <a:endParaRPr lang="en-IN" dirty="0"/>
          </a:p>
        </p:txBody>
      </p:sp>
      <p:sp>
        <p:nvSpPr>
          <p:cNvPr id="17" name="TextBox 16"/>
          <p:cNvSpPr txBox="1"/>
          <p:nvPr/>
        </p:nvSpPr>
        <p:spPr>
          <a:xfrm>
            <a:off x="9277893" y="2461234"/>
            <a:ext cx="755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Edwin</a:t>
            </a:r>
            <a:endParaRPr lang="en-IN" dirty="0"/>
          </a:p>
        </p:txBody>
      </p:sp>
      <p:sp>
        <p:nvSpPr>
          <p:cNvPr id="18" name="TextBox 17"/>
          <p:cNvSpPr txBox="1"/>
          <p:nvPr/>
        </p:nvSpPr>
        <p:spPr>
          <a:xfrm>
            <a:off x="10094228" y="2508818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Thomas</a:t>
            </a:r>
            <a:endParaRPr lang="en-IN" sz="1600" dirty="0"/>
          </a:p>
        </p:txBody>
      </p:sp>
      <p:sp>
        <p:nvSpPr>
          <p:cNvPr id="19" name="TextBox 18"/>
          <p:cNvSpPr txBox="1"/>
          <p:nvPr/>
        </p:nvSpPr>
        <p:spPr>
          <a:xfrm>
            <a:off x="11091668" y="2448534"/>
            <a:ext cx="1308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15000</a:t>
            </a:r>
            <a:endParaRPr lang="en-IN" dirty="0"/>
          </a:p>
        </p:txBody>
      </p:sp>
      <p:sp>
        <p:nvSpPr>
          <p:cNvPr id="20" name="TextBox 19"/>
          <p:cNvSpPr txBox="1"/>
          <p:nvPr/>
        </p:nvSpPr>
        <p:spPr>
          <a:xfrm>
            <a:off x="8420050" y="2864177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103</a:t>
            </a:r>
            <a:endParaRPr lang="en-IN" dirty="0"/>
          </a:p>
        </p:txBody>
      </p:sp>
      <p:sp>
        <p:nvSpPr>
          <p:cNvPr id="21" name="TextBox 20"/>
          <p:cNvSpPr txBox="1"/>
          <p:nvPr/>
        </p:nvSpPr>
        <p:spPr>
          <a:xfrm>
            <a:off x="9277893" y="2864177"/>
            <a:ext cx="758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Harry </a:t>
            </a:r>
            <a:endParaRPr lang="en-IN" dirty="0"/>
          </a:p>
        </p:txBody>
      </p:sp>
      <p:sp>
        <p:nvSpPr>
          <p:cNvPr id="22" name="TextBox 21"/>
          <p:cNvSpPr txBox="1"/>
          <p:nvPr/>
        </p:nvSpPr>
        <p:spPr>
          <a:xfrm>
            <a:off x="10174910" y="2864177"/>
            <a:ext cx="764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Potter</a:t>
            </a:r>
            <a:endParaRPr lang="en-IN" dirty="0"/>
          </a:p>
        </p:txBody>
      </p:sp>
      <p:sp>
        <p:nvSpPr>
          <p:cNvPr id="23" name="TextBox 22"/>
          <p:cNvSpPr txBox="1"/>
          <p:nvPr/>
        </p:nvSpPr>
        <p:spPr>
          <a:xfrm>
            <a:off x="11091668" y="2851477"/>
            <a:ext cx="1308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20000</a:t>
            </a:r>
            <a:endParaRPr lang="en-IN" dirty="0"/>
          </a:p>
        </p:txBody>
      </p:sp>
      <p:sp>
        <p:nvSpPr>
          <p:cNvPr id="24" name="TextBox 23"/>
          <p:cNvSpPr txBox="1"/>
          <p:nvPr/>
        </p:nvSpPr>
        <p:spPr>
          <a:xfrm>
            <a:off x="10109646" y="2120197"/>
            <a:ext cx="864373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Cohen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3263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DML – Data Manipulation Language - DELETE Command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75EB18E-7DE0-462F-925E-B153ED663F68}" type="slidenum">
              <a:rPr lang="en-US" smtClean="0"/>
              <a:pPr/>
              <a:t>20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1000913"/>
              </p:ext>
            </p:extLst>
          </p:nvPr>
        </p:nvGraphicFramePr>
        <p:xfrm>
          <a:off x="8094469" y="1485536"/>
          <a:ext cx="3957781" cy="4297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38381">
                  <a:extLst>
                    <a:ext uri="{9D8B030D-6E8A-4147-A177-3AD203B41FA5}">
                      <a16:colId xmlns:a16="http://schemas.microsoft.com/office/drawing/2014/main" val="491039929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1335422721"/>
                    </a:ext>
                  </a:extLst>
                </a:gridCol>
                <a:gridCol w="845704">
                  <a:extLst>
                    <a:ext uri="{9D8B030D-6E8A-4147-A177-3AD203B41FA5}">
                      <a16:colId xmlns:a16="http://schemas.microsoft.com/office/drawing/2014/main" val="3090124900"/>
                    </a:ext>
                  </a:extLst>
                </a:gridCol>
                <a:gridCol w="1084696">
                  <a:extLst>
                    <a:ext uri="{9D8B030D-6E8A-4147-A177-3AD203B41FA5}">
                      <a16:colId xmlns:a16="http://schemas.microsoft.com/office/drawing/2014/main" val="1464259991"/>
                    </a:ext>
                  </a:extLst>
                </a:gridCol>
              </a:tblGrid>
              <a:tr h="31930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employee_id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first_name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last_name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salary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508193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411634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7860768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9050337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4545095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4555282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345161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206130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5279891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9281692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6551503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8420050" y="2130945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101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9277893" y="2130945"/>
            <a:ext cx="818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Steven</a:t>
            </a:r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10094228" y="2130945"/>
            <a:ext cx="788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Cohen</a:t>
            </a:r>
            <a:endParaRPr lang="en-IN" dirty="0"/>
          </a:p>
        </p:txBody>
      </p:sp>
      <p:sp>
        <p:nvSpPr>
          <p:cNvPr id="15" name="TextBox 14"/>
          <p:cNvSpPr txBox="1"/>
          <p:nvPr/>
        </p:nvSpPr>
        <p:spPr>
          <a:xfrm>
            <a:off x="11091668" y="2118245"/>
            <a:ext cx="1308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10000</a:t>
            </a:r>
            <a:endParaRPr lang="en-IN" dirty="0"/>
          </a:p>
        </p:txBody>
      </p:sp>
      <p:sp>
        <p:nvSpPr>
          <p:cNvPr id="16" name="TextBox 15"/>
          <p:cNvSpPr txBox="1"/>
          <p:nvPr/>
        </p:nvSpPr>
        <p:spPr>
          <a:xfrm>
            <a:off x="8420050" y="2462457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102</a:t>
            </a:r>
            <a:endParaRPr lang="en-IN" dirty="0"/>
          </a:p>
        </p:txBody>
      </p:sp>
      <p:sp>
        <p:nvSpPr>
          <p:cNvPr id="17" name="TextBox 16"/>
          <p:cNvSpPr txBox="1"/>
          <p:nvPr/>
        </p:nvSpPr>
        <p:spPr>
          <a:xfrm>
            <a:off x="9277893" y="2462457"/>
            <a:ext cx="755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Edwin</a:t>
            </a:r>
            <a:endParaRPr lang="en-IN" dirty="0"/>
          </a:p>
        </p:txBody>
      </p:sp>
      <p:sp>
        <p:nvSpPr>
          <p:cNvPr id="18" name="TextBox 17"/>
          <p:cNvSpPr txBox="1"/>
          <p:nvPr/>
        </p:nvSpPr>
        <p:spPr>
          <a:xfrm>
            <a:off x="10094228" y="2510041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Thomas</a:t>
            </a:r>
            <a:endParaRPr lang="en-IN" sz="1600" dirty="0"/>
          </a:p>
        </p:txBody>
      </p:sp>
      <p:sp>
        <p:nvSpPr>
          <p:cNvPr id="19" name="TextBox 18"/>
          <p:cNvSpPr txBox="1"/>
          <p:nvPr/>
        </p:nvSpPr>
        <p:spPr>
          <a:xfrm>
            <a:off x="11091668" y="2449757"/>
            <a:ext cx="1308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15000</a:t>
            </a:r>
            <a:endParaRPr lang="en-IN" dirty="0"/>
          </a:p>
        </p:txBody>
      </p:sp>
      <p:sp>
        <p:nvSpPr>
          <p:cNvPr id="20" name="TextBox 19"/>
          <p:cNvSpPr txBox="1"/>
          <p:nvPr/>
        </p:nvSpPr>
        <p:spPr>
          <a:xfrm>
            <a:off x="8420050" y="286540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103</a:t>
            </a:r>
            <a:endParaRPr lang="en-IN" dirty="0"/>
          </a:p>
        </p:txBody>
      </p:sp>
      <p:sp>
        <p:nvSpPr>
          <p:cNvPr id="21" name="TextBox 20"/>
          <p:cNvSpPr txBox="1"/>
          <p:nvPr/>
        </p:nvSpPr>
        <p:spPr>
          <a:xfrm>
            <a:off x="9277893" y="2865400"/>
            <a:ext cx="758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Harry </a:t>
            </a:r>
            <a:endParaRPr lang="en-IN" dirty="0"/>
          </a:p>
        </p:txBody>
      </p:sp>
      <p:sp>
        <p:nvSpPr>
          <p:cNvPr id="22" name="TextBox 21"/>
          <p:cNvSpPr txBox="1"/>
          <p:nvPr/>
        </p:nvSpPr>
        <p:spPr>
          <a:xfrm>
            <a:off x="10183128" y="2865400"/>
            <a:ext cx="764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Potter</a:t>
            </a:r>
            <a:endParaRPr lang="en-IN" dirty="0"/>
          </a:p>
        </p:txBody>
      </p:sp>
      <p:sp>
        <p:nvSpPr>
          <p:cNvPr id="23" name="TextBox 22"/>
          <p:cNvSpPr txBox="1"/>
          <p:nvPr/>
        </p:nvSpPr>
        <p:spPr>
          <a:xfrm>
            <a:off x="11091668" y="2852700"/>
            <a:ext cx="1308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20000</a:t>
            </a:r>
            <a:endParaRPr lang="en-IN" dirty="0"/>
          </a:p>
        </p:txBody>
      </p:sp>
      <p:sp>
        <p:nvSpPr>
          <p:cNvPr id="25" name="Rectangle 24"/>
          <p:cNvSpPr/>
          <p:nvPr/>
        </p:nvSpPr>
        <p:spPr>
          <a:xfrm>
            <a:off x="770775" y="1485536"/>
            <a:ext cx="574459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DELETE FROM employees WHERE employee_id IN (101,103);</a:t>
            </a:r>
          </a:p>
          <a:p>
            <a:endParaRPr lang="en-US" dirty="0">
              <a:solidFill>
                <a:srgbClr val="000000"/>
              </a:solidFill>
              <a:latin typeface="Courier New" panose="02070309020205020404" pitchFamily="49" charset="0"/>
              <a:ea typeface="Segoe UI" panose="020B0502040204020203" pitchFamily="34" charset="0"/>
              <a:cs typeface="Courier New" panose="02070309020205020404" pitchFamily="49" charset="0"/>
            </a:endParaRPr>
          </a:p>
          <a:p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  <a:ea typeface="Segoe UI" panose="020B0502040204020203" pitchFamily="34" charset="0"/>
              <a:cs typeface="Courier New" panose="02070309020205020404" pitchFamily="49" charset="0"/>
            </a:endParaRPr>
          </a:p>
          <a:p>
            <a:endParaRPr lang="en-US" dirty="0">
              <a:solidFill>
                <a:srgbClr val="000000"/>
              </a:solidFill>
              <a:latin typeface="Courier New" panose="02070309020205020404" pitchFamily="49" charset="0"/>
              <a:ea typeface="Segoe UI" panose="020B0502040204020203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5261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20" grpId="0"/>
      <p:bldP spid="21" grpId="0"/>
      <p:bldP spid="22" grpId="0"/>
      <p:bldP spid="23" grpId="0"/>
      <p:bldP spid="2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DCL - Data Control Language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75EB18E-7DE0-462F-925E-B153ED663F68}" type="slidenum">
              <a:rPr lang="en-US" smtClean="0"/>
              <a:pPr/>
              <a:t>21</a:t>
            </a:fld>
            <a:endParaRPr lang="en-US"/>
          </a:p>
        </p:txBody>
      </p:sp>
      <p:graphicFrame>
        <p:nvGraphicFramePr>
          <p:cNvPr id="9" name="Content Placeholder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58769375"/>
              </p:ext>
            </p:extLst>
          </p:nvPr>
        </p:nvGraphicFramePr>
        <p:xfrm>
          <a:off x="2292927" y="2682240"/>
          <a:ext cx="7606146" cy="14935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8213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84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Command</a:t>
                      </a:r>
                      <a:endParaRPr lang="en-IN" sz="2000" b="0" i="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Description</a:t>
                      </a:r>
                      <a:endParaRPr lang="en-IN" sz="2000" b="0" i="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GRANT </a:t>
                      </a:r>
                      <a:endParaRPr lang="en-IN" sz="2000" b="1" i="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Gives </a:t>
                      </a:r>
                      <a:r>
                        <a:rPr lang="en-US" sz="2000" dirty="0"/>
                        <a:t>user's access privileges to database</a:t>
                      </a:r>
                      <a:endParaRPr lang="en-US" sz="2000" b="0" i="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REVOKE </a:t>
                      </a:r>
                      <a:endParaRPr lang="en-IN" sz="2000" b="1" i="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Withdraw </a:t>
                      </a:r>
                      <a:r>
                        <a:rPr lang="en-US" sz="2000" dirty="0"/>
                        <a:t>access privileges given with the GRANT command</a:t>
                      </a:r>
                      <a:endParaRPr lang="en-US" sz="2000" b="0" i="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0989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TCL - Transaction Control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75EB18E-7DE0-462F-925E-B153ED663F68}" type="slidenum">
              <a:rPr lang="en-US" smtClean="0"/>
              <a:pPr/>
              <a:t>22</a:t>
            </a:fld>
            <a:endParaRPr lang="en-US"/>
          </a:p>
        </p:txBody>
      </p:sp>
      <p:graphicFrame>
        <p:nvGraphicFramePr>
          <p:cNvPr id="7" name="Content Placeholder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23416158"/>
              </p:ext>
            </p:extLst>
          </p:nvPr>
        </p:nvGraphicFramePr>
        <p:xfrm>
          <a:off x="2440167" y="2331720"/>
          <a:ext cx="7311666" cy="21945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9024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91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778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Command</a:t>
                      </a:r>
                      <a:endParaRPr lang="en-IN" sz="2000" b="0" i="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Description</a:t>
                      </a:r>
                      <a:endParaRPr lang="en-IN" sz="2000" b="0" i="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145">
                <a:tc>
                  <a:txBody>
                    <a:bodyPr/>
                    <a:lstStyle/>
                    <a:p>
                      <a:r>
                        <a:rPr lang="en-US" sz="2000" dirty="0"/>
                        <a:t>COMMIT </a:t>
                      </a:r>
                      <a:endParaRPr lang="en-IN" sz="2000" b="0" i="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Save work done</a:t>
                      </a:r>
                      <a:endParaRPr lang="en-US" sz="2000" b="0" i="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1333">
                <a:tc>
                  <a:txBody>
                    <a:bodyPr/>
                    <a:lstStyle/>
                    <a:p>
                      <a:r>
                        <a:rPr lang="en-US" sz="2000" dirty="0"/>
                        <a:t>ROLLBACK </a:t>
                      </a:r>
                      <a:endParaRPr lang="en-IN" sz="2000" b="0" i="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Restore database to original state since the last COMMIT</a:t>
                      </a:r>
                      <a:endParaRPr lang="en-US" sz="2000" b="0" i="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1333">
                <a:tc>
                  <a:txBody>
                    <a:bodyPr/>
                    <a:lstStyle/>
                    <a:p>
                      <a:r>
                        <a:rPr lang="en-US" sz="2000" dirty="0"/>
                        <a:t>SAVEPOINT </a:t>
                      </a:r>
                      <a:endParaRPr lang="en-IN" sz="2000" b="0" i="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Identify a point in a transaction to which you can later roll back</a:t>
                      </a:r>
                      <a:endParaRPr lang="en-US" sz="2000" b="0" i="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1718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87659" y="2944420"/>
            <a:ext cx="9055100" cy="734291"/>
          </a:xfrm>
        </p:spPr>
        <p:txBody>
          <a:bodyPr>
            <a:normAutofit/>
          </a:bodyPr>
          <a:lstStyle/>
          <a:p>
            <a:pPr algn="ctr"/>
            <a:r>
              <a:rPr lang="en-IN" dirty="0" smtClean="0"/>
              <a:t>SQL Operators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7113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9540302"/>
              </p:ext>
            </p:extLst>
          </p:nvPr>
        </p:nvGraphicFramePr>
        <p:xfrm>
          <a:off x="8043953" y="1516133"/>
          <a:ext cx="3957781" cy="1737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38381">
                  <a:extLst>
                    <a:ext uri="{9D8B030D-6E8A-4147-A177-3AD203B41FA5}">
                      <a16:colId xmlns:a16="http://schemas.microsoft.com/office/drawing/2014/main" val="1074915618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1278946697"/>
                    </a:ext>
                  </a:extLst>
                </a:gridCol>
                <a:gridCol w="845704">
                  <a:extLst>
                    <a:ext uri="{9D8B030D-6E8A-4147-A177-3AD203B41FA5}">
                      <a16:colId xmlns:a16="http://schemas.microsoft.com/office/drawing/2014/main" val="1022451004"/>
                    </a:ext>
                  </a:extLst>
                </a:gridCol>
                <a:gridCol w="1084696">
                  <a:extLst>
                    <a:ext uri="{9D8B030D-6E8A-4147-A177-3AD203B41FA5}">
                      <a16:colId xmlns:a16="http://schemas.microsoft.com/office/drawing/2014/main" val="1736103727"/>
                    </a:ext>
                  </a:extLst>
                </a:gridCol>
              </a:tblGrid>
              <a:tr h="31930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employee_id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first_name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last_name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salary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132729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2928671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1898166"/>
                  </a:ext>
                </a:extLst>
              </a:tr>
              <a:tr h="31930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4647729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SQL Operators - Filter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75EB18E-7DE0-462F-925E-B153ED663F68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89407" y="1484313"/>
            <a:ext cx="5619301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 smtClean="0">
                <a:cs typeface="Arial" panose="020B0604020202020204" pitchFamily="34" charset="0"/>
              </a:rPr>
              <a:t>WHERE Clause : </a:t>
            </a:r>
            <a:endParaRPr lang="en-US" sz="2000" dirty="0">
              <a:cs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dirty="0" smtClean="0">
                <a:cs typeface="Arial" panose="020B0604020202020204" pitchFamily="34" charset="0"/>
              </a:rPr>
              <a:t>Used </a:t>
            </a:r>
            <a:r>
              <a:rPr lang="en-US" sz="2000" dirty="0">
                <a:cs typeface="Arial" panose="020B0604020202020204" pitchFamily="34" charset="0"/>
              </a:rPr>
              <a:t>to specify a condition while fetching the data from a single table or by joining with multiple tables</a:t>
            </a:r>
            <a:r>
              <a:rPr lang="en-US" sz="2000" dirty="0" smtClean="0">
                <a:cs typeface="Arial" panose="020B0604020202020204" pitchFamily="34" charset="0"/>
              </a:rPr>
              <a:t>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dirty="0" smtClean="0">
                <a:cs typeface="Arial" panose="020B0604020202020204" pitchFamily="34" charset="0"/>
              </a:rPr>
              <a:t>Not only </a:t>
            </a:r>
            <a:r>
              <a:rPr lang="en-US" sz="2000" dirty="0">
                <a:cs typeface="Arial" panose="020B0604020202020204" pitchFamily="34" charset="0"/>
              </a:rPr>
              <a:t>used in the SELECT statement, but it is also used in the UPDATE, DELETE statement, etc</a:t>
            </a:r>
            <a:r>
              <a:rPr lang="en-US" sz="2000" dirty="0" smtClean="0">
                <a:cs typeface="Arial" panose="020B0604020202020204" pitchFamily="34" charset="0"/>
              </a:rPr>
              <a:t>.,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2000" dirty="0" smtClean="0"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 smtClean="0">
                <a:cs typeface="Arial" panose="020B0604020202020204" pitchFamily="34" charset="0"/>
              </a:rPr>
              <a:t>e.g.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SELECT * FROM employees WHERE employee_id=101;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 smtClean="0"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cs typeface="Arial" panose="020B0604020202020204" pitchFamily="34" charset="0"/>
              </a:rPr>
              <a:t>The example mentioned above extracts all the columns from the table ‘employees’ whose </a:t>
            </a:r>
            <a:r>
              <a:rPr lang="en-US" sz="2000" dirty="0" err="1" smtClean="0">
                <a:cs typeface="Arial" panose="020B0604020202020204" pitchFamily="34" charset="0"/>
              </a:rPr>
              <a:t>employee_id</a:t>
            </a:r>
            <a:r>
              <a:rPr lang="en-US" sz="2000" dirty="0" smtClean="0">
                <a:cs typeface="Arial" panose="020B0604020202020204" pitchFamily="34" charset="0"/>
              </a:rPr>
              <a:t>=101</a:t>
            </a:r>
            <a:endParaRPr lang="en-US" sz="2000" dirty="0">
              <a:cs typeface="Arial" panose="020B060402020202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064069"/>
              </p:ext>
            </p:extLst>
          </p:nvPr>
        </p:nvGraphicFramePr>
        <p:xfrm>
          <a:off x="6806278" y="4101882"/>
          <a:ext cx="5195456" cy="74168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482436">
                  <a:extLst>
                    <a:ext uri="{9D8B030D-6E8A-4147-A177-3AD203B41FA5}">
                      <a16:colId xmlns:a16="http://schemas.microsoft.com/office/drawing/2014/main" val="2264500289"/>
                    </a:ext>
                  </a:extLst>
                </a:gridCol>
                <a:gridCol w="1246909">
                  <a:extLst>
                    <a:ext uri="{9D8B030D-6E8A-4147-A177-3AD203B41FA5}">
                      <a16:colId xmlns:a16="http://schemas.microsoft.com/office/drawing/2014/main" val="1522266205"/>
                    </a:ext>
                  </a:extLst>
                </a:gridCol>
                <a:gridCol w="1316182">
                  <a:extLst>
                    <a:ext uri="{9D8B030D-6E8A-4147-A177-3AD203B41FA5}">
                      <a16:colId xmlns:a16="http://schemas.microsoft.com/office/drawing/2014/main" val="2543573758"/>
                    </a:ext>
                  </a:extLst>
                </a:gridCol>
                <a:gridCol w="1149929">
                  <a:extLst>
                    <a:ext uri="{9D8B030D-6E8A-4147-A177-3AD203B41FA5}">
                      <a16:colId xmlns:a16="http://schemas.microsoft.com/office/drawing/2014/main" val="38557377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employee_id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first_name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last_name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salary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17623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737785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161145" y="4474230"/>
            <a:ext cx="803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101</a:t>
            </a:r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8456311" y="4466047"/>
            <a:ext cx="818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Steven</a:t>
            </a:r>
            <a:endParaRPr lang="en-IN" dirty="0"/>
          </a:p>
        </p:txBody>
      </p:sp>
      <p:sp>
        <p:nvSpPr>
          <p:cNvPr id="15" name="TextBox 14"/>
          <p:cNvSpPr txBox="1"/>
          <p:nvPr/>
        </p:nvSpPr>
        <p:spPr>
          <a:xfrm>
            <a:off x="9784446" y="4449242"/>
            <a:ext cx="788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Cohen</a:t>
            </a:r>
            <a:endParaRPr lang="en-IN" dirty="0"/>
          </a:p>
        </p:txBody>
      </p:sp>
      <p:sp>
        <p:nvSpPr>
          <p:cNvPr id="16" name="TextBox 15"/>
          <p:cNvSpPr txBox="1"/>
          <p:nvPr/>
        </p:nvSpPr>
        <p:spPr>
          <a:xfrm>
            <a:off x="10856962" y="4460090"/>
            <a:ext cx="1308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10000</a:t>
            </a:r>
            <a:endParaRPr lang="en-IN" dirty="0"/>
          </a:p>
        </p:txBody>
      </p:sp>
      <p:sp>
        <p:nvSpPr>
          <p:cNvPr id="18" name="TextBox 17"/>
          <p:cNvSpPr txBox="1"/>
          <p:nvPr/>
        </p:nvSpPr>
        <p:spPr>
          <a:xfrm>
            <a:off x="8348666" y="2212847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101</a:t>
            </a:r>
            <a:endParaRPr lang="en-IN" dirty="0"/>
          </a:p>
        </p:txBody>
      </p:sp>
      <p:sp>
        <p:nvSpPr>
          <p:cNvPr id="19" name="TextBox 18"/>
          <p:cNvSpPr txBox="1"/>
          <p:nvPr/>
        </p:nvSpPr>
        <p:spPr>
          <a:xfrm>
            <a:off x="9206509" y="2212847"/>
            <a:ext cx="818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Steven</a:t>
            </a:r>
            <a:endParaRPr lang="en-IN" dirty="0"/>
          </a:p>
        </p:txBody>
      </p:sp>
      <p:sp>
        <p:nvSpPr>
          <p:cNvPr id="20" name="TextBox 19"/>
          <p:cNvSpPr txBox="1"/>
          <p:nvPr/>
        </p:nvSpPr>
        <p:spPr>
          <a:xfrm>
            <a:off x="10167026" y="2212847"/>
            <a:ext cx="788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Cohen</a:t>
            </a:r>
            <a:endParaRPr lang="en-IN" dirty="0"/>
          </a:p>
        </p:txBody>
      </p:sp>
      <p:sp>
        <p:nvSpPr>
          <p:cNvPr id="21" name="TextBox 20"/>
          <p:cNvSpPr txBox="1"/>
          <p:nvPr/>
        </p:nvSpPr>
        <p:spPr>
          <a:xfrm>
            <a:off x="11020284" y="2200147"/>
            <a:ext cx="1308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10000</a:t>
            </a:r>
            <a:endParaRPr lang="en-IN" dirty="0"/>
          </a:p>
        </p:txBody>
      </p:sp>
      <p:sp>
        <p:nvSpPr>
          <p:cNvPr id="22" name="TextBox 21"/>
          <p:cNvSpPr txBox="1"/>
          <p:nvPr/>
        </p:nvSpPr>
        <p:spPr>
          <a:xfrm>
            <a:off x="8348666" y="2544359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102</a:t>
            </a:r>
            <a:endParaRPr lang="en-IN" dirty="0"/>
          </a:p>
        </p:txBody>
      </p:sp>
      <p:sp>
        <p:nvSpPr>
          <p:cNvPr id="23" name="TextBox 22"/>
          <p:cNvSpPr txBox="1"/>
          <p:nvPr/>
        </p:nvSpPr>
        <p:spPr>
          <a:xfrm>
            <a:off x="9206509" y="2544359"/>
            <a:ext cx="755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Edwin</a:t>
            </a:r>
            <a:endParaRPr lang="en-IN" dirty="0"/>
          </a:p>
        </p:txBody>
      </p:sp>
      <p:sp>
        <p:nvSpPr>
          <p:cNvPr id="24" name="TextBox 23"/>
          <p:cNvSpPr txBox="1"/>
          <p:nvPr/>
        </p:nvSpPr>
        <p:spPr>
          <a:xfrm>
            <a:off x="10022844" y="2591943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Thomas</a:t>
            </a:r>
            <a:endParaRPr lang="en-IN" sz="1600" dirty="0"/>
          </a:p>
        </p:txBody>
      </p:sp>
      <p:sp>
        <p:nvSpPr>
          <p:cNvPr id="25" name="TextBox 24"/>
          <p:cNvSpPr txBox="1"/>
          <p:nvPr/>
        </p:nvSpPr>
        <p:spPr>
          <a:xfrm>
            <a:off x="11020284" y="2531659"/>
            <a:ext cx="1308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15000</a:t>
            </a:r>
            <a:endParaRPr lang="en-IN" dirty="0"/>
          </a:p>
        </p:txBody>
      </p:sp>
      <p:sp>
        <p:nvSpPr>
          <p:cNvPr id="26" name="TextBox 25"/>
          <p:cNvSpPr txBox="1"/>
          <p:nvPr/>
        </p:nvSpPr>
        <p:spPr>
          <a:xfrm>
            <a:off x="8348666" y="2947302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103</a:t>
            </a:r>
            <a:endParaRPr lang="en-IN" dirty="0"/>
          </a:p>
        </p:txBody>
      </p:sp>
      <p:sp>
        <p:nvSpPr>
          <p:cNvPr id="27" name="TextBox 26"/>
          <p:cNvSpPr txBox="1"/>
          <p:nvPr/>
        </p:nvSpPr>
        <p:spPr>
          <a:xfrm>
            <a:off x="9206509" y="2947302"/>
            <a:ext cx="758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Harry </a:t>
            </a:r>
            <a:endParaRPr lang="en-IN" dirty="0"/>
          </a:p>
        </p:txBody>
      </p:sp>
      <p:sp>
        <p:nvSpPr>
          <p:cNvPr id="28" name="TextBox 27"/>
          <p:cNvSpPr txBox="1"/>
          <p:nvPr/>
        </p:nvSpPr>
        <p:spPr>
          <a:xfrm>
            <a:off x="10167026" y="2947302"/>
            <a:ext cx="764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Potter</a:t>
            </a:r>
            <a:endParaRPr lang="en-IN" dirty="0"/>
          </a:p>
        </p:txBody>
      </p:sp>
      <p:sp>
        <p:nvSpPr>
          <p:cNvPr id="29" name="TextBox 28"/>
          <p:cNvSpPr txBox="1"/>
          <p:nvPr/>
        </p:nvSpPr>
        <p:spPr>
          <a:xfrm>
            <a:off x="11020284" y="2934602"/>
            <a:ext cx="1308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20000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9897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SQL Operators – Logical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75EB18E-7DE0-462F-925E-B153ED663F68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66763" y="3586200"/>
            <a:ext cx="1139829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cs typeface="Courier New" panose="02070309020205020404" pitchFamily="49" charset="0"/>
              </a:rPr>
              <a:t>Sample Queries: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* FROM employees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WHERE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first_name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‘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Steven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’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and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salary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 15000;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* FROM employees WHERE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first_name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‘Steven’ 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OR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salary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=15000;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* FROM employees WHERE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first_name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‘Steven’ 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and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salary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!=10000;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6768981"/>
              </p:ext>
            </p:extLst>
          </p:nvPr>
        </p:nvGraphicFramePr>
        <p:xfrm>
          <a:off x="766763" y="1484313"/>
          <a:ext cx="4908323" cy="1769542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451269">
                  <a:extLst>
                    <a:ext uri="{9D8B030D-6E8A-4147-A177-3AD203B41FA5}">
                      <a16:colId xmlns:a16="http://schemas.microsoft.com/office/drawing/2014/main" val="20550901"/>
                    </a:ext>
                  </a:extLst>
                </a:gridCol>
                <a:gridCol w="1728527">
                  <a:extLst>
                    <a:ext uri="{9D8B030D-6E8A-4147-A177-3AD203B41FA5}">
                      <a16:colId xmlns:a16="http://schemas.microsoft.com/office/drawing/2014/main" val="4179849552"/>
                    </a:ext>
                  </a:extLst>
                </a:gridCol>
                <a:gridCol w="1728527">
                  <a:extLst>
                    <a:ext uri="{9D8B030D-6E8A-4147-A177-3AD203B41FA5}">
                      <a16:colId xmlns:a16="http://schemas.microsoft.com/office/drawing/2014/main" val="870422549"/>
                    </a:ext>
                  </a:extLst>
                </a:gridCol>
              </a:tblGrid>
              <a:tr h="22739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OPERATOR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ILLUSTRATIVE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EXAMPLE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RESULT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2299622"/>
                  </a:ext>
                </a:extLst>
              </a:tr>
              <a:tr h="227395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AND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(5&lt;2) AND (5&gt;3)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FALSE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2070517"/>
                  </a:ext>
                </a:extLst>
              </a:tr>
              <a:tr h="227395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OR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(5&lt;2)</a:t>
                      </a:r>
                      <a:r>
                        <a:rPr lang="en-US" baseline="0" dirty="0" smtClean="0"/>
                        <a:t> OR (5&gt;3)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TRUE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919172"/>
                  </a:ext>
                </a:extLst>
              </a:tr>
              <a:tr h="397942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NOT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NOT (5&lt;2)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TRUE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79538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6005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SQL Operators –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Comparison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59964" y="6355039"/>
            <a:ext cx="1530927" cy="365125"/>
          </a:xfrm>
        </p:spPr>
        <p:txBody>
          <a:bodyPr/>
          <a:lstStyle/>
          <a:p>
            <a:fld id="{875EB18E-7DE0-462F-925E-B153ED663F68}" type="slidenum">
              <a:rPr lang="en-US" smtClean="0"/>
              <a:pPr/>
              <a:t>26</a:t>
            </a:fld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1975186"/>
              </p:ext>
            </p:extLst>
          </p:nvPr>
        </p:nvGraphicFramePr>
        <p:xfrm>
          <a:off x="766764" y="1941513"/>
          <a:ext cx="3287798" cy="310896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500561">
                  <a:extLst>
                    <a:ext uri="{9D8B030D-6E8A-4147-A177-3AD203B41FA5}">
                      <a16:colId xmlns:a16="http://schemas.microsoft.com/office/drawing/2014/main" val="20550901"/>
                    </a:ext>
                  </a:extLst>
                </a:gridCol>
                <a:gridCol w="1787237">
                  <a:extLst>
                    <a:ext uri="{9D8B030D-6E8A-4147-A177-3AD203B41FA5}">
                      <a16:colId xmlns:a16="http://schemas.microsoft.com/office/drawing/2014/main" val="4179849552"/>
                    </a:ext>
                  </a:extLst>
                </a:gridCol>
              </a:tblGrid>
              <a:tr h="22739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SYMBOL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MEANING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2299622"/>
                  </a:ext>
                </a:extLst>
              </a:tr>
              <a:tr h="22739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=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Equal to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2070517"/>
                  </a:ext>
                </a:extLst>
              </a:tr>
              <a:tr h="22739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&lt;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Less than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919172"/>
                  </a:ext>
                </a:extLst>
              </a:tr>
              <a:tr h="397942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&lt;=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Less than</a:t>
                      </a:r>
                      <a:r>
                        <a:rPr lang="en-US" baseline="0" dirty="0" smtClean="0"/>
                        <a:t> or equal to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7953869"/>
                  </a:ext>
                </a:extLst>
              </a:tr>
              <a:tr h="24919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&gt;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Greater</a:t>
                      </a:r>
                      <a:r>
                        <a:rPr lang="en-US" baseline="0" dirty="0" smtClean="0"/>
                        <a:t> than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6896957"/>
                  </a:ext>
                </a:extLst>
              </a:tr>
              <a:tr h="397942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&gt;=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Greater than or equal to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78723"/>
                  </a:ext>
                </a:extLst>
              </a:tr>
              <a:tr h="24919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&lt; &gt;  or  !=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Not equal to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436100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1723733"/>
              </p:ext>
            </p:extLst>
          </p:nvPr>
        </p:nvGraphicFramePr>
        <p:xfrm>
          <a:off x="766763" y="1484313"/>
          <a:ext cx="3287798" cy="43882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3287798">
                  <a:extLst>
                    <a:ext uri="{9D8B030D-6E8A-4147-A177-3AD203B41FA5}">
                      <a16:colId xmlns:a16="http://schemas.microsoft.com/office/drawing/2014/main" val="1258392043"/>
                    </a:ext>
                  </a:extLst>
                </a:gridCol>
              </a:tblGrid>
              <a:tr h="43882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Comparison</a:t>
                      </a:r>
                      <a:r>
                        <a:rPr lang="en-US" sz="2000" baseline="0" dirty="0" smtClean="0"/>
                        <a:t> Operator’s</a:t>
                      </a:r>
                      <a:endParaRPr lang="en-IN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5579838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4570792" y="1489865"/>
            <a:ext cx="7420099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cs typeface="Courier New" panose="02070309020205020404" pitchFamily="49" charset="0"/>
              </a:rPr>
              <a:t>Sample Queries: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* FROM employees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WHERE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first_name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‘Steven’ AND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salary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&lt;=10000;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* FROM employees WHERE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first_name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‘Steven’ 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salary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&gt;=10000;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* FROM employees WHERE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first_name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‘Steven’ and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salary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&lt;&gt;10000;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3977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SQL Operators –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Special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75EB18E-7DE0-462F-925E-B153ED663F68}" type="slidenum">
              <a:rPr lang="en-US" smtClean="0"/>
              <a:pPr/>
              <a:t>27</a:t>
            </a:fld>
            <a:endParaRPr lang="en-US"/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7629404"/>
              </p:ext>
            </p:extLst>
          </p:nvPr>
        </p:nvGraphicFramePr>
        <p:xfrm>
          <a:off x="766764" y="1901152"/>
          <a:ext cx="5019619" cy="2878666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599520">
                  <a:extLst>
                    <a:ext uri="{9D8B030D-6E8A-4147-A177-3AD203B41FA5}">
                      <a16:colId xmlns:a16="http://schemas.microsoft.com/office/drawing/2014/main" val="1380115581"/>
                    </a:ext>
                  </a:extLst>
                </a:gridCol>
                <a:gridCol w="3420099">
                  <a:extLst>
                    <a:ext uri="{9D8B030D-6E8A-4147-A177-3AD203B41FA5}">
                      <a16:colId xmlns:a16="http://schemas.microsoft.com/office/drawing/2014/main" val="4028703035"/>
                    </a:ext>
                  </a:extLst>
                </a:gridCol>
              </a:tblGrid>
              <a:tr h="527538">
                <a:tc>
                  <a:txBody>
                    <a:bodyPr/>
                    <a:lstStyle/>
                    <a:p>
                      <a:r>
                        <a:rPr lang="en-US" b="1" dirty="0" smtClean="0"/>
                        <a:t>BETWEEN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Checks</a:t>
                      </a:r>
                      <a:r>
                        <a:rPr lang="en-US" b="0" baseline="0" dirty="0" smtClean="0"/>
                        <a:t> an attribute value within range</a:t>
                      </a:r>
                      <a:endParaRPr lang="en-IN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1435883"/>
                  </a:ext>
                </a:extLst>
              </a:tr>
              <a:tr h="527538">
                <a:tc>
                  <a:txBody>
                    <a:bodyPr/>
                    <a:lstStyle/>
                    <a:p>
                      <a:r>
                        <a:rPr lang="en-US" b="1" dirty="0" smtClean="0"/>
                        <a:t>LIKE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Checks an attribute</a:t>
                      </a:r>
                      <a:r>
                        <a:rPr lang="en-US" baseline="0" dirty="0" smtClean="0"/>
                        <a:t> value matches a given string pattern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3923685"/>
                  </a:ext>
                </a:extLst>
              </a:tr>
              <a:tr h="527538">
                <a:tc>
                  <a:txBody>
                    <a:bodyPr/>
                    <a:lstStyle/>
                    <a:p>
                      <a:r>
                        <a:rPr lang="en-US" b="1" dirty="0" smtClean="0"/>
                        <a:t>IS NULL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Checks</a:t>
                      </a:r>
                      <a:r>
                        <a:rPr lang="en-US" baseline="0" dirty="0" smtClean="0"/>
                        <a:t> an attribute value is null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058635"/>
                  </a:ext>
                </a:extLst>
              </a:tr>
              <a:tr h="527538">
                <a:tc>
                  <a:txBody>
                    <a:bodyPr/>
                    <a:lstStyle/>
                    <a:p>
                      <a:r>
                        <a:rPr lang="en-US" b="1" dirty="0" smtClean="0"/>
                        <a:t>IN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Check</a:t>
                      </a:r>
                      <a:r>
                        <a:rPr lang="en-US" baseline="0" dirty="0" smtClean="0"/>
                        <a:t>s an attribute value matches any value within a value list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7634245"/>
                  </a:ext>
                </a:extLst>
              </a:tr>
              <a:tr h="430888">
                <a:tc>
                  <a:txBody>
                    <a:bodyPr/>
                    <a:lstStyle/>
                    <a:p>
                      <a:r>
                        <a:rPr lang="en-US" b="1" dirty="0" smtClean="0"/>
                        <a:t>DISTINCT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Limits values to unique</a:t>
                      </a:r>
                      <a:r>
                        <a:rPr lang="en-US" baseline="0" dirty="0" smtClean="0"/>
                        <a:t> values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9574143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8463377"/>
              </p:ext>
            </p:extLst>
          </p:nvPr>
        </p:nvGraphicFramePr>
        <p:xfrm>
          <a:off x="766763" y="1484313"/>
          <a:ext cx="5019620" cy="416839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5019620">
                  <a:extLst>
                    <a:ext uri="{9D8B030D-6E8A-4147-A177-3AD203B41FA5}">
                      <a16:colId xmlns:a16="http://schemas.microsoft.com/office/drawing/2014/main" val="1195822794"/>
                    </a:ext>
                  </a:extLst>
                </a:gridCol>
              </a:tblGrid>
              <a:tr h="41683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Special Operator’s</a:t>
                      </a:r>
                      <a:endParaRPr lang="en-IN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3864407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6300619" y="1484313"/>
            <a:ext cx="5864443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cs typeface="Courier New" panose="02070309020205020404" pitchFamily="49" charset="0"/>
              </a:rPr>
              <a:t>Sample Queries: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* FROM employees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WHERE salary between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10000 and 20000;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SELECT * FROM employees WHERE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first_name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like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‘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Steven’; 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* FROM employees WHERE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salary is null;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SELECT * FROM employees where salary in (10000,12000,20000);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DISTINCT(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first_name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 from employees;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4252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87659" y="2944420"/>
            <a:ext cx="9055100" cy="734291"/>
          </a:xfrm>
        </p:spPr>
        <p:txBody>
          <a:bodyPr>
            <a:normAutofit/>
          </a:bodyPr>
          <a:lstStyle/>
          <a:p>
            <a:pPr algn="ctr"/>
            <a:r>
              <a:rPr lang="en-IN" dirty="0" smtClean="0"/>
              <a:t>SQL Functions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469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SQL Operators – Aggregations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75EB18E-7DE0-462F-925E-B153ED663F68}" type="slidenum">
              <a:rPr lang="en-US" smtClean="0"/>
              <a:pPr/>
              <a:t>29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3924592"/>
              </p:ext>
            </p:extLst>
          </p:nvPr>
        </p:nvGraphicFramePr>
        <p:xfrm>
          <a:off x="771672" y="1957569"/>
          <a:ext cx="4345710" cy="402336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123538">
                  <a:extLst>
                    <a:ext uri="{9D8B030D-6E8A-4147-A177-3AD203B41FA5}">
                      <a16:colId xmlns:a16="http://schemas.microsoft.com/office/drawing/2014/main" val="537867534"/>
                    </a:ext>
                  </a:extLst>
                </a:gridCol>
                <a:gridCol w="3222172">
                  <a:extLst>
                    <a:ext uri="{9D8B030D-6E8A-4147-A177-3AD203B41FA5}">
                      <a16:colId xmlns:a16="http://schemas.microsoft.com/office/drawing/2014/main" val="4163456721"/>
                    </a:ext>
                  </a:extLst>
                </a:gridCol>
              </a:tblGrid>
              <a:tr h="583007">
                <a:tc>
                  <a:txBody>
                    <a:bodyPr/>
                    <a:lstStyle/>
                    <a:p>
                      <a:r>
                        <a:rPr lang="en-US" b="1" dirty="0" smtClean="0">
                          <a:latin typeface="+mn-lt"/>
                        </a:rPr>
                        <a:t>AVG(): </a:t>
                      </a:r>
                      <a:endParaRPr lang="en-IN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latin typeface="+mn-lt"/>
                        </a:rPr>
                        <a:t>Returns the average value from specified columns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3725210"/>
                  </a:ext>
                </a:extLst>
              </a:tr>
              <a:tr h="58300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>
                          <a:latin typeface="+mn-lt"/>
                        </a:rPr>
                        <a:t>COUNT():</a:t>
                      </a:r>
                    </a:p>
                    <a:p>
                      <a:endParaRPr lang="en-IN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+mn-lt"/>
                        </a:rPr>
                        <a:t>Returns number of table rows</a:t>
                      </a:r>
                    </a:p>
                    <a:p>
                      <a:endParaRPr lang="en-IN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0338752"/>
                  </a:ext>
                </a:extLst>
              </a:tr>
              <a:tr h="58300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>
                          <a:latin typeface="+mn-lt"/>
                        </a:rPr>
                        <a:t>MAX():</a:t>
                      </a:r>
                    </a:p>
                    <a:p>
                      <a:endParaRPr lang="en-IN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+mn-lt"/>
                        </a:rPr>
                        <a:t>Returns largest value among the records</a:t>
                      </a:r>
                    </a:p>
                    <a:p>
                      <a:endParaRPr lang="en-IN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3223385"/>
                  </a:ext>
                </a:extLst>
              </a:tr>
              <a:tr h="58300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>
                          <a:latin typeface="+mn-lt"/>
                        </a:rPr>
                        <a:t>MIN():</a:t>
                      </a:r>
                    </a:p>
                    <a:p>
                      <a:endParaRPr lang="en-IN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+mn-lt"/>
                        </a:rPr>
                        <a:t>Returns smallest value among the records</a:t>
                      </a:r>
                    </a:p>
                    <a:p>
                      <a:endParaRPr lang="en-IN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8638170"/>
                  </a:ext>
                </a:extLst>
              </a:tr>
              <a:tr h="58300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>
                          <a:latin typeface="+mn-lt"/>
                        </a:rPr>
                        <a:t>SUM():</a:t>
                      </a:r>
                    </a:p>
                    <a:p>
                      <a:endParaRPr lang="en-IN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+mn-lt"/>
                        </a:rPr>
                        <a:t>Returns the sum of specified column values</a:t>
                      </a:r>
                    </a:p>
                    <a:p>
                      <a:endParaRPr lang="en-IN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458192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7442401"/>
              </p:ext>
            </p:extLst>
          </p:nvPr>
        </p:nvGraphicFramePr>
        <p:xfrm>
          <a:off x="771673" y="1498828"/>
          <a:ext cx="4345710" cy="4587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4345710">
                  <a:extLst>
                    <a:ext uri="{9D8B030D-6E8A-4147-A177-3AD203B41FA5}">
                      <a16:colId xmlns:a16="http://schemas.microsoft.com/office/drawing/2014/main" val="511969780"/>
                    </a:ext>
                  </a:extLst>
                </a:gridCol>
              </a:tblGrid>
              <a:tr h="4587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Aggregation</a:t>
                      </a:r>
                      <a:r>
                        <a:rPr lang="en-US" sz="2400" baseline="0" dirty="0" smtClean="0"/>
                        <a:t> function’s</a:t>
                      </a:r>
                      <a:endParaRPr lang="en-IN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5968433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962218" y="1498828"/>
            <a:ext cx="4871847" cy="31700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 smtClean="0">
                <a:cs typeface="Courier New" panose="02070309020205020404" pitchFamily="49" charset="0"/>
              </a:rPr>
              <a:t>Sample Queries: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avg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(salary)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employees;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SELECT count(*)  FROM employees;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SELECT min(salary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FROM employees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max(salary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FROM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employees;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sum(salary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FROM employees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4107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SQL GROUP BY Clause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75EB18E-7DE0-462F-925E-B153ED663F68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878" y="1498287"/>
            <a:ext cx="4449108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dirty="0" smtClean="0">
                <a:cs typeface="Arial" panose="020B0604020202020204" pitchFamily="34" charset="0"/>
              </a:rPr>
              <a:t>Arrange </a:t>
            </a:r>
            <a:r>
              <a:rPr lang="en-US" sz="2000" dirty="0">
                <a:cs typeface="Arial" panose="020B0604020202020204" pitchFamily="34" charset="0"/>
              </a:rPr>
              <a:t>identical data into groups. </a:t>
            </a:r>
            <a:endParaRPr lang="en-US" sz="2000" dirty="0" smtClean="0">
              <a:cs typeface="Arial" panose="020B0604020202020204" pitchFamily="34" charset="0"/>
            </a:endParaRPr>
          </a:p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Ø"/>
            </a:pPr>
            <a:endParaRPr lang="en-US" sz="2000" dirty="0" smtClean="0">
              <a:cs typeface="Arial" panose="020B0604020202020204" pitchFamily="34" charset="0"/>
            </a:endParaRPr>
          </a:p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dirty="0" smtClean="0">
                <a:cs typeface="Arial" panose="020B0604020202020204" pitchFamily="34" charset="0"/>
              </a:rPr>
              <a:t>This </a:t>
            </a:r>
            <a:r>
              <a:rPr lang="en-US" sz="2000" dirty="0">
                <a:cs typeface="Arial" panose="020B0604020202020204" pitchFamily="34" charset="0"/>
              </a:rPr>
              <a:t>GROUP BY clause follows the WHERE clause in a SELECT statement and precedes the ORDER BY </a:t>
            </a:r>
            <a:r>
              <a:rPr lang="en-US" sz="2000" dirty="0" smtClean="0">
                <a:cs typeface="Arial" panose="020B0604020202020204" pitchFamily="34" charset="0"/>
              </a:rPr>
              <a:t>clause if used.</a:t>
            </a:r>
            <a:endParaRPr lang="en-US" sz="2000" dirty="0"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cs typeface="Arial" panose="020B0604020202020204" pitchFamily="34" charset="0"/>
            </a:endParaRPr>
          </a:p>
          <a:p>
            <a:r>
              <a:rPr lang="en-US" sz="2000" b="1" dirty="0" smtClean="0">
                <a:cs typeface="Arial" panose="020B0604020202020204" pitchFamily="34" charset="0"/>
              </a:rPr>
              <a:t>e.g</a:t>
            </a:r>
            <a:r>
              <a:rPr lang="en-US" sz="2000" b="1" dirty="0">
                <a:cs typeface="Arial" panose="020B0604020202020204" pitchFamily="34" charset="0"/>
              </a:rPr>
              <a:t>., </a:t>
            </a:r>
            <a:endParaRPr lang="en-US" sz="2000" b="1" dirty="0" smtClean="0">
              <a:cs typeface="Arial" panose="020B0604020202020204" pitchFamily="34" charset="0"/>
            </a:endParaRPr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SELECT SUM(salary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),department_id 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employees 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WHERE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salary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&gt;=15000 </a:t>
            </a:r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GROUP BY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department_id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9299368"/>
              </p:ext>
            </p:extLst>
          </p:nvPr>
        </p:nvGraphicFramePr>
        <p:xfrm>
          <a:off x="6092453" y="1484313"/>
          <a:ext cx="4572000" cy="2134784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42000621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2491731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5530733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688084317"/>
                    </a:ext>
                  </a:extLst>
                </a:gridCol>
              </a:tblGrid>
              <a:tr h="643444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employee_id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first_name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last_name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salary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2002686"/>
                  </a:ext>
                </a:extLst>
              </a:tr>
              <a:tr h="37283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8429340"/>
                  </a:ext>
                </a:extLst>
              </a:tr>
              <a:tr h="37283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4903056"/>
                  </a:ext>
                </a:extLst>
              </a:tr>
              <a:tr h="37283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4107410"/>
                  </a:ext>
                </a:extLst>
              </a:tr>
              <a:tr h="37283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9170408"/>
                  </a:ext>
                </a:extLst>
              </a:tr>
            </a:tbl>
          </a:graphicData>
        </a:graphic>
      </p:graphicFrame>
      <p:graphicFrame>
        <p:nvGraphicFramePr>
          <p:cNvPr id="61" name="Table 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6560863"/>
              </p:ext>
            </p:extLst>
          </p:nvPr>
        </p:nvGraphicFramePr>
        <p:xfrm>
          <a:off x="10658265" y="1470458"/>
          <a:ext cx="1344388" cy="2154081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344388">
                  <a:extLst>
                    <a:ext uri="{9D8B030D-6E8A-4147-A177-3AD203B41FA5}">
                      <a16:colId xmlns:a16="http://schemas.microsoft.com/office/drawing/2014/main" val="3862492285"/>
                    </a:ext>
                  </a:extLst>
                </a:gridCol>
              </a:tblGrid>
              <a:tr h="633931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department_id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1136965"/>
                  </a:ext>
                </a:extLst>
              </a:tr>
              <a:tr h="362246">
                <a:tc>
                  <a:txBody>
                    <a:bodyPr/>
                    <a:lstStyle/>
                    <a:p>
                      <a:r>
                        <a:rPr lang="en-US" dirty="0" smtClean="0"/>
                        <a:t>12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0305279"/>
                  </a:ext>
                </a:extLst>
              </a:tr>
              <a:tr h="362246">
                <a:tc>
                  <a:txBody>
                    <a:bodyPr/>
                    <a:lstStyle/>
                    <a:p>
                      <a:r>
                        <a:rPr lang="en-US" dirty="0" smtClean="0"/>
                        <a:t>11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7277247"/>
                  </a:ext>
                </a:extLst>
              </a:tr>
              <a:tr h="394315"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0651549"/>
                  </a:ext>
                </a:extLst>
              </a:tr>
              <a:tr h="394315">
                <a:tc>
                  <a:txBody>
                    <a:bodyPr/>
                    <a:lstStyle/>
                    <a:p>
                      <a:r>
                        <a:rPr lang="en-US" dirty="0" smtClean="0"/>
                        <a:t>12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7760943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918124"/>
              </p:ext>
            </p:extLst>
          </p:nvPr>
        </p:nvGraphicFramePr>
        <p:xfrm>
          <a:off x="6092453" y="4378096"/>
          <a:ext cx="5910202" cy="111252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2955101">
                  <a:extLst>
                    <a:ext uri="{9D8B030D-6E8A-4147-A177-3AD203B41FA5}">
                      <a16:colId xmlns:a16="http://schemas.microsoft.com/office/drawing/2014/main" val="1494135424"/>
                    </a:ext>
                  </a:extLst>
                </a:gridCol>
                <a:gridCol w="2955101">
                  <a:extLst>
                    <a:ext uri="{9D8B030D-6E8A-4147-A177-3AD203B41FA5}">
                      <a16:colId xmlns:a16="http://schemas.microsoft.com/office/drawing/2014/main" val="38987183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SUM(salary)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department_id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78112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30000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634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15000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5871592"/>
                  </a:ext>
                </a:extLst>
              </a:tr>
            </a:tbl>
          </a:graphicData>
        </a:graphic>
      </p:graphicFrame>
      <p:grpSp>
        <p:nvGrpSpPr>
          <p:cNvPr id="3" name="Group 2"/>
          <p:cNvGrpSpPr/>
          <p:nvPr/>
        </p:nvGrpSpPr>
        <p:grpSpPr>
          <a:xfrm>
            <a:off x="6252041" y="2093196"/>
            <a:ext cx="4496485" cy="1574249"/>
            <a:chOff x="6252041" y="2093196"/>
            <a:chExt cx="4496485" cy="1574249"/>
          </a:xfrm>
        </p:grpSpPr>
        <p:sp>
          <p:nvSpPr>
            <p:cNvPr id="48" name="TextBox 47"/>
            <p:cNvSpPr txBox="1"/>
            <p:nvPr/>
          </p:nvSpPr>
          <p:spPr>
            <a:xfrm>
              <a:off x="6252041" y="2110631"/>
              <a:ext cx="6723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103</a:t>
              </a:r>
              <a:endParaRPr lang="en-IN" dirty="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7495911" y="2867719"/>
              <a:ext cx="9040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Steven</a:t>
              </a:r>
              <a:endParaRPr lang="en-IN" dirty="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8530377" y="2867719"/>
              <a:ext cx="9280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Cohen</a:t>
              </a:r>
              <a:endParaRPr lang="en-IN" dirty="0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9642110" y="2896228"/>
              <a:ext cx="10944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10000</a:t>
              </a:r>
              <a:endParaRPr lang="en-IN" dirty="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6252041" y="2442143"/>
              <a:ext cx="6723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102</a:t>
              </a:r>
              <a:endParaRPr lang="en-IN" dirty="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7487496" y="2489175"/>
              <a:ext cx="9208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Edwin</a:t>
              </a:r>
              <a:endParaRPr lang="en-IN" dirty="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8555167" y="2504564"/>
              <a:ext cx="93090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600" dirty="0">
                  <a:latin typeface="Arial" panose="020B0604020202020204" pitchFamily="34" charset="0"/>
                  <a:cs typeface="Arial" panose="020B0604020202020204" pitchFamily="34" charset="0"/>
                </a:rPr>
                <a:t>Thomas</a:t>
              </a:r>
              <a:endParaRPr lang="en-IN" sz="1600" dirty="0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9640673" y="2471144"/>
              <a:ext cx="10944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15000</a:t>
              </a:r>
              <a:endParaRPr lang="en-IN" dirty="0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6252041" y="2845086"/>
              <a:ext cx="6723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101</a:t>
              </a:r>
              <a:endParaRPr lang="en-IN" dirty="0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7495911" y="2110631"/>
              <a:ext cx="9040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Harry </a:t>
              </a:r>
              <a:endParaRPr lang="en-IN" dirty="0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8618611" y="2093196"/>
              <a:ext cx="7663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Potter</a:t>
              </a:r>
              <a:endParaRPr lang="en-IN" dirty="0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9654080" y="2110631"/>
              <a:ext cx="10944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20000</a:t>
              </a:r>
              <a:endParaRPr lang="en-IN"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495911" y="3269604"/>
              <a:ext cx="9040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Erik</a:t>
              </a:r>
              <a:endParaRPr lang="en-IN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530377" y="3269604"/>
              <a:ext cx="9280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John</a:t>
              </a:r>
              <a:endParaRPr lang="en-IN" dirty="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9642110" y="3298113"/>
              <a:ext cx="10944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10000</a:t>
              </a:r>
              <a:endParaRPr lang="en-IN" dirty="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252041" y="3246971"/>
              <a:ext cx="6723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100</a:t>
              </a:r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3822247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SQL HAVING Clause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75EB18E-7DE0-462F-925E-B153ED663F68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82348" y="1500837"/>
            <a:ext cx="5199836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dirty="0" smtClean="0">
                <a:cs typeface="Arial" panose="020B0604020202020204" pitchFamily="34" charset="0"/>
              </a:rPr>
              <a:t>Used with aggregate functions due to its non-performance in the WHERE clause.</a:t>
            </a:r>
          </a:p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2000" dirty="0">
              <a:cs typeface="Arial" panose="020B0604020202020204" pitchFamily="34" charset="0"/>
            </a:endParaRPr>
          </a:p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dirty="0" smtClean="0">
                <a:cs typeface="Arial" panose="020B0604020202020204" pitchFamily="34" charset="0"/>
              </a:rPr>
              <a:t>Must </a:t>
            </a:r>
            <a:r>
              <a:rPr lang="en-US" sz="2000" dirty="0">
                <a:cs typeface="Arial" panose="020B0604020202020204" pitchFamily="34" charset="0"/>
              </a:rPr>
              <a:t>follow the GROUP BY clause in a query and must also precede the ORDER BY clause if used</a:t>
            </a:r>
            <a:r>
              <a:rPr lang="en-US" sz="2000" dirty="0" smtClean="0">
                <a:cs typeface="Arial" panose="020B0604020202020204" pitchFamily="34" charset="0"/>
              </a:rPr>
              <a:t>.</a:t>
            </a:r>
          </a:p>
          <a:p>
            <a:endParaRPr lang="en-US" sz="2000" dirty="0">
              <a:cs typeface="Arial" panose="020B0604020202020204" pitchFamily="34" charset="0"/>
            </a:endParaRPr>
          </a:p>
          <a:p>
            <a:r>
              <a:rPr lang="en-US" sz="2000" b="1" dirty="0" smtClean="0">
                <a:cs typeface="Arial" panose="020B0604020202020204" pitchFamily="34" charset="0"/>
              </a:rPr>
              <a:t>e.g., </a:t>
            </a:r>
          </a:p>
          <a:p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SELECT AVG(salary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),department_id </a:t>
            </a:r>
            <a:endParaRPr lang="en-US" sz="2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employees </a:t>
            </a:r>
            <a:endParaRPr lang="en-US" sz="2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WHERE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salary 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&gt;=10000 </a:t>
            </a:r>
          </a:p>
          <a:p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GROUP BY </a:t>
            </a:r>
            <a:r>
              <a:rPr 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department_id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HAVING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count(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department_id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)&gt;=2 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3" name="Table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5312636"/>
              </p:ext>
            </p:extLst>
          </p:nvPr>
        </p:nvGraphicFramePr>
        <p:xfrm>
          <a:off x="6735721" y="4796584"/>
          <a:ext cx="4705454" cy="966908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2352727">
                  <a:extLst>
                    <a:ext uri="{9D8B030D-6E8A-4147-A177-3AD203B41FA5}">
                      <a16:colId xmlns:a16="http://schemas.microsoft.com/office/drawing/2014/main" val="3669361186"/>
                    </a:ext>
                  </a:extLst>
                </a:gridCol>
                <a:gridCol w="2352727">
                  <a:extLst>
                    <a:ext uri="{9D8B030D-6E8A-4147-A177-3AD203B41FA5}">
                      <a16:colId xmlns:a16="http://schemas.microsoft.com/office/drawing/2014/main" val="3452275141"/>
                    </a:ext>
                  </a:extLst>
                </a:gridCol>
              </a:tblGrid>
              <a:tr h="48345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AVG(salary</a:t>
                      </a:r>
                      <a:r>
                        <a:rPr lang="en-US" dirty="0" smtClean="0"/>
                        <a:t>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department_id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195116"/>
                  </a:ext>
                </a:extLst>
              </a:tr>
              <a:tr h="48345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15000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6589752"/>
                  </a:ext>
                </a:extLst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2508831"/>
              </p:ext>
            </p:extLst>
          </p:nvPr>
        </p:nvGraphicFramePr>
        <p:xfrm>
          <a:off x="6092453" y="1484313"/>
          <a:ext cx="4572000" cy="2134784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42000621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2491731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5530733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688084317"/>
                    </a:ext>
                  </a:extLst>
                </a:gridCol>
              </a:tblGrid>
              <a:tr h="643444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employee_id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first_name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last_name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salary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2002686"/>
                  </a:ext>
                </a:extLst>
              </a:tr>
              <a:tr h="37283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8429340"/>
                  </a:ext>
                </a:extLst>
              </a:tr>
              <a:tr h="37283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4903056"/>
                  </a:ext>
                </a:extLst>
              </a:tr>
              <a:tr h="37283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4107410"/>
                  </a:ext>
                </a:extLst>
              </a:tr>
              <a:tr h="37283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9170408"/>
                  </a:ext>
                </a:extLst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0188428"/>
              </p:ext>
            </p:extLst>
          </p:nvPr>
        </p:nvGraphicFramePr>
        <p:xfrm>
          <a:off x="10658265" y="1470458"/>
          <a:ext cx="1344388" cy="2154081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344388">
                  <a:extLst>
                    <a:ext uri="{9D8B030D-6E8A-4147-A177-3AD203B41FA5}">
                      <a16:colId xmlns:a16="http://schemas.microsoft.com/office/drawing/2014/main" val="3862492285"/>
                    </a:ext>
                  </a:extLst>
                </a:gridCol>
              </a:tblGrid>
              <a:tr h="633931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department_id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1136965"/>
                  </a:ext>
                </a:extLst>
              </a:tr>
              <a:tr h="362246">
                <a:tc>
                  <a:txBody>
                    <a:bodyPr/>
                    <a:lstStyle/>
                    <a:p>
                      <a:r>
                        <a:rPr lang="en-US" dirty="0" smtClean="0"/>
                        <a:t>12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0305279"/>
                  </a:ext>
                </a:extLst>
              </a:tr>
              <a:tr h="362246">
                <a:tc>
                  <a:txBody>
                    <a:bodyPr/>
                    <a:lstStyle/>
                    <a:p>
                      <a:r>
                        <a:rPr lang="en-US" dirty="0" smtClean="0"/>
                        <a:t>11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7277247"/>
                  </a:ext>
                </a:extLst>
              </a:tr>
              <a:tr h="394315"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0651549"/>
                  </a:ext>
                </a:extLst>
              </a:tr>
              <a:tr h="394315">
                <a:tc>
                  <a:txBody>
                    <a:bodyPr/>
                    <a:lstStyle/>
                    <a:p>
                      <a:r>
                        <a:rPr lang="en-US" dirty="0" smtClean="0"/>
                        <a:t>12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7760943"/>
                  </a:ext>
                </a:extLst>
              </a:tr>
            </a:tbl>
          </a:graphicData>
        </a:graphic>
      </p:graphicFrame>
      <p:grpSp>
        <p:nvGrpSpPr>
          <p:cNvPr id="24" name="Group 23"/>
          <p:cNvGrpSpPr/>
          <p:nvPr/>
        </p:nvGrpSpPr>
        <p:grpSpPr>
          <a:xfrm>
            <a:off x="6252041" y="2093196"/>
            <a:ext cx="4496485" cy="1574249"/>
            <a:chOff x="6252041" y="2093196"/>
            <a:chExt cx="4496485" cy="1574249"/>
          </a:xfrm>
        </p:grpSpPr>
        <p:sp>
          <p:nvSpPr>
            <p:cNvPr id="25" name="TextBox 24"/>
            <p:cNvSpPr txBox="1"/>
            <p:nvPr/>
          </p:nvSpPr>
          <p:spPr>
            <a:xfrm>
              <a:off x="6252041" y="2110631"/>
              <a:ext cx="6723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103</a:t>
              </a:r>
              <a:endParaRPr lang="en-IN" dirty="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7495911" y="2867719"/>
              <a:ext cx="9040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Steven</a:t>
              </a:r>
              <a:endParaRPr lang="en-IN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8530377" y="2867719"/>
              <a:ext cx="9280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Cohen</a:t>
              </a:r>
              <a:endParaRPr lang="en-IN"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9642110" y="2896228"/>
              <a:ext cx="10944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10000</a:t>
              </a:r>
              <a:endParaRPr lang="en-IN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252041" y="2442143"/>
              <a:ext cx="6723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102</a:t>
              </a:r>
              <a:endParaRPr lang="en-IN"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487496" y="2489175"/>
              <a:ext cx="9208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Edwin</a:t>
              </a:r>
              <a:endParaRPr lang="en-IN" dirty="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8555167" y="2504564"/>
              <a:ext cx="93090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600" dirty="0">
                  <a:latin typeface="Arial" panose="020B0604020202020204" pitchFamily="34" charset="0"/>
                  <a:cs typeface="Arial" panose="020B0604020202020204" pitchFamily="34" charset="0"/>
                </a:rPr>
                <a:t>Thomas</a:t>
              </a:r>
              <a:endParaRPr lang="en-IN" sz="1600" dirty="0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9640673" y="2471144"/>
              <a:ext cx="10944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15000</a:t>
              </a:r>
              <a:endParaRPr lang="en-IN" dirty="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252041" y="2845086"/>
              <a:ext cx="6723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101</a:t>
              </a:r>
              <a:endParaRPr lang="en-IN" dirty="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495911" y="2110631"/>
              <a:ext cx="9040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Harry </a:t>
              </a:r>
              <a:endParaRPr lang="en-IN" dirty="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8618611" y="2093196"/>
              <a:ext cx="7663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Potter</a:t>
              </a:r>
              <a:endParaRPr lang="en-IN"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654080" y="2110631"/>
              <a:ext cx="10944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20000</a:t>
              </a:r>
              <a:endParaRPr lang="en-IN" dirty="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7495911" y="3269604"/>
              <a:ext cx="9040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Erik</a:t>
              </a:r>
              <a:endParaRPr lang="en-IN" dirty="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8530377" y="3269604"/>
              <a:ext cx="9280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John</a:t>
              </a:r>
              <a:endParaRPr lang="en-IN" dirty="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9642110" y="3298113"/>
              <a:ext cx="10944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10000</a:t>
              </a:r>
              <a:endParaRPr lang="en-IN" dirty="0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6252041" y="3246971"/>
              <a:ext cx="6723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100</a:t>
              </a:r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332335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SQL ORDER BY Clause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75EB18E-7DE0-462F-925E-B153ED663F68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0955" y="1493105"/>
            <a:ext cx="532336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dirty="0" smtClean="0">
                <a:cs typeface="Arial" panose="020B0604020202020204" pitchFamily="34" charset="0"/>
              </a:rPr>
              <a:t>Used </a:t>
            </a:r>
            <a:r>
              <a:rPr lang="en-US" sz="2000" dirty="0">
                <a:cs typeface="Arial" panose="020B0604020202020204" pitchFamily="34" charset="0"/>
              </a:rPr>
              <a:t>to sort output of SELECT </a:t>
            </a:r>
            <a:r>
              <a:rPr lang="en-US" sz="2000" dirty="0" smtClean="0">
                <a:cs typeface="Arial" panose="020B0604020202020204" pitchFamily="34" charset="0"/>
              </a:rPr>
              <a:t>statement</a:t>
            </a:r>
          </a:p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2000" dirty="0" smtClean="0">
              <a:cs typeface="Arial" panose="020B0604020202020204" pitchFamily="34" charset="0"/>
            </a:endParaRPr>
          </a:p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dirty="0" smtClean="0">
                <a:cs typeface="Arial" panose="020B0604020202020204" pitchFamily="34" charset="0"/>
              </a:rPr>
              <a:t>Default </a:t>
            </a:r>
            <a:r>
              <a:rPr lang="en-US" sz="2000" dirty="0">
                <a:cs typeface="Arial" panose="020B0604020202020204" pitchFamily="34" charset="0"/>
              </a:rPr>
              <a:t>is to </a:t>
            </a:r>
            <a:r>
              <a:rPr lang="en-US" sz="2000" dirty="0" smtClean="0">
                <a:cs typeface="Arial" panose="020B0604020202020204" pitchFamily="34" charset="0"/>
              </a:rPr>
              <a:t>sort </a:t>
            </a:r>
            <a:r>
              <a:rPr lang="en-US" sz="2000" dirty="0">
                <a:cs typeface="Arial" panose="020B0604020202020204" pitchFamily="34" charset="0"/>
              </a:rPr>
              <a:t>in ASC (</a:t>
            </a:r>
            <a:r>
              <a:rPr lang="en-US" sz="2000" dirty="0" smtClean="0">
                <a:cs typeface="Arial" panose="020B0604020202020204" pitchFamily="34" charset="0"/>
              </a:rPr>
              <a:t>Ascending)</a:t>
            </a:r>
          </a:p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2000" dirty="0" smtClean="0">
              <a:cs typeface="Arial" panose="020B0604020202020204" pitchFamily="34" charset="0"/>
            </a:endParaRPr>
          </a:p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dirty="0" smtClean="0">
                <a:cs typeface="Arial" panose="020B0604020202020204" pitchFamily="34" charset="0"/>
              </a:rPr>
              <a:t>Can </a:t>
            </a:r>
            <a:r>
              <a:rPr lang="en-US" sz="2000" dirty="0">
                <a:cs typeface="Arial" panose="020B0604020202020204" pitchFamily="34" charset="0"/>
              </a:rPr>
              <a:t>Sort in Reverse (Descending) Order with </a:t>
            </a:r>
            <a:r>
              <a:rPr lang="en-US" sz="2000" dirty="0" smtClean="0">
                <a:cs typeface="Arial" panose="020B0604020202020204" pitchFamily="34" charset="0"/>
              </a:rPr>
              <a:t>“DESC” after </a:t>
            </a:r>
            <a:r>
              <a:rPr lang="en-US" sz="2000" dirty="0">
                <a:cs typeface="Arial" panose="020B0604020202020204" pitchFamily="34" charset="0"/>
              </a:rPr>
              <a:t>the </a:t>
            </a:r>
            <a:r>
              <a:rPr lang="en-US" sz="2000" dirty="0" smtClean="0">
                <a:cs typeface="Arial" panose="020B0604020202020204" pitchFamily="34" charset="0"/>
              </a:rPr>
              <a:t>column name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cs typeface="Arial" panose="020B0604020202020204" pitchFamily="34" charset="0"/>
            </a:endParaRPr>
          </a:p>
          <a:p>
            <a:r>
              <a:rPr lang="en-US" sz="2000" b="1" dirty="0" smtClean="0">
                <a:cs typeface="Arial" panose="020B0604020202020204" pitchFamily="34" charset="0"/>
              </a:rPr>
              <a:t>e.g.,</a:t>
            </a:r>
          </a:p>
          <a:p>
            <a:endParaRPr lang="en-US" sz="2000" b="1" dirty="0" smtClean="0">
              <a:cs typeface="Arial" panose="020B0604020202020204" pitchFamily="34" charset="0"/>
            </a:endParaRPr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SELECT * FROM employees </a:t>
            </a:r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ORDER BY salary DESC;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0244619"/>
              </p:ext>
            </p:extLst>
          </p:nvPr>
        </p:nvGraphicFramePr>
        <p:xfrm>
          <a:off x="6506483" y="4146350"/>
          <a:ext cx="5464528" cy="1483544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366132">
                  <a:extLst>
                    <a:ext uri="{9D8B030D-6E8A-4147-A177-3AD203B41FA5}">
                      <a16:colId xmlns:a16="http://schemas.microsoft.com/office/drawing/2014/main" val="420006210"/>
                    </a:ext>
                  </a:extLst>
                </a:gridCol>
                <a:gridCol w="1366132">
                  <a:extLst>
                    <a:ext uri="{9D8B030D-6E8A-4147-A177-3AD203B41FA5}">
                      <a16:colId xmlns:a16="http://schemas.microsoft.com/office/drawing/2014/main" val="2249173104"/>
                    </a:ext>
                  </a:extLst>
                </a:gridCol>
                <a:gridCol w="1366132">
                  <a:extLst>
                    <a:ext uri="{9D8B030D-6E8A-4147-A177-3AD203B41FA5}">
                      <a16:colId xmlns:a16="http://schemas.microsoft.com/office/drawing/2014/main" val="55307333"/>
                    </a:ext>
                  </a:extLst>
                </a:gridCol>
                <a:gridCol w="1366132">
                  <a:extLst>
                    <a:ext uri="{9D8B030D-6E8A-4147-A177-3AD203B41FA5}">
                      <a16:colId xmlns:a16="http://schemas.microsoft.com/office/drawing/2014/main" val="688084317"/>
                    </a:ext>
                  </a:extLst>
                </a:gridCol>
              </a:tblGrid>
              <a:tr h="370886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employee_id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first_name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last_name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salary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2002686"/>
                  </a:ext>
                </a:extLst>
              </a:tr>
              <a:tr h="37088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8429340"/>
                  </a:ext>
                </a:extLst>
              </a:tr>
              <a:tr h="37088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4903056"/>
                  </a:ext>
                </a:extLst>
              </a:tr>
              <a:tr h="37088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4107410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956616" y="4534106"/>
            <a:ext cx="803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103</a:t>
            </a:r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8200487" y="5291194"/>
            <a:ext cx="818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Steven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9579917" y="5291194"/>
            <a:ext cx="788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Cohen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10785374" y="5291194"/>
            <a:ext cx="1308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10000</a:t>
            </a:r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6956616" y="4865618"/>
            <a:ext cx="803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102</a:t>
            </a:r>
            <a:endParaRPr lang="en-IN" dirty="0"/>
          </a:p>
        </p:txBody>
      </p:sp>
      <p:sp>
        <p:nvSpPr>
          <p:cNvPr id="15" name="TextBox 14"/>
          <p:cNvSpPr txBox="1"/>
          <p:nvPr/>
        </p:nvSpPr>
        <p:spPr>
          <a:xfrm>
            <a:off x="8251782" y="4857435"/>
            <a:ext cx="755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Edwin</a:t>
            </a:r>
            <a:endParaRPr lang="en-IN" dirty="0"/>
          </a:p>
        </p:txBody>
      </p:sp>
      <p:sp>
        <p:nvSpPr>
          <p:cNvPr id="16" name="TextBox 15"/>
          <p:cNvSpPr txBox="1"/>
          <p:nvPr/>
        </p:nvSpPr>
        <p:spPr>
          <a:xfrm>
            <a:off x="9511791" y="4888214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Thomas</a:t>
            </a:r>
            <a:endParaRPr lang="en-IN" sz="1600" dirty="0"/>
          </a:p>
        </p:txBody>
      </p:sp>
      <p:sp>
        <p:nvSpPr>
          <p:cNvPr id="17" name="TextBox 16"/>
          <p:cNvSpPr txBox="1"/>
          <p:nvPr/>
        </p:nvSpPr>
        <p:spPr>
          <a:xfrm>
            <a:off x="10785374" y="4894619"/>
            <a:ext cx="1308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15000</a:t>
            </a:r>
            <a:endParaRPr lang="en-IN" dirty="0"/>
          </a:p>
        </p:txBody>
      </p:sp>
      <p:sp>
        <p:nvSpPr>
          <p:cNvPr id="18" name="TextBox 17"/>
          <p:cNvSpPr txBox="1"/>
          <p:nvPr/>
        </p:nvSpPr>
        <p:spPr>
          <a:xfrm>
            <a:off x="6956617" y="5268561"/>
            <a:ext cx="803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101</a:t>
            </a:r>
            <a:endParaRPr lang="en-IN" dirty="0"/>
          </a:p>
        </p:txBody>
      </p:sp>
      <p:sp>
        <p:nvSpPr>
          <p:cNvPr id="19" name="TextBox 18"/>
          <p:cNvSpPr txBox="1"/>
          <p:nvPr/>
        </p:nvSpPr>
        <p:spPr>
          <a:xfrm>
            <a:off x="8200487" y="4534106"/>
            <a:ext cx="758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Harry </a:t>
            </a:r>
            <a:endParaRPr lang="en-IN" dirty="0"/>
          </a:p>
        </p:txBody>
      </p:sp>
      <p:sp>
        <p:nvSpPr>
          <p:cNvPr id="20" name="TextBox 19"/>
          <p:cNvSpPr txBox="1"/>
          <p:nvPr/>
        </p:nvSpPr>
        <p:spPr>
          <a:xfrm>
            <a:off x="9471826" y="4518040"/>
            <a:ext cx="764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Potter</a:t>
            </a:r>
            <a:endParaRPr lang="en-IN" dirty="0"/>
          </a:p>
        </p:txBody>
      </p:sp>
      <p:sp>
        <p:nvSpPr>
          <p:cNvPr id="21" name="TextBox 20"/>
          <p:cNvSpPr txBox="1"/>
          <p:nvPr/>
        </p:nvSpPr>
        <p:spPr>
          <a:xfrm>
            <a:off x="10785374" y="4534106"/>
            <a:ext cx="1308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20000</a:t>
            </a:r>
            <a:endParaRPr lang="en-IN" dirty="0"/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0994073"/>
              </p:ext>
            </p:extLst>
          </p:nvPr>
        </p:nvGraphicFramePr>
        <p:xfrm>
          <a:off x="6524979" y="1490892"/>
          <a:ext cx="5464528" cy="1483544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366132">
                  <a:extLst>
                    <a:ext uri="{9D8B030D-6E8A-4147-A177-3AD203B41FA5}">
                      <a16:colId xmlns:a16="http://schemas.microsoft.com/office/drawing/2014/main" val="420006210"/>
                    </a:ext>
                  </a:extLst>
                </a:gridCol>
                <a:gridCol w="1366132">
                  <a:extLst>
                    <a:ext uri="{9D8B030D-6E8A-4147-A177-3AD203B41FA5}">
                      <a16:colId xmlns:a16="http://schemas.microsoft.com/office/drawing/2014/main" val="2249173104"/>
                    </a:ext>
                  </a:extLst>
                </a:gridCol>
                <a:gridCol w="1366132">
                  <a:extLst>
                    <a:ext uri="{9D8B030D-6E8A-4147-A177-3AD203B41FA5}">
                      <a16:colId xmlns:a16="http://schemas.microsoft.com/office/drawing/2014/main" val="55307333"/>
                    </a:ext>
                  </a:extLst>
                </a:gridCol>
                <a:gridCol w="1366132">
                  <a:extLst>
                    <a:ext uri="{9D8B030D-6E8A-4147-A177-3AD203B41FA5}">
                      <a16:colId xmlns:a16="http://schemas.microsoft.com/office/drawing/2014/main" val="688084317"/>
                    </a:ext>
                  </a:extLst>
                </a:gridCol>
              </a:tblGrid>
              <a:tr h="370886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employee_id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first_name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last_name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salary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2002686"/>
                  </a:ext>
                </a:extLst>
              </a:tr>
              <a:tr h="37088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8429340"/>
                  </a:ext>
                </a:extLst>
              </a:tr>
              <a:tr h="37088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4903056"/>
                  </a:ext>
                </a:extLst>
              </a:tr>
              <a:tr h="37088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4107410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6975112" y="1878648"/>
            <a:ext cx="803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101</a:t>
            </a:r>
            <a:endParaRPr lang="en-IN" dirty="0"/>
          </a:p>
        </p:txBody>
      </p:sp>
      <p:sp>
        <p:nvSpPr>
          <p:cNvPr id="26" name="TextBox 25"/>
          <p:cNvSpPr txBox="1"/>
          <p:nvPr/>
        </p:nvSpPr>
        <p:spPr>
          <a:xfrm>
            <a:off x="8270278" y="1870465"/>
            <a:ext cx="818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Steven</a:t>
            </a:r>
            <a:endParaRPr lang="en-IN" dirty="0"/>
          </a:p>
        </p:txBody>
      </p:sp>
      <p:sp>
        <p:nvSpPr>
          <p:cNvPr id="27" name="TextBox 26"/>
          <p:cNvSpPr txBox="1"/>
          <p:nvPr/>
        </p:nvSpPr>
        <p:spPr>
          <a:xfrm>
            <a:off x="9598413" y="1853660"/>
            <a:ext cx="788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Cohen</a:t>
            </a:r>
            <a:endParaRPr lang="en-IN" dirty="0"/>
          </a:p>
        </p:txBody>
      </p:sp>
      <p:sp>
        <p:nvSpPr>
          <p:cNvPr id="28" name="TextBox 27"/>
          <p:cNvSpPr txBox="1"/>
          <p:nvPr/>
        </p:nvSpPr>
        <p:spPr>
          <a:xfrm>
            <a:off x="6975112" y="2210160"/>
            <a:ext cx="803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102</a:t>
            </a:r>
            <a:endParaRPr lang="en-IN" dirty="0"/>
          </a:p>
        </p:txBody>
      </p:sp>
      <p:sp>
        <p:nvSpPr>
          <p:cNvPr id="29" name="TextBox 28"/>
          <p:cNvSpPr txBox="1"/>
          <p:nvPr/>
        </p:nvSpPr>
        <p:spPr>
          <a:xfrm>
            <a:off x="8270278" y="2201977"/>
            <a:ext cx="755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Edwin</a:t>
            </a:r>
            <a:endParaRPr lang="en-IN" dirty="0"/>
          </a:p>
        </p:txBody>
      </p:sp>
      <p:sp>
        <p:nvSpPr>
          <p:cNvPr id="30" name="TextBox 29"/>
          <p:cNvSpPr txBox="1"/>
          <p:nvPr/>
        </p:nvSpPr>
        <p:spPr>
          <a:xfrm>
            <a:off x="9530287" y="2232756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Thomas</a:t>
            </a:r>
            <a:endParaRPr lang="en-IN" sz="1600" dirty="0"/>
          </a:p>
        </p:txBody>
      </p:sp>
      <p:sp>
        <p:nvSpPr>
          <p:cNvPr id="31" name="TextBox 30"/>
          <p:cNvSpPr txBox="1"/>
          <p:nvPr/>
        </p:nvSpPr>
        <p:spPr>
          <a:xfrm>
            <a:off x="6975113" y="2613103"/>
            <a:ext cx="803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103</a:t>
            </a:r>
            <a:endParaRPr lang="en-IN" dirty="0"/>
          </a:p>
        </p:txBody>
      </p:sp>
      <p:sp>
        <p:nvSpPr>
          <p:cNvPr id="32" name="TextBox 31"/>
          <p:cNvSpPr txBox="1"/>
          <p:nvPr/>
        </p:nvSpPr>
        <p:spPr>
          <a:xfrm>
            <a:off x="8270278" y="2604920"/>
            <a:ext cx="758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Harry </a:t>
            </a:r>
            <a:endParaRPr lang="en-IN" dirty="0"/>
          </a:p>
        </p:txBody>
      </p:sp>
      <p:sp>
        <p:nvSpPr>
          <p:cNvPr id="33" name="TextBox 32"/>
          <p:cNvSpPr txBox="1"/>
          <p:nvPr/>
        </p:nvSpPr>
        <p:spPr>
          <a:xfrm>
            <a:off x="9674469" y="2588115"/>
            <a:ext cx="764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Potter</a:t>
            </a:r>
            <a:endParaRPr lang="en-IN" dirty="0"/>
          </a:p>
        </p:txBody>
      </p:sp>
      <p:sp>
        <p:nvSpPr>
          <p:cNvPr id="38" name="TextBox 37"/>
          <p:cNvSpPr txBox="1"/>
          <p:nvPr/>
        </p:nvSpPr>
        <p:spPr>
          <a:xfrm>
            <a:off x="10864338" y="1878648"/>
            <a:ext cx="1308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10000</a:t>
            </a:r>
            <a:endParaRPr lang="en-IN" dirty="0"/>
          </a:p>
        </p:txBody>
      </p:sp>
      <p:sp>
        <p:nvSpPr>
          <p:cNvPr id="39" name="TextBox 38"/>
          <p:cNvSpPr txBox="1"/>
          <p:nvPr/>
        </p:nvSpPr>
        <p:spPr>
          <a:xfrm>
            <a:off x="10852111" y="2280955"/>
            <a:ext cx="1308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15000</a:t>
            </a:r>
            <a:endParaRPr lang="en-IN" dirty="0"/>
          </a:p>
        </p:txBody>
      </p:sp>
      <p:sp>
        <p:nvSpPr>
          <p:cNvPr id="40" name="TextBox 39"/>
          <p:cNvSpPr txBox="1"/>
          <p:nvPr/>
        </p:nvSpPr>
        <p:spPr>
          <a:xfrm>
            <a:off x="10864338" y="2613103"/>
            <a:ext cx="1308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20000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9212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8" grpId="0"/>
      <p:bldP spid="39" grpId="0"/>
      <p:bldP spid="4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568450" y="3061855"/>
            <a:ext cx="9055100" cy="734291"/>
          </a:xfrm>
        </p:spPr>
        <p:txBody>
          <a:bodyPr>
            <a:normAutofit/>
          </a:bodyPr>
          <a:lstStyle/>
          <a:p>
            <a:pPr algn="ctr"/>
            <a:r>
              <a:rPr lang="en-IN" dirty="0" smtClean="0"/>
              <a:t>SQL </a:t>
            </a:r>
            <a:r>
              <a:rPr lang="en-IN" dirty="0" smtClean="0"/>
              <a:t>Set Operators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0315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777740" y="1493477"/>
            <a:ext cx="10622576" cy="4904394"/>
          </a:xfrm>
        </p:spPr>
        <p:txBody>
          <a:bodyPr/>
          <a:lstStyle/>
          <a:p>
            <a:pPr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+mn-lt"/>
                <a:ea typeface="Segoe UI" panose="020B0502040204020203" pitchFamily="34" charset="0"/>
                <a:cs typeface="Arial" panose="020B0604020202020204" pitchFamily="34" charset="0"/>
              </a:rPr>
              <a:t>Used to combine the results of two SELECT statements including duplicate rows. </a:t>
            </a:r>
          </a:p>
          <a:p>
            <a:pPr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+mn-lt"/>
                <a:ea typeface="Segoe UI" panose="020B0502040204020203" pitchFamily="34" charset="0"/>
                <a:cs typeface="Arial" panose="020B0604020202020204" pitchFamily="34" charset="0"/>
              </a:rPr>
              <a:t>The same rules that apply to the UNION clause will apply to the UNION ALL operator.</a:t>
            </a:r>
          </a:p>
          <a:p>
            <a:pPr marL="0" indent="0">
              <a:buNone/>
            </a:pPr>
            <a:endParaRPr lang="en-US" sz="2000" dirty="0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+mn-lt"/>
                <a:ea typeface="Segoe UI" panose="020B0502040204020203" pitchFamily="34" charset="0"/>
                <a:cs typeface="Arial" panose="020B0604020202020204" pitchFamily="34" charset="0"/>
              </a:rPr>
              <a:t>SYNTAX:</a:t>
            </a:r>
          </a:p>
          <a:p>
            <a:pPr marL="0" indent="0">
              <a:buNone/>
            </a:pPr>
            <a:endParaRPr lang="en-US" sz="2000" dirty="0">
              <a:solidFill>
                <a:srgbClr val="000000"/>
              </a:solidFill>
              <a:latin typeface="+mn-lt"/>
              <a:ea typeface="Segoe UI" panose="020B0502040204020203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+mn-lt"/>
                <a:ea typeface="Segoe UI" panose="020B0502040204020203" pitchFamily="34" charset="0"/>
                <a:cs typeface="Arial" panose="020B0604020202020204" pitchFamily="34" charset="0"/>
              </a:rPr>
              <a:t>SELECT a.col1,b.col2,...,</a:t>
            </a:r>
            <a:r>
              <a:rPr lang="en-US" sz="2000" dirty="0" err="1">
                <a:solidFill>
                  <a:srgbClr val="000000"/>
                </a:solidFill>
                <a:latin typeface="+mn-lt"/>
                <a:ea typeface="Segoe UI" panose="020B0502040204020203" pitchFamily="34" charset="0"/>
                <a:cs typeface="Arial" panose="020B0604020202020204" pitchFamily="34" charset="0"/>
              </a:rPr>
              <a:t>a.coln</a:t>
            </a:r>
            <a:r>
              <a:rPr lang="en-US" sz="2000" dirty="0">
                <a:solidFill>
                  <a:srgbClr val="000000"/>
                </a:solidFill>
                <a:latin typeface="+mn-lt"/>
                <a:ea typeface="Segoe UI" panose="020B0502040204020203" pitchFamily="34" charset="0"/>
                <a:cs typeface="Arial" panose="020B0604020202020204" pitchFamily="34" charset="0"/>
              </a:rPr>
              <a:t> FROM table1 a,table1 b WHERE </a:t>
            </a:r>
            <a:r>
              <a:rPr lang="en-US" sz="2000" dirty="0" err="1">
                <a:solidFill>
                  <a:srgbClr val="000000"/>
                </a:solidFill>
                <a:latin typeface="+mn-lt"/>
                <a:ea typeface="Segoe UI" panose="020B0502040204020203" pitchFamily="34" charset="0"/>
                <a:cs typeface="Arial" panose="020B0604020202020204" pitchFamily="34" charset="0"/>
              </a:rPr>
              <a:t>a.commonfield</a:t>
            </a:r>
            <a:r>
              <a:rPr lang="en-US" sz="2000" dirty="0">
                <a:solidFill>
                  <a:srgbClr val="000000"/>
                </a:solidFill>
                <a:latin typeface="+mn-lt"/>
                <a:ea typeface="Segoe UI" panose="020B0502040204020203" pitchFamily="34" charset="0"/>
                <a:cs typeface="Arial" panose="020B0604020202020204" pitchFamily="34" charset="0"/>
              </a:rPr>
              <a:t> = </a:t>
            </a:r>
            <a:r>
              <a:rPr lang="en-US" sz="2000" dirty="0" err="1">
                <a:solidFill>
                  <a:srgbClr val="000000"/>
                </a:solidFill>
                <a:latin typeface="+mn-lt"/>
                <a:ea typeface="Segoe UI" panose="020B0502040204020203" pitchFamily="34" charset="0"/>
                <a:cs typeface="Arial" panose="020B0604020202020204" pitchFamily="34" charset="0"/>
              </a:rPr>
              <a:t>b.commonfield</a:t>
            </a:r>
            <a:endParaRPr lang="en-US" sz="2000" dirty="0">
              <a:solidFill>
                <a:srgbClr val="000000"/>
              </a:solidFill>
              <a:latin typeface="+mn-lt"/>
              <a:ea typeface="Segoe UI" panose="020B0502040204020203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UNION ALL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+mn-lt"/>
                <a:ea typeface="Segoe UI" panose="020B0502040204020203" pitchFamily="34" charset="0"/>
                <a:cs typeface="Arial" panose="020B0604020202020204" pitchFamily="34" charset="0"/>
              </a:rPr>
              <a:t>SELECT a.col1, b.col2,..., </a:t>
            </a:r>
            <a:r>
              <a:rPr lang="en-US" sz="2000" dirty="0" err="1">
                <a:solidFill>
                  <a:srgbClr val="000000"/>
                </a:solidFill>
                <a:latin typeface="+mn-lt"/>
                <a:ea typeface="Segoe UI" panose="020B0502040204020203" pitchFamily="34" charset="0"/>
                <a:cs typeface="Arial" panose="020B0604020202020204" pitchFamily="34" charset="0"/>
              </a:rPr>
              <a:t>a.coln</a:t>
            </a:r>
            <a:r>
              <a:rPr lang="en-US" sz="2000" dirty="0">
                <a:solidFill>
                  <a:srgbClr val="000000"/>
                </a:solidFill>
                <a:latin typeface="+mn-lt"/>
                <a:ea typeface="Segoe UI" panose="020B0502040204020203" pitchFamily="34" charset="0"/>
                <a:cs typeface="Arial" panose="020B0604020202020204" pitchFamily="34" charset="0"/>
              </a:rPr>
              <a:t> FROM table1 a, table1 b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+mn-lt"/>
                <a:ea typeface="Segoe UI" panose="020B0502040204020203" pitchFamily="34" charset="0"/>
                <a:cs typeface="Arial" panose="020B0604020202020204" pitchFamily="34" charset="0"/>
              </a:rPr>
              <a:t>WHERE </a:t>
            </a:r>
            <a:r>
              <a:rPr lang="en-US" sz="2000" dirty="0" err="1">
                <a:solidFill>
                  <a:srgbClr val="000000"/>
                </a:solidFill>
                <a:latin typeface="+mn-lt"/>
                <a:ea typeface="Segoe UI" panose="020B0502040204020203" pitchFamily="34" charset="0"/>
                <a:cs typeface="Arial" panose="020B0604020202020204" pitchFamily="34" charset="0"/>
              </a:rPr>
              <a:t>a.commonfield</a:t>
            </a:r>
            <a:r>
              <a:rPr lang="en-US" sz="2000" dirty="0">
                <a:solidFill>
                  <a:srgbClr val="000000"/>
                </a:solidFill>
                <a:latin typeface="+mn-lt"/>
                <a:ea typeface="Segoe UI" panose="020B0502040204020203" pitchFamily="34" charset="0"/>
                <a:cs typeface="Arial" panose="020B0604020202020204" pitchFamily="34" charset="0"/>
              </a:rPr>
              <a:t> = </a:t>
            </a:r>
            <a:r>
              <a:rPr lang="en-US" sz="2000" dirty="0" err="1">
                <a:solidFill>
                  <a:srgbClr val="000000"/>
                </a:solidFill>
                <a:latin typeface="+mn-lt"/>
                <a:ea typeface="Segoe UI" panose="020B0502040204020203" pitchFamily="34" charset="0"/>
                <a:cs typeface="Arial" panose="020B0604020202020204" pitchFamily="34" charset="0"/>
              </a:rPr>
              <a:t>b.commonfield</a:t>
            </a:r>
            <a:endParaRPr lang="en-US" sz="2000" dirty="0">
              <a:solidFill>
                <a:srgbClr val="000000"/>
              </a:solidFill>
              <a:latin typeface="+mn-lt"/>
              <a:ea typeface="Segoe UI" panose="020B0502040204020203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SQL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UNION ALL</a:t>
            </a: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DBMS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A7BD299-4115-435C-9390-0BF281B3F2C8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383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SQL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UNION ALL</a:t>
            </a: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DBMS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A7BD299-4115-435C-9390-0BF281B3F2C8}" type="slidenum">
              <a:rPr lang="en-US" smtClean="0"/>
              <a:pPr/>
              <a:t>35</a:t>
            </a:fld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4457363"/>
              </p:ext>
            </p:extLst>
          </p:nvPr>
        </p:nvGraphicFramePr>
        <p:xfrm>
          <a:off x="780606" y="1913303"/>
          <a:ext cx="4211786" cy="2133600"/>
        </p:xfrm>
        <a:graphic>
          <a:graphicData uri="http://schemas.openxmlformats.org/drawingml/2006/table">
            <a:tbl>
              <a:tblPr/>
              <a:tblGrid>
                <a:gridCol w="2105893">
                  <a:extLst>
                    <a:ext uri="{9D8B030D-6E8A-4147-A177-3AD203B41FA5}">
                      <a16:colId xmlns:a16="http://schemas.microsoft.com/office/drawing/2014/main" val="3684161752"/>
                    </a:ext>
                  </a:extLst>
                </a:gridCol>
                <a:gridCol w="2105893">
                  <a:extLst>
                    <a:ext uri="{9D8B030D-6E8A-4147-A177-3AD203B41FA5}">
                      <a16:colId xmlns:a16="http://schemas.microsoft.com/office/drawing/2014/main" val="2035522144"/>
                    </a:ext>
                  </a:extLst>
                </a:gridCol>
              </a:tblGrid>
              <a:tr h="404553">
                <a:tc>
                  <a:txBody>
                    <a:bodyPr/>
                    <a:lstStyle/>
                    <a:p>
                      <a:pPr algn="ctr" fontAlgn="t"/>
                      <a:r>
                        <a:rPr lang="en-IN" b="0" dirty="0">
                          <a:solidFill>
                            <a:srgbClr val="000000"/>
                          </a:solidFill>
                          <a:effectLst/>
                        </a:rPr>
                        <a:t>CATEGORY_ID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b="0" dirty="0">
                          <a:solidFill>
                            <a:srgbClr val="000000"/>
                          </a:solidFill>
                          <a:effectLst/>
                        </a:rPr>
                        <a:t>PRODUCT_NAME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055582"/>
                  </a:ext>
                </a:extLst>
              </a:tr>
              <a:tr h="404553">
                <a:tc>
                  <a:txBody>
                    <a:bodyPr/>
                    <a:lstStyle/>
                    <a:p>
                      <a:pPr algn="ctr" fontAlgn="t"/>
                      <a:r>
                        <a:rPr lang="en-IN" dirty="0">
                          <a:solidFill>
                            <a:srgbClr val="222222"/>
                          </a:solidFill>
                          <a:effectLst/>
                        </a:rPr>
                        <a:t>1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dirty="0">
                          <a:solidFill>
                            <a:srgbClr val="222222"/>
                          </a:solidFill>
                          <a:effectLst/>
                        </a:rPr>
                        <a:t>Nokia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8194779"/>
                  </a:ext>
                </a:extLst>
              </a:tr>
              <a:tr h="404553">
                <a:tc>
                  <a:txBody>
                    <a:bodyPr/>
                    <a:lstStyle/>
                    <a:p>
                      <a:pPr algn="ctr" fontAlgn="t"/>
                      <a:r>
                        <a:rPr lang="en-IN">
                          <a:solidFill>
                            <a:srgbClr val="222222"/>
                          </a:solidFill>
                          <a:effectLst/>
                        </a:rPr>
                        <a:t>2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>
                          <a:solidFill>
                            <a:srgbClr val="222222"/>
                          </a:solidFill>
                          <a:effectLst/>
                        </a:rPr>
                        <a:t>Samsung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8502547"/>
                  </a:ext>
                </a:extLst>
              </a:tr>
              <a:tr h="404553">
                <a:tc>
                  <a:txBody>
                    <a:bodyPr/>
                    <a:lstStyle/>
                    <a:p>
                      <a:pPr algn="ctr" fontAlgn="t"/>
                      <a:r>
                        <a:rPr lang="en-IN" dirty="0">
                          <a:solidFill>
                            <a:srgbClr val="222222"/>
                          </a:solidFill>
                          <a:effectLst/>
                        </a:rPr>
                        <a:t>3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>
                          <a:solidFill>
                            <a:srgbClr val="222222"/>
                          </a:solidFill>
                          <a:effectLst/>
                        </a:rPr>
                        <a:t>HP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4360285"/>
                  </a:ext>
                </a:extLst>
              </a:tr>
              <a:tr h="404553">
                <a:tc>
                  <a:txBody>
                    <a:bodyPr/>
                    <a:lstStyle/>
                    <a:p>
                      <a:pPr algn="ctr" fontAlgn="t"/>
                      <a:r>
                        <a:rPr lang="en-IN" dirty="0">
                          <a:solidFill>
                            <a:srgbClr val="222222"/>
                          </a:solidFill>
                          <a:effectLst/>
                        </a:rPr>
                        <a:t>6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dirty="0">
                          <a:solidFill>
                            <a:srgbClr val="222222"/>
                          </a:solidFill>
                          <a:effectLst/>
                        </a:rPr>
                        <a:t>Nikon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3240037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6935640"/>
              </p:ext>
            </p:extLst>
          </p:nvPr>
        </p:nvGraphicFramePr>
        <p:xfrm>
          <a:off x="5168185" y="1913303"/>
          <a:ext cx="3477496" cy="2979764"/>
        </p:xfrm>
        <a:graphic>
          <a:graphicData uri="http://schemas.openxmlformats.org/drawingml/2006/table">
            <a:tbl>
              <a:tblPr/>
              <a:tblGrid>
                <a:gridCol w="1738748">
                  <a:extLst>
                    <a:ext uri="{9D8B030D-6E8A-4147-A177-3AD203B41FA5}">
                      <a16:colId xmlns:a16="http://schemas.microsoft.com/office/drawing/2014/main" val="2624835276"/>
                    </a:ext>
                  </a:extLst>
                </a:gridCol>
                <a:gridCol w="1738748">
                  <a:extLst>
                    <a:ext uri="{9D8B030D-6E8A-4147-A177-3AD203B41FA5}">
                      <a16:colId xmlns:a16="http://schemas.microsoft.com/office/drawing/2014/main" val="1449548908"/>
                    </a:ext>
                  </a:extLst>
                </a:gridCol>
              </a:tblGrid>
              <a:tr h="577616">
                <a:tc>
                  <a:txBody>
                    <a:bodyPr/>
                    <a:lstStyle/>
                    <a:p>
                      <a:pPr algn="ctr" fontAlgn="t"/>
                      <a:r>
                        <a:rPr lang="en-IN" sz="1700" b="0" dirty="0">
                          <a:solidFill>
                            <a:srgbClr val="000000"/>
                          </a:solidFill>
                          <a:effectLst/>
                        </a:rPr>
                        <a:t>CATEGORY_ID</a:t>
                      </a:r>
                    </a:p>
                  </a:txBody>
                  <a:tcPr marL="70639" marR="70639" marT="70639" marB="70639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700" b="0" dirty="0">
                          <a:solidFill>
                            <a:srgbClr val="000000"/>
                          </a:solidFill>
                          <a:effectLst/>
                        </a:rPr>
                        <a:t>PRODUCT_NAME</a:t>
                      </a:r>
                    </a:p>
                  </a:txBody>
                  <a:tcPr marL="70639" marR="70639" marT="70639" marB="70639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0737547"/>
                  </a:ext>
                </a:extLst>
              </a:tr>
              <a:tr h="350682">
                <a:tc>
                  <a:txBody>
                    <a:bodyPr/>
                    <a:lstStyle/>
                    <a:p>
                      <a:pPr algn="ctr" fontAlgn="t"/>
                      <a:r>
                        <a:rPr lang="en-IN" sz="1700" dirty="0">
                          <a:solidFill>
                            <a:srgbClr val="222222"/>
                          </a:solidFill>
                          <a:effectLst/>
                        </a:rPr>
                        <a:t>1</a:t>
                      </a:r>
                    </a:p>
                  </a:txBody>
                  <a:tcPr marL="70639" marR="70639" marT="70639" marB="70639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700" dirty="0">
                          <a:solidFill>
                            <a:srgbClr val="222222"/>
                          </a:solidFill>
                          <a:effectLst/>
                        </a:rPr>
                        <a:t>Samsung</a:t>
                      </a:r>
                    </a:p>
                  </a:txBody>
                  <a:tcPr marL="70639" marR="70639" marT="70639" marB="70639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9369056"/>
                  </a:ext>
                </a:extLst>
              </a:tr>
              <a:tr h="350682">
                <a:tc>
                  <a:txBody>
                    <a:bodyPr/>
                    <a:lstStyle/>
                    <a:p>
                      <a:pPr algn="ctr" fontAlgn="t"/>
                      <a:r>
                        <a:rPr lang="en-IN" sz="1700">
                          <a:solidFill>
                            <a:srgbClr val="222222"/>
                          </a:solidFill>
                          <a:effectLst/>
                        </a:rPr>
                        <a:t>2</a:t>
                      </a:r>
                    </a:p>
                  </a:txBody>
                  <a:tcPr marL="70639" marR="70639" marT="70639" marB="70639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700" dirty="0">
                          <a:solidFill>
                            <a:srgbClr val="222222"/>
                          </a:solidFill>
                          <a:effectLst/>
                        </a:rPr>
                        <a:t>LG</a:t>
                      </a:r>
                    </a:p>
                  </a:txBody>
                  <a:tcPr marL="70639" marR="70639" marT="70639" marB="70639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3106856"/>
                  </a:ext>
                </a:extLst>
              </a:tr>
              <a:tr h="350682">
                <a:tc>
                  <a:txBody>
                    <a:bodyPr/>
                    <a:lstStyle/>
                    <a:p>
                      <a:pPr algn="ctr" fontAlgn="t"/>
                      <a:r>
                        <a:rPr lang="en-IN" sz="1700" dirty="0">
                          <a:solidFill>
                            <a:srgbClr val="222222"/>
                          </a:solidFill>
                          <a:effectLst/>
                        </a:rPr>
                        <a:t>3</a:t>
                      </a:r>
                    </a:p>
                  </a:txBody>
                  <a:tcPr marL="70639" marR="70639" marT="70639" marB="70639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700" dirty="0" smtClean="0">
                          <a:solidFill>
                            <a:srgbClr val="222222"/>
                          </a:solidFill>
                          <a:effectLst/>
                        </a:rPr>
                        <a:t>HP</a:t>
                      </a:r>
                      <a:endParaRPr lang="en-IN" sz="1700" dirty="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70639" marR="70639" marT="70639" marB="70639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6591847"/>
                  </a:ext>
                </a:extLst>
              </a:tr>
              <a:tr h="350682">
                <a:tc>
                  <a:txBody>
                    <a:bodyPr/>
                    <a:lstStyle/>
                    <a:p>
                      <a:pPr algn="ctr" fontAlgn="t"/>
                      <a:r>
                        <a:rPr lang="en-IN" sz="1700" dirty="0">
                          <a:solidFill>
                            <a:srgbClr val="222222"/>
                          </a:solidFill>
                          <a:effectLst/>
                        </a:rPr>
                        <a:t>5</a:t>
                      </a:r>
                    </a:p>
                  </a:txBody>
                  <a:tcPr marL="70639" marR="70639" marT="70639" marB="70639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700" dirty="0">
                          <a:solidFill>
                            <a:srgbClr val="222222"/>
                          </a:solidFill>
                          <a:effectLst/>
                        </a:rPr>
                        <a:t>Dell</a:t>
                      </a:r>
                    </a:p>
                  </a:txBody>
                  <a:tcPr marL="70639" marR="70639" marT="70639" marB="70639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9631318"/>
                  </a:ext>
                </a:extLst>
              </a:tr>
              <a:tr h="350682">
                <a:tc>
                  <a:txBody>
                    <a:bodyPr/>
                    <a:lstStyle/>
                    <a:p>
                      <a:pPr algn="ctr" fontAlgn="t"/>
                      <a:r>
                        <a:rPr lang="en-IN" sz="1700" dirty="0">
                          <a:solidFill>
                            <a:srgbClr val="222222"/>
                          </a:solidFill>
                          <a:effectLst/>
                        </a:rPr>
                        <a:t>6</a:t>
                      </a:r>
                    </a:p>
                  </a:txBody>
                  <a:tcPr marL="70639" marR="70639" marT="70639" marB="70639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700" dirty="0">
                          <a:solidFill>
                            <a:srgbClr val="222222"/>
                          </a:solidFill>
                          <a:effectLst/>
                        </a:rPr>
                        <a:t>Apple</a:t>
                      </a:r>
                    </a:p>
                  </a:txBody>
                  <a:tcPr marL="70639" marR="70639" marT="70639" marB="70639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3393653"/>
                  </a:ext>
                </a:extLst>
              </a:tr>
              <a:tr h="350682">
                <a:tc>
                  <a:txBody>
                    <a:bodyPr/>
                    <a:lstStyle/>
                    <a:p>
                      <a:pPr algn="ctr" fontAlgn="t"/>
                      <a:r>
                        <a:rPr lang="en-IN" sz="1700" dirty="0">
                          <a:solidFill>
                            <a:srgbClr val="222222"/>
                          </a:solidFill>
                          <a:effectLst/>
                        </a:rPr>
                        <a:t>10</a:t>
                      </a:r>
                    </a:p>
                  </a:txBody>
                  <a:tcPr marL="70639" marR="70639" marT="70639" marB="70639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700" dirty="0">
                          <a:solidFill>
                            <a:srgbClr val="222222"/>
                          </a:solidFill>
                          <a:effectLst/>
                        </a:rPr>
                        <a:t>Playstation</a:t>
                      </a:r>
                    </a:p>
                  </a:txBody>
                  <a:tcPr marL="70639" marR="70639" marT="70639" marB="70639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2106657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80606" y="4117577"/>
            <a:ext cx="5165863" cy="25237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000" b="1" dirty="0" smtClean="0">
                <a:cs typeface="Arial" panose="020B0604020202020204" pitchFamily="34" charset="0"/>
              </a:rPr>
              <a:t>e.g</a:t>
            </a:r>
            <a:r>
              <a:rPr lang="en-IN" sz="2000" b="1" dirty="0" smtClean="0">
                <a:cs typeface="Arial" panose="020B0604020202020204" pitchFamily="34" charset="0"/>
              </a:rPr>
              <a:t>.,</a:t>
            </a:r>
          </a:p>
          <a:p>
            <a:endParaRPr lang="en-IN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product_name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FROM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product1 </a:t>
            </a:r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UNION ALL   </a:t>
            </a:r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product_name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product2;</a:t>
            </a:r>
            <a:endParaRPr lang="en-IN" sz="22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2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705623"/>
              </p:ext>
            </p:extLst>
          </p:nvPr>
        </p:nvGraphicFramePr>
        <p:xfrm>
          <a:off x="10064313" y="2367860"/>
          <a:ext cx="1668704" cy="43042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68704">
                  <a:extLst>
                    <a:ext uri="{9D8B030D-6E8A-4147-A177-3AD203B41FA5}">
                      <a16:colId xmlns:a16="http://schemas.microsoft.com/office/drawing/2014/main" val="3417445880"/>
                    </a:ext>
                  </a:extLst>
                </a:gridCol>
              </a:tblGrid>
              <a:tr h="309126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PRODUCT_NAME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818056"/>
                  </a:ext>
                </a:extLst>
              </a:tr>
              <a:tr h="309126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Nokia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4097388"/>
                  </a:ext>
                </a:extLst>
              </a:tr>
              <a:tr h="309126">
                <a:tc>
                  <a:txBody>
                    <a:bodyPr/>
                    <a:lstStyle/>
                    <a:p>
                      <a:pPr algn="ctr" fontAlgn="t"/>
                      <a:r>
                        <a:rPr lang="en-IN" sz="1700" dirty="0">
                          <a:solidFill>
                            <a:srgbClr val="222222"/>
                          </a:solidFill>
                          <a:effectLst/>
                        </a:rPr>
                        <a:t>Samsung</a:t>
                      </a:r>
                    </a:p>
                  </a:txBody>
                  <a:tcPr marL="70639" marR="70639" marT="70639" marB="70639"/>
                </a:tc>
                <a:extLst>
                  <a:ext uri="{0D108BD9-81ED-4DB2-BD59-A6C34878D82A}">
                    <a16:rowId xmlns:a16="http://schemas.microsoft.com/office/drawing/2014/main" val="3899348333"/>
                  </a:ext>
                </a:extLst>
              </a:tr>
              <a:tr h="309126">
                <a:tc>
                  <a:txBody>
                    <a:bodyPr/>
                    <a:lstStyle/>
                    <a:p>
                      <a:pPr algn="ctr" fontAlgn="t"/>
                      <a:r>
                        <a:rPr lang="en-IN" sz="1700" dirty="0" smtClean="0">
                          <a:solidFill>
                            <a:srgbClr val="222222"/>
                          </a:solidFill>
                          <a:effectLst/>
                        </a:rPr>
                        <a:t>HP</a:t>
                      </a:r>
                      <a:endParaRPr lang="en-IN" sz="1700" dirty="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70639" marR="70639" marT="70639" marB="70639"/>
                </a:tc>
                <a:extLst>
                  <a:ext uri="{0D108BD9-81ED-4DB2-BD59-A6C34878D82A}">
                    <a16:rowId xmlns:a16="http://schemas.microsoft.com/office/drawing/2014/main" val="741772748"/>
                  </a:ext>
                </a:extLst>
              </a:tr>
              <a:tr h="309126">
                <a:tc>
                  <a:txBody>
                    <a:bodyPr/>
                    <a:lstStyle/>
                    <a:p>
                      <a:pPr algn="ctr" fontAlgn="t"/>
                      <a:r>
                        <a:rPr lang="en-US" sz="1700" dirty="0" smtClean="0">
                          <a:solidFill>
                            <a:srgbClr val="222222"/>
                          </a:solidFill>
                          <a:effectLst/>
                        </a:rPr>
                        <a:t>Nikon</a:t>
                      </a:r>
                      <a:endParaRPr lang="en-IN" sz="1700" dirty="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70639" marR="70639" marT="70639" marB="70639"/>
                </a:tc>
                <a:extLst>
                  <a:ext uri="{0D108BD9-81ED-4DB2-BD59-A6C34878D82A}">
                    <a16:rowId xmlns:a16="http://schemas.microsoft.com/office/drawing/2014/main" val="1681123950"/>
                  </a:ext>
                </a:extLst>
              </a:tr>
              <a:tr h="309126">
                <a:tc>
                  <a:txBody>
                    <a:bodyPr/>
                    <a:lstStyle/>
                    <a:p>
                      <a:pPr algn="ctr" fontAlgn="t"/>
                      <a:r>
                        <a:rPr lang="en-US" sz="1700" dirty="0" smtClean="0">
                          <a:solidFill>
                            <a:srgbClr val="222222"/>
                          </a:solidFill>
                          <a:effectLst/>
                        </a:rPr>
                        <a:t>Samsung</a:t>
                      </a:r>
                      <a:endParaRPr lang="en-IN" sz="1700" dirty="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70639" marR="70639" marT="70639" marB="70639"/>
                </a:tc>
                <a:extLst>
                  <a:ext uri="{0D108BD9-81ED-4DB2-BD59-A6C34878D82A}">
                    <a16:rowId xmlns:a16="http://schemas.microsoft.com/office/drawing/2014/main" val="966083441"/>
                  </a:ext>
                </a:extLst>
              </a:tr>
              <a:tr h="309126">
                <a:tc>
                  <a:txBody>
                    <a:bodyPr/>
                    <a:lstStyle/>
                    <a:p>
                      <a:pPr algn="ctr" fontAlgn="t"/>
                      <a:r>
                        <a:rPr lang="en-IN" sz="1700" dirty="0">
                          <a:solidFill>
                            <a:srgbClr val="222222"/>
                          </a:solidFill>
                          <a:effectLst/>
                        </a:rPr>
                        <a:t>LG</a:t>
                      </a:r>
                    </a:p>
                  </a:txBody>
                  <a:tcPr marL="70639" marR="70639" marT="70639" marB="70639"/>
                </a:tc>
                <a:extLst>
                  <a:ext uri="{0D108BD9-81ED-4DB2-BD59-A6C34878D82A}">
                    <a16:rowId xmlns:a16="http://schemas.microsoft.com/office/drawing/2014/main" val="3073011452"/>
                  </a:ext>
                </a:extLst>
              </a:tr>
              <a:tr h="309126">
                <a:tc>
                  <a:txBody>
                    <a:bodyPr/>
                    <a:lstStyle/>
                    <a:p>
                      <a:pPr algn="ctr" fontAlgn="t"/>
                      <a:r>
                        <a:rPr lang="en-US" sz="1700" dirty="0" smtClean="0">
                          <a:solidFill>
                            <a:srgbClr val="222222"/>
                          </a:solidFill>
                          <a:effectLst/>
                        </a:rPr>
                        <a:t>HP</a:t>
                      </a:r>
                      <a:endParaRPr lang="en-IN" sz="1700" dirty="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70639" marR="70639" marT="70639" marB="70639"/>
                </a:tc>
                <a:extLst>
                  <a:ext uri="{0D108BD9-81ED-4DB2-BD59-A6C34878D82A}">
                    <a16:rowId xmlns:a16="http://schemas.microsoft.com/office/drawing/2014/main" val="2353872470"/>
                  </a:ext>
                </a:extLst>
              </a:tr>
              <a:tr h="309126">
                <a:tc>
                  <a:txBody>
                    <a:bodyPr/>
                    <a:lstStyle/>
                    <a:p>
                      <a:pPr algn="ctr" fontAlgn="t"/>
                      <a:r>
                        <a:rPr lang="en-IN" sz="1700" dirty="0">
                          <a:solidFill>
                            <a:srgbClr val="222222"/>
                          </a:solidFill>
                          <a:effectLst/>
                        </a:rPr>
                        <a:t>Dell</a:t>
                      </a:r>
                    </a:p>
                  </a:txBody>
                  <a:tcPr marL="70639" marR="70639" marT="70639" marB="70639"/>
                </a:tc>
                <a:extLst>
                  <a:ext uri="{0D108BD9-81ED-4DB2-BD59-A6C34878D82A}">
                    <a16:rowId xmlns:a16="http://schemas.microsoft.com/office/drawing/2014/main" val="1999478981"/>
                  </a:ext>
                </a:extLst>
              </a:tr>
              <a:tr h="309126">
                <a:tc>
                  <a:txBody>
                    <a:bodyPr/>
                    <a:lstStyle/>
                    <a:p>
                      <a:pPr algn="ctr" fontAlgn="t"/>
                      <a:r>
                        <a:rPr lang="en-IN" sz="1700" dirty="0">
                          <a:solidFill>
                            <a:srgbClr val="222222"/>
                          </a:solidFill>
                          <a:effectLst/>
                        </a:rPr>
                        <a:t>Apple</a:t>
                      </a:r>
                    </a:p>
                  </a:txBody>
                  <a:tcPr marL="70639" marR="70639" marT="70639" marB="70639"/>
                </a:tc>
                <a:extLst>
                  <a:ext uri="{0D108BD9-81ED-4DB2-BD59-A6C34878D82A}">
                    <a16:rowId xmlns:a16="http://schemas.microsoft.com/office/drawing/2014/main" val="456441296"/>
                  </a:ext>
                </a:extLst>
              </a:tr>
              <a:tr h="309126">
                <a:tc>
                  <a:txBody>
                    <a:bodyPr/>
                    <a:lstStyle/>
                    <a:p>
                      <a:pPr algn="ctr" fontAlgn="t"/>
                      <a:r>
                        <a:rPr lang="en-IN" sz="1700" dirty="0">
                          <a:solidFill>
                            <a:srgbClr val="222222"/>
                          </a:solidFill>
                          <a:effectLst/>
                        </a:rPr>
                        <a:t>Playstation</a:t>
                      </a:r>
                    </a:p>
                  </a:txBody>
                  <a:tcPr marL="70639" marR="70639" marT="70639" marB="70639"/>
                </a:tc>
                <a:extLst>
                  <a:ext uri="{0D108BD9-81ED-4DB2-BD59-A6C34878D82A}">
                    <a16:rowId xmlns:a16="http://schemas.microsoft.com/office/drawing/2014/main" val="4214831816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535930" y="1502406"/>
            <a:ext cx="1132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Product1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6466252" y="1491331"/>
            <a:ext cx="1132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Product2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9582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777740" y="1493477"/>
            <a:ext cx="10622576" cy="4904394"/>
          </a:xfrm>
        </p:spPr>
        <p:txBody>
          <a:bodyPr/>
          <a:lstStyle/>
          <a:p>
            <a:pPr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IN" sz="2000" dirty="0">
                <a:latin typeface="+mn-lt"/>
                <a:cs typeface="Arial" panose="020B0604020202020204" pitchFamily="34" charset="0"/>
              </a:rPr>
              <a:t>Used to combine the result-set of two or more SELECT statements removing duplicates</a:t>
            </a:r>
          </a:p>
          <a:p>
            <a:pPr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IN" sz="2000" dirty="0">
              <a:latin typeface="+mn-lt"/>
              <a:cs typeface="Arial" panose="020B0604020202020204" pitchFamily="34" charset="0"/>
            </a:endParaRPr>
          </a:p>
          <a:p>
            <a:pPr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IN" sz="2000" dirty="0">
                <a:latin typeface="+mn-lt"/>
                <a:cs typeface="Arial" panose="020B0604020202020204" pitchFamily="34" charset="0"/>
              </a:rPr>
              <a:t>Each SELECT statement within the UNION must have the same number of columns </a:t>
            </a:r>
          </a:p>
          <a:p>
            <a:pPr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IN" sz="2000" dirty="0">
              <a:latin typeface="+mn-lt"/>
              <a:cs typeface="Arial" panose="020B0604020202020204" pitchFamily="34" charset="0"/>
            </a:endParaRPr>
          </a:p>
          <a:p>
            <a:pPr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IN" sz="2000" dirty="0">
                <a:latin typeface="+mn-lt"/>
                <a:cs typeface="Arial" panose="020B0604020202020204" pitchFamily="34" charset="0"/>
              </a:rPr>
              <a:t>The selected columns must be of similar data types and must be in the same order in each SELECT statement</a:t>
            </a:r>
          </a:p>
          <a:p>
            <a:pPr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IN" sz="2000" dirty="0">
              <a:latin typeface="+mn-lt"/>
              <a:cs typeface="Arial" panose="020B0604020202020204" pitchFamily="34" charset="0"/>
            </a:endParaRPr>
          </a:p>
          <a:p>
            <a:pPr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IN" sz="2000" dirty="0">
                <a:latin typeface="+mn-lt"/>
                <a:cs typeface="Arial" panose="020B0604020202020204" pitchFamily="34" charset="0"/>
              </a:rPr>
              <a:t>More than two queries can be clubbed using more than one UNION statement</a:t>
            </a:r>
          </a:p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DBMS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A7BD299-4115-435C-9390-0BF281B3F2C8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SQL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UNION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4483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SQL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UNION</a:t>
            </a: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DBMS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A7BD299-4115-435C-9390-0BF281B3F2C8}" type="slidenum">
              <a:rPr lang="en-US" smtClean="0"/>
              <a:pPr/>
              <a:t>37</a:t>
            </a:fld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80606" y="1913303"/>
          <a:ext cx="4211786" cy="2133600"/>
        </p:xfrm>
        <a:graphic>
          <a:graphicData uri="http://schemas.openxmlformats.org/drawingml/2006/table">
            <a:tbl>
              <a:tblPr/>
              <a:tblGrid>
                <a:gridCol w="2105893">
                  <a:extLst>
                    <a:ext uri="{9D8B030D-6E8A-4147-A177-3AD203B41FA5}">
                      <a16:colId xmlns:a16="http://schemas.microsoft.com/office/drawing/2014/main" val="3684161752"/>
                    </a:ext>
                  </a:extLst>
                </a:gridCol>
                <a:gridCol w="2105893">
                  <a:extLst>
                    <a:ext uri="{9D8B030D-6E8A-4147-A177-3AD203B41FA5}">
                      <a16:colId xmlns:a16="http://schemas.microsoft.com/office/drawing/2014/main" val="2035522144"/>
                    </a:ext>
                  </a:extLst>
                </a:gridCol>
              </a:tblGrid>
              <a:tr h="404553">
                <a:tc>
                  <a:txBody>
                    <a:bodyPr/>
                    <a:lstStyle/>
                    <a:p>
                      <a:pPr algn="ctr" fontAlgn="t"/>
                      <a:r>
                        <a:rPr lang="en-IN" b="0" dirty="0">
                          <a:solidFill>
                            <a:srgbClr val="000000"/>
                          </a:solidFill>
                          <a:effectLst/>
                        </a:rPr>
                        <a:t>CATEGORY_ID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b="0" dirty="0">
                          <a:solidFill>
                            <a:srgbClr val="000000"/>
                          </a:solidFill>
                          <a:effectLst/>
                        </a:rPr>
                        <a:t>PRODUCT_NAME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055582"/>
                  </a:ext>
                </a:extLst>
              </a:tr>
              <a:tr h="404553">
                <a:tc>
                  <a:txBody>
                    <a:bodyPr/>
                    <a:lstStyle/>
                    <a:p>
                      <a:pPr algn="ctr" fontAlgn="t"/>
                      <a:r>
                        <a:rPr lang="en-IN" dirty="0">
                          <a:solidFill>
                            <a:srgbClr val="222222"/>
                          </a:solidFill>
                          <a:effectLst/>
                        </a:rPr>
                        <a:t>1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dirty="0">
                          <a:solidFill>
                            <a:srgbClr val="222222"/>
                          </a:solidFill>
                          <a:effectLst/>
                        </a:rPr>
                        <a:t>Nokia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8194779"/>
                  </a:ext>
                </a:extLst>
              </a:tr>
              <a:tr h="404553">
                <a:tc>
                  <a:txBody>
                    <a:bodyPr/>
                    <a:lstStyle/>
                    <a:p>
                      <a:pPr algn="ctr" fontAlgn="t"/>
                      <a:r>
                        <a:rPr lang="en-IN" dirty="0">
                          <a:solidFill>
                            <a:srgbClr val="222222"/>
                          </a:solidFill>
                          <a:effectLst/>
                        </a:rPr>
                        <a:t>2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>
                          <a:solidFill>
                            <a:srgbClr val="222222"/>
                          </a:solidFill>
                          <a:effectLst/>
                        </a:rPr>
                        <a:t>Samsung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8502547"/>
                  </a:ext>
                </a:extLst>
              </a:tr>
              <a:tr h="404553">
                <a:tc>
                  <a:txBody>
                    <a:bodyPr/>
                    <a:lstStyle/>
                    <a:p>
                      <a:pPr algn="ctr" fontAlgn="t"/>
                      <a:r>
                        <a:rPr lang="en-IN" dirty="0">
                          <a:solidFill>
                            <a:srgbClr val="222222"/>
                          </a:solidFill>
                          <a:effectLst/>
                        </a:rPr>
                        <a:t>3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dirty="0">
                          <a:solidFill>
                            <a:srgbClr val="222222"/>
                          </a:solidFill>
                          <a:effectLst/>
                        </a:rPr>
                        <a:t>HP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4360285"/>
                  </a:ext>
                </a:extLst>
              </a:tr>
              <a:tr h="404553">
                <a:tc>
                  <a:txBody>
                    <a:bodyPr/>
                    <a:lstStyle/>
                    <a:p>
                      <a:pPr algn="ctr" fontAlgn="t"/>
                      <a:r>
                        <a:rPr lang="en-IN" dirty="0">
                          <a:solidFill>
                            <a:srgbClr val="222222"/>
                          </a:solidFill>
                          <a:effectLst/>
                        </a:rPr>
                        <a:t>6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dirty="0">
                          <a:solidFill>
                            <a:srgbClr val="222222"/>
                          </a:solidFill>
                          <a:effectLst/>
                        </a:rPr>
                        <a:t>Nikon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3240037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168185" y="1913303"/>
          <a:ext cx="3477496" cy="2979764"/>
        </p:xfrm>
        <a:graphic>
          <a:graphicData uri="http://schemas.openxmlformats.org/drawingml/2006/table">
            <a:tbl>
              <a:tblPr/>
              <a:tblGrid>
                <a:gridCol w="1738748">
                  <a:extLst>
                    <a:ext uri="{9D8B030D-6E8A-4147-A177-3AD203B41FA5}">
                      <a16:colId xmlns:a16="http://schemas.microsoft.com/office/drawing/2014/main" val="2624835276"/>
                    </a:ext>
                  </a:extLst>
                </a:gridCol>
                <a:gridCol w="1738748">
                  <a:extLst>
                    <a:ext uri="{9D8B030D-6E8A-4147-A177-3AD203B41FA5}">
                      <a16:colId xmlns:a16="http://schemas.microsoft.com/office/drawing/2014/main" val="1449548908"/>
                    </a:ext>
                  </a:extLst>
                </a:gridCol>
              </a:tblGrid>
              <a:tr h="577616">
                <a:tc>
                  <a:txBody>
                    <a:bodyPr/>
                    <a:lstStyle/>
                    <a:p>
                      <a:pPr algn="ctr" fontAlgn="t"/>
                      <a:r>
                        <a:rPr lang="en-IN" sz="1700" b="0" dirty="0">
                          <a:solidFill>
                            <a:srgbClr val="000000"/>
                          </a:solidFill>
                          <a:effectLst/>
                        </a:rPr>
                        <a:t>CATEGORY_ID</a:t>
                      </a:r>
                    </a:p>
                  </a:txBody>
                  <a:tcPr marL="70639" marR="70639" marT="70639" marB="70639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700" b="0" dirty="0">
                          <a:solidFill>
                            <a:srgbClr val="000000"/>
                          </a:solidFill>
                          <a:effectLst/>
                        </a:rPr>
                        <a:t>PRODUCT_NAME</a:t>
                      </a:r>
                    </a:p>
                  </a:txBody>
                  <a:tcPr marL="70639" marR="70639" marT="70639" marB="70639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0737547"/>
                  </a:ext>
                </a:extLst>
              </a:tr>
              <a:tr h="350682">
                <a:tc>
                  <a:txBody>
                    <a:bodyPr/>
                    <a:lstStyle/>
                    <a:p>
                      <a:pPr algn="ctr" fontAlgn="t"/>
                      <a:r>
                        <a:rPr lang="en-IN" sz="1700" dirty="0">
                          <a:solidFill>
                            <a:srgbClr val="222222"/>
                          </a:solidFill>
                          <a:effectLst/>
                        </a:rPr>
                        <a:t>1</a:t>
                      </a:r>
                    </a:p>
                  </a:txBody>
                  <a:tcPr marL="70639" marR="70639" marT="70639" marB="70639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700" dirty="0">
                          <a:solidFill>
                            <a:srgbClr val="222222"/>
                          </a:solidFill>
                          <a:effectLst/>
                        </a:rPr>
                        <a:t>Samsung</a:t>
                      </a:r>
                    </a:p>
                  </a:txBody>
                  <a:tcPr marL="70639" marR="70639" marT="70639" marB="70639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9369056"/>
                  </a:ext>
                </a:extLst>
              </a:tr>
              <a:tr h="350682">
                <a:tc>
                  <a:txBody>
                    <a:bodyPr/>
                    <a:lstStyle/>
                    <a:p>
                      <a:pPr algn="ctr" fontAlgn="t"/>
                      <a:r>
                        <a:rPr lang="en-IN" sz="1700">
                          <a:solidFill>
                            <a:srgbClr val="222222"/>
                          </a:solidFill>
                          <a:effectLst/>
                        </a:rPr>
                        <a:t>2</a:t>
                      </a:r>
                    </a:p>
                  </a:txBody>
                  <a:tcPr marL="70639" marR="70639" marT="70639" marB="70639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700" dirty="0">
                          <a:solidFill>
                            <a:srgbClr val="222222"/>
                          </a:solidFill>
                          <a:effectLst/>
                        </a:rPr>
                        <a:t>LG</a:t>
                      </a:r>
                    </a:p>
                  </a:txBody>
                  <a:tcPr marL="70639" marR="70639" marT="70639" marB="70639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3106856"/>
                  </a:ext>
                </a:extLst>
              </a:tr>
              <a:tr h="350682">
                <a:tc>
                  <a:txBody>
                    <a:bodyPr/>
                    <a:lstStyle/>
                    <a:p>
                      <a:pPr algn="ctr" fontAlgn="t"/>
                      <a:r>
                        <a:rPr lang="en-IN" sz="1700" dirty="0">
                          <a:solidFill>
                            <a:srgbClr val="222222"/>
                          </a:solidFill>
                          <a:effectLst/>
                        </a:rPr>
                        <a:t>3</a:t>
                      </a:r>
                    </a:p>
                  </a:txBody>
                  <a:tcPr marL="70639" marR="70639" marT="70639" marB="70639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700" dirty="0" smtClean="0">
                          <a:solidFill>
                            <a:srgbClr val="222222"/>
                          </a:solidFill>
                          <a:effectLst/>
                        </a:rPr>
                        <a:t>HP</a:t>
                      </a:r>
                      <a:endParaRPr lang="en-IN" sz="1700" dirty="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70639" marR="70639" marT="70639" marB="70639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6591847"/>
                  </a:ext>
                </a:extLst>
              </a:tr>
              <a:tr h="350682">
                <a:tc>
                  <a:txBody>
                    <a:bodyPr/>
                    <a:lstStyle/>
                    <a:p>
                      <a:pPr algn="ctr" fontAlgn="t"/>
                      <a:r>
                        <a:rPr lang="en-IN" sz="1700" dirty="0">
                          <a:solidFill>
                            <a:srgbClr val="222222"/>
                          </a:solidFill>
                          <a:effectLst/>
                        </a:rPr>
                        <a:t>5</a:t>
                      </a:r>
                    </a:p>
                  </a:txBody>
                  <a:tcPr marL="70639" marR="70639" marT="70639" marB="70639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700" dirty="0">
                          <a:solidFill>
                            <a:srgbClr val="222222"/>
                          </a:solidFill>
                          <a:effectLst/>
                        </a:rPr>
                        <a:t>Dell</a:t>
                      </a:r>
                    </a:p>
                  </a:txBody>
                  <a:tcPr marL="70639" marR="70639" marT="70639" marB="70639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9631318"/>
                  </a:ext>
                </a:extLst>
              </a:tr>
              <a:tr h="350682">
                <a:tc>
                  <a:txBody>
                    <a:bodyPr/>
                    <a:lstStyle/>
                    <a:p>
                      <a:pPr algn="ctr" fontAlgn="t"/>
                      <a:r>
                        <a:rPr lang="en-IN" sz="1700" dirty="0">
                          <a:solidFill>
                            <a:srgbClr val="222222"/>
                          </a:solidFill>
                          <a:effectLst/>
                        </a:rPr>
                        <a:t>6</a:t>
                      </a:r>
                    </a:p>
                  </a:txBody>
                  <a:tcPr marL="70639" marR="70639" marT="70639" marB="70639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700" dirty="0">
                          <a:solidFill>
                            <a:srgbClr val="222222"/>
                          </a:solidFill>
                          <a:effectLst/>
                        </a:rPr>
                        <a:t>Apple</a:t>
                      </a:r>
                    </a:p>
                  </a:txBody>
                  <a:tcPr marL="70639" marR="70639" marT="70639" marB="70639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3393653"/>
                  </a:ext>
                </a:extLst>
              </a:tr>
              <a:tr h="350682">
                <a:tc>
                  <a:txBody>
                    <a:bodyPr/>
                    <a:lstStyle/>
                    <a:p>
                      <a:pPr algn="ctr" fontAlgn="t"/>
                      <a:r>
                        <a:rPr lang="en-IN" sz="1700" dirty="0">
                          <a:solidFill>
                            <a:srgbClr val="222222"/>
                          </a:solidFill>
                          <a:effectLst/>
                        </a:rPr>
                        <a:t>10</a:t>
                      </a:r>
                    </a:p>
                  </a:txBody>
                  <a:tcPr marL="70639" marR="70639" marT="70639" marB="70639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700" dirty="0">
                          <a:solidFill>
                            <a:srgbClr val="222222"/>
                          </a:solidFill>
                          <a:effectLst/>
                        </a:rPr>
                        <a:t>Playstation</a:t>
                      </a:r>
                    </a:p>
                  </a:txBody>
                  <a:tcPr marL="70639" marR="70639" marT="70639" marB="70639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2106657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80606" y="4117577"/>
            <a:ext cx="5165863" cy="25237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000" b="1" dirty="0" smtClean="0">
                <a:cs typeface="Arial" panose="020B0604020202020204" pitchFamily="34" charset="0"/>
              </a:rPr>
              <a:t>e.g</a:t>
            </a:r>
            <a:r>
              <a:rPr lang="en-IN" sz="2000" b="1" dirty="0" smtClean="0">
                <a:cs typeface="Arial" panose="020B0604020202020204" pitchFamily="34" charset="0"/>
              </a:rPr>
              <a:t>.,</a:t>
            </a:r>
          </a:p>
          <a:p>
            <a:endParaRPr lang="en-IN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product_name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FROM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product1 </a:t>
            </a:r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UNION </a:t>
            </a:r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product_name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product2;</a:t>
            </a:r>
            <a:endParaRPr lang="en-IN" sz="22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2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535930" y="1502406"/>
            <a:ext cx="1132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Product1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6466252" y="1491331"/>
            <a:ext cx="1132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Product2</a:t>
            </a:r>
            <a:endParaRPr lang="en-IN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250564"/>
              </p:ext>
            </p:extLst>
          </p:nvPr>
        </p:nvGraphicFramePr>
        <p:xfrm>
          <a:off x="10150452" y="3164100"/>
          <a:ext cx="1668704" cy="35562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68704">
                  <a:extLst>
                    <a:ext uri="{9D8B030D-6E8A-4147-A177-3AD203B41FA5}">
                      <a16:colId xmlns:a16="http://schemas.microsoft.com/office/drawing/2014/main" val="3417445880"/>
                    </a:ext>
                  </a:extLst>
                </a:gridCol>
              </a:tblGrid>
              <a:tr h="309126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PRODUCT_NAME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818056"/>
                  </a:ext>
                </a:extLst>
              </a:tr>
              <a:tr h="309126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Nokia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4097388"/>
                  </a:ext>
                </a:extLst>
              </a:tr>
              <a:tr h="309126">
                <a:tc>
                  <a:txBody>
                    <a:bodyPr/>
                    <a:lstStyle/>
                    <a:p>
                      <a:pPr algn="ctr" fontAlgn="t"/>
                      <a:r>
                        <a:rPr lang="en-IN" sz="1700" dirty="0">
                          <a:solidFill>
                            <a:srgbClr val="222222"/>
                          </a:solidFill>
                          <a:effectLst/>
                        </a:rPr>
                        <a:t>Samsung</a:t>
                      </a:r>
                    </a:p>
                  </a:txBody>
                  <a:tcPr marL="70639" marR="70639" marT="70639" marB="70639"/>
                </a:tc>
                <a:extLst>
                  <a:ext uri="{0D108BD9-81ED-4DB2-BD59-A6C34878D82A}">
                    <a16:rowId xmlns:a16="http://schemas.microsoft.com/office/drawing/2014/main" val="3899348333"/>
                  </a:ext>
                </a:extLst>
              </a:tr>
              <a:tr h="309126">
                <a:tc>
                  <a:txBody>
                    <a:bodyPr/>
                    <a:lstStyle/>
                    <a:p>
                      <a:pPr algn="ctr" fontAlgn="t"/>
                      <a:r>
                        <a:rPr lang="en-IN" dirty="0">
                          <a:solidFill>
                            <a:srgbClr val="222222"/>
                          </a:solidFill>
                          <a:effectLst/>
                        </a:rPr>
                        <a:t>HP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741772748"/>
                  </a:ext>
                </a:extLst>
              </a:tr>
              <a:tr h="309126">
                <a:tc>
                  <a:txBody>
                    <a:bodyPr/>
                    <a:lstStyle/>
                    <a:p>
                      <a:pPr algn="ctr" fontAlgn="t"/>
                      <a:r>
                        <a:rPr lang="en-IN" dirty="0">
                          <a:solidFill>
                            <a:srgbClr val="222222"/>
                          </a:solidFill>
                          <a:effectLst/>
                        </a:rPr>
                        <a:t>Nikon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681123950"/>
                  </a:ext>
                </a:extLst>
              </a:tr>
              <a:tr h="309126">
                <a:tc>
                  <a:txBody>
                    <a:bodyPr/>
                    <a:lstStyle/>
                    <a:p>
                      <a:pPr algn="ctr" fontAlgn="t"/>
                      <a:r>
                        <a:rPr lang="en-US" sz="1700" dirty="0" smtClean="0">
                          <a:solidFill>
                            <a:srgbClr val="222222"/>
                          </a:solidFill>
                          <a:effectLst/>
                        </a:rPr>
                        <a:t>LG</a:t>
                      </a:r>
                      <a:endParaRPr lang="en-IN" sz="1700" dirty="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70639" marR="70639" marT="70639" marB="70639"/>
                </a:tc>
                <a:extLst>
                  <a:ext uri="{0D108BD9-81ED-4DB2-BD59-A6C34878D82A}">
                    <a16:rowId xmlns:a16="http://schemas.microsoft.com/office/drawing/2014/main" val="966083441"/>
                  </a:ext>
                </a:extLst>
              </a:tr>
              <a:tr h="309126">
                <a:tc>
                  <a:txBody>
                    <a:bodyPr/>
                    <a:lstStyle/>
                    <a:p>
                      <a:pPr algn="ctr" fontAlgn="t"/>
                      <a:r>
                        <a:rPr lang="en-IN" sz="1700" dirty="0">
                          <a:solidFill>
                            <a:srgbClr val="222222"/>
                          </a:solidFill>
                          <a:effectLst/>
                        </a:rPr>
                        <a:t>Dell</a:t>
                      </a:r>
                    </a:p>
                  </a:txBody>
                  <a:tcPr marL="70639" marR="70639" marT="70639" marB="70639"/>
                </a:tc>
                <a:extLst>
                  <a:ext uri="{0D108BD9-81ED-4DB2-BD59-A6C34878D82A}">
                    <a16:rowId xmlns:a16="http://schemas.microsoft.com/office/drawing/2014/main" val="3073011452"/>
                  </a:ext>
                </a:extLst>
              </a:tr>
              <a:tr h="309126">
                <a:tc>
                  <a:txBody>
                    <a:bodyPr/>
                    <a:lstStyle/>
                    <a:p>
                      <a:pPr algn="ctr" fontAlgn="t"/>
                      <a:r>
                        <a:rPr lang="en-IN" sz="1700" dirty="0">
                          <a:solidFill>
                            <a:srgbClr val="222222"/>
                          </a:solidFill>
                          <a:effectLst/>
                        </a:rPr>
                        <a:t>Apple</a:t>
                      </a:r>
                    </a:p>
                  </a:txBody>
                  <a:tcPr marL="70639" marR="70639" marT="70639" marB="70639"/>
                </a:tc>
                <a:extLst>
                  <a:ext uri="{0D108BD9-81ED-4DB2-BD59-A6C34878D82A}">
                    <a16:rowId xmlns:a16="http://schemas.microsoft.com/office/drawing/2014/main" val="2353872470"/>
                  </a:ext>
                </a:extLst>
              </a:tr>
              <a:tr h="309126">
                <a:tc>
                  <a:txBody>
                    <a:bodyPr/>
                    <a:lstStyle/>
                    <a:p>
                      <a:pPr algn="ctr" fontAlgn="t"/>
                      <a:r>
                        <a:rPr lang="en-IN" sz="1700" dirty="0">
                          <a:solidFill>
                            <a:srgbClr val="222222"/>
                          </a:solidFill>
                          <a:effectLst/>
                        </a:rPr>
                        <a:t>Playstation</a:t>
                      </a:r>
                    </a:p>
                  </a:txBody>
                  <a:tcPr marL="70639" marR="70639" marT="70639" marB="70639"/>
                </a:tc>
                <a:extLst>
                  <a:ext uri="{0D108BD9-81ED-4DB2-BD59-A6C34878D82A}">
                    <a16:rowId xmlns:a16="http://schemas.microsoft.com/office/drawing/2014/main" val="4214831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0612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87659" y="2944420"/>
            <a:ext cx="9055100" cy="734291"/>
          </a:xfrm>
        </p:spPr>
        <p:txBody>
          <a:bodyPr>
            <a:normAutofit/>
          </a:bodyPr>
          <a:lstStyle/>
          <a:p>
            <a:pPr algn="ctr"/>
            <a:r>
              <a:rPr lang="en-IN" dirty="0" smtClean="0"/>
              <a:t>SQL Joins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541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SQL JOINS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75EB18E-7DE0-462F-925E-B153ED663F68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80618" y="1494724"/>
            <a:ext cx="7248126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cs typeface="Arial" panose="020B0604020202020204" pitchFamily="34" charset="0"/>
              </a:rPr>
              <a:t>Combine </a:t>
            </a:r>
            <a:r>
              <a:rPr lang="en-US" sz="2000" dirty="0">
                <a:cs typeface="Arial" panose="020B0604020202020204" pitchFamily="34" charset="0"/>
              </a:rPr>
              <a:t>rows from two or more tables, based on a related column between them</a:t>
            </a:r>
            <a:r>
              <a:rPr lang="en-US" sz="2000" dirty="0" smtClean="0">
                <a:cs typeface="Arial" panose="020B0604020202020204" pitchFamily="34" charset="0"/>
              </a:rPr>
              <a:t>.</a:t>
            </a:r>
          </a:p>
          <a:p>
            <a:endParaRPr lang="en-US" sz="2000" dirty="0" smtClean="0">
              <a:cs typeface="Arial" panose="020B0604020202020204" pitchFamily="34" charset="0"/>
            </a:endParaRPr>
          </a:p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b="1" dirty="0">
                <a:cs typeface="Arial" panose="020B0604020202020204" pitchFamily="34" charset="0"/>
              </a:rPr>
              <a:t>INNER JOIN</a:t>
            </a:r>
            <a:r>
              <a:rPr lang="en-US" sz="2000" dirty="0">
                <a:cs typeface="Arial" panose="020B0604020202020204" pitchFamily="34" charset="0"/>
              </a:rPr>
              <a:t> − </a:t>
            </a:r>
            <a:r>
              <a:rPr lang="en-US" sz="2000" dirty="0" smtClean="0">
                <a:cs typeface="Arial" panose="020B0604020202020204" pitchFamily="34" charset="0"/>
              </a:rPr>
              <a:t>Returns </a:t>
            </a:r>
            <a:r>
              <a:rPr lang="en-US" sz="2000" dirty="0">
                <a:cs typeface="Arial" panose="020B0604020202020204" pitchFamily="34" charset="0"/>
              </a:rPr>
              <a:t>rows when there is a match in both tables</a:t>
            </a:r>
            <a:r>
              <a:rPr lang="en-US" sz="2000" dirty="0" smtClean="0">
                <a:cs typeface="Arial" panose="020B0604020202020204" pitchFamily="34" charset="0"/>
              </a:rPr>
              <a:t>.</a:t>
            </a:r>
          </a:p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Ø"/>
            </a:pPr>
            <a:endParaRPr lang="en-US" sz="2000" dirty="0">
              <a:cs typeface="Arial" panose="020B0604020202020204" pitchFamily="34" charset="0"/>
            </a:endParaRPr>
          </a:p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Ø"/>
            </a:pPr>
            <a:endParaRPr lang="en-US" sz="2000" dirty="0" smtClean="0">
              <a:cs typeface="Arial" panose="020B0604020202020204" pitchFamily="34" charset="0"/>
            </a:endParaRPr>
          </a:p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Ø"/>
            </a:pPr>
            <a:endParaRPr lang="en-US" sz="2000" dirty="0">
              <a:cs typeface="Arial" panose="020B0604020202020204" pitchFamily="34" charset="0"/>
            </a:endParaRPr>
          </a:p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b="1" dirty="0">
                <a:cs typeface="Arial" panose="020B0604020202020204" pitchFamily="34" charset="0"/>
              </a:rPr>
              <a:t>LEFT JOIN</a:t>
            </a:r>
            <a:r>
              <a:rPr lang="en-US" sz="2000" dirty="0">
                <a:cs typeface="Arial" panose="020B0604020202020204" pitchFamily="34" charset="0"/>
              </a:rPr>
              <a:t> − </a:t>
            </a:r>
            <a:r>
              <a:rPr lang="en-US" sz="2000" dirty="0" smtClean="0">
                <a:cs typeface="Arial" panose="020B0604020202020204" pitchFamily="34" charset="0"/>
              </a:rPr>
              <a:t>Returns </a:t>
            </a:r>
            <a:r>
              <a:rPr lang="en-US" sz="2000" dirty="0">
                <a:cs typeface="Arial" panose="020B0604020202020204" pitchFamily="34" charset="0"/>
              </a:rPr>
              <a:t>all rows from the left table, even if there are no matches in the right table</a:t>
            </a:r>
            <a:r>
              <a:rPr lang="en-US" sz="2000" dirty="0" smtClean="0">
                <a:cs typeface="Arial" panose="020B0604020202020204" pitchFamily="34" charset="0"/>
              </a:rPr>
              <a:t>.</a:t>
            </a:r>
          </a:p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Ø"/>
            </a:pPr>
            <a:endParaRPr lang="en-US" sz="2000" dirty="0" smtClean="0">
              <a:cs typeface="Arial" panose="020B0604020202020204" pitchFamily="34" charset="0"/>
            </a:endParaRPr>
          </a:p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Ø"/>
            </a:pPr>
            <a:endParaRPr lang="en-US" sz="2000" dirty="0">
              <a:cs typeface="Arial" panose="020B0604020202020204" pitchFamily="34" charset="0"/>
            </a:endParaRPr>
          </a:p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Ø"/>
            </a:pPr>
            <a:endParaRPr lang="en-US" sz="2000" dirty="0">
              <a:cs typeface="Arial" panose="020B0604020202020204" pitchFamily="34" charset="0"/>
            </a:endParaRPr>
          </a:p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b="1" dirty="0">
                <a:cs typeface="Arial" panose="020B0604020202020204" pitchFamily="34" charset="0"/>
              </a:rPr>
              <a:t>RIGHT JOIN</a:t>
            </a:r>
            <a:r>
              <a:rPr lang="en-US" sz="2000" dirty="0">
                <a:cs typeface="Arial" panose="020B0604020202020204" pitchFamily="34" charset="0"/>
              </a:rPr>
              <a:t> − </a:t>
            </a:r>
            <a:r>
              <a:rPr lang="en-US" sz="2000" dirty="0" smtClean="0">
                <a:cs typeface="Arial" panose="020B0604020202020204" pitchFamily="34" charset="0"/>
              </a:rPr>
              <a:t>Returns </a:t>
            </a:r>
            <a:r>
              <a:rPr lang="en-US" sz="2000" dirty="0">
                <a:cs typeface="Arial" panose="020B0604020202020204" pitchFamily="34" charset="0"/>
              </a:rPr>
              <a:t>all rows from the right table, even if there are no matches in the left table</a:t>
            </a:r>
            <a:r>
              <a:rPr lang="en-US" sz="2000" dirty="0" smtClean="0">
                <a:cs typeface="Arial" panose="020B0604020202020204" pitchFamily="34" charset="0"/>
              </a:rPr>
              <a:t>.</a:t>
            </a:r>
            <a:endParaRPr lang="en-US" sz="2000" dirty="0">
              <a:cs typeface="Arial" panose="020B0604020202020204" pitchFamily="34" charset="0"/>
            </a:endParaRPr>
          </a:p>
        </p:txBody>
      </p:sp>
      <p:sp>
        <p:nvSpPr>
          <p:cNvPr id="3" name="Oval 2"/>
          <p:cNvSpPr/>
          <p:nvPr/>
        </p:nvSpPr>
        <p:spPr>
          <a:xfrm>
            <a:off x="8593396" y="2101399"/>
            <a:ext cx="1130300" cy="1130300"/>
          </a:xfrm>
          <a:prstGeom prst="ellipse">
            <a:avLst/>
          </a:prstGeom>
          <a:solidFill>
            <a:schemeClr val="bg1">
              <a:lumMod val="75000"/>
              <a:alpha val="42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/>
          <p:cNvSpPr/>
          <p:nvPr/>
        </p:nvSpPr>
        <p:spPr>
          <a:xfrm>
            <a:off x="9206059" y="2101399"/>
            <a:ext cx="1130300" cy="1130300"/>
          </a:xfrm>
          <a:prstGeom prst="ellipse">
            <a:avLst/>
          </a:prstGeom>
          <a:solidFill>
            <a:schemeClr val="bg1">
              <a:lumMod val="65000"/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/>
          <p:cNvSpPr/>
          <p:nvPr/>
        </p:nvSpPr>
        <p:spPr>
          <a:xfrm>
            <a:off x="9206059" y="3480256"/>
            <a:ext cx="1130300" cy="1130300"/>
          </a:xfrm>
          <a:prstGeom prst="ellipse">
            <a:avLst/>
          </a:prstGeom>
          <a:solidFill>
            <a:schemeClr val="bg1">
              <a:lumMod val="65000"/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/>
          <p:cNvSpPr/>
          <p:nvPr/>
        </p:nvSpPr>
        <p:spPr>
          <a:xfrm>
            <a:off x="8593396" y="3480256"/>
            <a:ext cx="1130300" cy="1130300"/>
          </a:xfrm>
          <a:prstGeom prst="ellipse">
            <a:avLst/>
          </a:prstGeom>
          <a:solidFill>
            <a:schemeClr val="accent1">
              <a:lumMod val="75000"/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/>
          <p:cNvSpPr/>
          <p:nvPr/>
        </p:nvSpPr>
        <p:spPr>
          <a:xfrm>
            <a:off x="8593396" y="4874643"/>
            <a:ext cx="1130300" cy="1130300"/>
          </a:xfrm>
          <a:prstGeom prst="ellipse">
            <a:avLst/>
          </a:prstGeom>
          <a:solidFill>
            <a:schemeClr val="bg1">
              <a:lumMod val="65000"/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Oval 15"/>
          <p:cNvSpPr/>
          <p:nvPr/>
        </p:nvSpPr>
        <p:spPr>
          <a:xfrm>
            <a:off x="9206059" y="4874643"/>
            <a:ext cx="1130300" cy="1130300"/>
          </a:xfrm>
          <a:prstGeom prst="ellipse">
            <a:avLst/>
          </a:prstGeom>
          <a:solidFill>
            <a:schemeClr val="accent1">
              <a:lumMod val="75000"/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/>
          <p:cNvSpPr txBox="1"/>
          <p:nvPr/>
        </p:nvSpPr>
        <p:spPr>
          <a:xfrm flipH="1">
            <a:off x="10634135" y="1578133"/>
            <a:ext cx="719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A ∩ B</a:t>
            </a:r>
            <a:endParaRPr lang="en-IN" b="1" dirty="0"/>
          </a:p>
        </p:txBody>
      </p:sp>
      <p:sp>
        <p:nvSpPr>
          <p:cNvPr id="17" name="TextBox 16"/>
          <p:cNvSpPr txBox="1"/>
          <p:nvPr/>
        </p:nvSpPr>
        <p:spPr>
          <a:xfrm flipH="1">
            <a:off x="8560545" y="2419453"/>
            <a:ext cx="7197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Table </a:t>
            </a:r>
          </a:p>
          <a:p>
            <a:pPr algn="ctr"/>
            <a:r>
              <a:rPr lang="en-US" sz="1400" dirty="0" smtClean="0"/>
              <a:t>A</a:t>
            </a:r>
            <a:endParaRPr lang="en-IN" sz="1400" dirty="0"/>
          </a:p>
        </p:txBody>
      </p:sp>
      <p:sp>
        <p:nvSpPr>
          <p:cNvPr id="18" name="TextBox 17"/>
          <p:cNvSpPr txBox="1"/>
          <p:nvPr/>
        </p:nvSpPr>
        <p:spPr>
          <a:xfrm flipH="1">
            <a:off x="9670155" y="2419453"/>
            <a:ext cx="7197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Table </a:t>
            </a:r>
          </a:p>
          <a:p>
            <a:pPr algn="ctr"/>
            <a:r>
              <a:rPr lang="en-US" sz="1400" dirty="0" smtClean="0"/>
              <a:t>B</a:t>
            </a:r>
            <a:endParaRPr lang="en-IN" sz="1400" dirty="0"/>
          </a:p>
        </p:txBody>
      </p:sp>
      <p:cxnSp>
        <p:nvCxnSpPr>
          <p:cNvPr id="19" name="Straight Arrow Connector 18"/>
          <p:cNvCxnSpPr/>
          <p:nvPr/>
        </p:nvCxnSpPr>
        <p:spPr>
          <a:xfrm flipH="1">
            <a:off x="9683346" y="1807704"/>
            <a:ext cx="1001499" cy="5668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 flipH="1">
            <a:off x="8560545" y="3812825"/>
            <a:ext cx="7197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Table </a:t>
            </a:r>
          </a:p>
          <a:p>
            <a:pPr algn="ctr"/>
            <a:r>
              <a:rPr lang="en-US" sz="1400" dirty="0" smtClean="0"/>
              <a:t>A</a:t>
            </a:r>
            <a:endParaRPr lang="en-IN" sz="1400" dirty="0"/>
          </a:p>
        </p:txBody>
      </p:sp>
      <p:sp>
        <p:nvSpPr>
          <p:cNvPr id="21" name="TextBox 20"/>
          <p:cNvSpPr txBox="1"/>
          <p:nvPr/>
        </p:nvSpPr>
        <p:spPr>
          <a:xfrm flipH="1">
            <a:off x="9670155" y="3812825"/>
            <a:ext cx="7197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Table </a:t>
            </a:r>
          </a:p>
          <a:p>
            <a:pPr algn="ctr"/>
            <a:r>
              <a:rPr lang="en-US" sz="1400" dirty="0" smtClean="0"/>
              <a:t>B</a:t>
            </a:r>
            <a:endParaRPr lang="en-IN" sz="1400" dirty="0"/>
          </a:p>
        </p:txBody>
      </p:sp>
      <p:sp>
        <p:nvSpPr>
          <p:cNvPr id="22" name="TextBox 21"/>
          <p:cNvSpPr txBox="1"/>
          <p:nvPr/>
        </p:nvSpPr>
        <p:spPr>
          <a:xfrm flipH="1">
            <a:off x="8560545" y="5219098"/>
            <a:ext cx="7197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Table </a:t>
            </a:r>
          </a:p>
          <a:p>
            <a:pPr algn="ctr"/>
            <a:r>
              <a:rPr lang="en-US" sz="1400" dirty="0" smtClean="0"/>
              <a:t>A</a:t>
            </a:r>
            <a:endParaRPr lang="en-IN" sz="1400" dirty="0"/>
          </a:p>
        </p:txBody>
      </p:sp>
      <p:sp>
        <p:nvSpPr>
          <p:cNvPr id="23" name="TextBox 22"/>
          <p:cNvSpPr txBox="1"/>
          <p:nvPr/>
        </p:nvSpPr>
        <p:spPr>
          <a:xfrm flipH="1">
            <a:off x="9670155" y="5219098"/>
            <a:ext cx="7197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Table </a:t>
            </a:r>
          </a:p>
          <a:p>
            <a:pPr algn="ctr"/>
            <a:r>
              <a:rPr lang="en-US" sz="1400" dirty="0" smtClean="0"/>
              <a:t>B</a:t>
            </a:r>
            <a:endParaRPr lang="en-IN" sz="1400" dirty="0"/>
          </a:p>
        </p:txBody>
      </p:sp>
      <p:sp>
        <p:nvSpPr>
          <p:cNvPr id="24" name="TextBox 23"/>
          <p:cNvSpPr txBox="1"/>
          <p:nvPr/>
        </p:nvSpPr>
        <p:spPr>
          <a:xfrm flipH="1">
            <a:off x="10479326" y="3001994"/>
            <a:ext cx="1475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(A ∩ B) U A</a:t>
            </a:r>
            <a:endParaRPr lang="en-IN" b="1" dirty="0"/>
          </a:p>
        </p:txBody>
      </p:sp>
      <p:cxnSp>
        <p:nvCxnSpPr>
          <p:cNvPr id="25" name="Straight Arrow Connector 24"/>
          <p:cNvCxnSpPr>
            <a:stCxn id="24" idx="3"/>
          </p:cNvCxnSpPr>
          <p:nvPr/>
        </p:nvCxnSpPr>
        <p:spPr>
          <a:xfrm flipH="1">
            <a:off x="9477832" y="3186660"/>
            <a:ext cx="1001494" cy="5668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 flipH="1">
            <a:off x="10479327" y="4575255"/>
            <a:ext cx="1475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(A ∩ B) U B</a:t>
            </a:r>
            <a:endParaRPr lang="en-IN" b="1" dirty="0"/>
          </a:p>
        </p:txBody>
      </p:sp>
      <p:cxnSp>
        <p:nvCxnSpPr>
          <p:cNvPr id="27" name="Straight Arrow Connector 26"/>
          <p:cNvCxnSpPr>
            <a:stCxn id="26" idx="3"/>
          </p:cNvCxnSpPr>
          <p:nvPr/>
        </p:nvCxnSpPr>
        <p:spPr>
          <a:xfrm flipH="1">
            <a:off x="9477831" y="4759921"/>
            <a:ext cx="1001496" cy="5668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9196517" y="2215404"/>
            <a:ext cx="557412" cy="9022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1337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2" grpId="0" animBg="1"/>
      <p:bldP spid="14" grpId="0" animBg="1"/>
      <p:bldP spid="13" grpId="0" animBg="1"/>
      <p:bldP spid="15" grpId="0" animBg="1"/>
      <p:bldP spid="16" grpId="0" animBg="1"/>
      <p:bldP spid="4" grpId="0"/>
      <p:bldP spid="17" grpId="0"/>
      <p:bldP spid="18" grpId="0"/>
      <p:bldP spid="20" grpId="0"/>
      <p:bldP spid="21" grpId="0"/>
      <p:bldP spid="22" grpId="0"/>
      <p:bldP spid="23" grpId="0"/>
      <p:bldP spid="24" grpId="0"/>
      <p:bldP spid="26" grpId="0"/>
      <p:bldP spid="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ounded Rectangle 27"/>
          <p:cNvSpPr/>
          <p:nvPr/>
        </p:nvSpPr>
        <p:spPr>
          <a:xfrm>
            <a:off x="8345714" y="1432047"/>
            <a:ext cx="2044186" cy="1131994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SQL JOINS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75EB18E-7DE0-462F-925E-B153ED663F68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80618" y="1498168"/>
            <a:ext cx="6271346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b="1" dirty="0">
                <a:cs typeface="Arial" panose="020B0604020202020204" pitchFamily="34" charset="0"/>
              </a:rPr>
              <a:t>FULL </a:t>
            </a:r>
            <a:r>
              <a:rPr lang="en-US" sz="2000" b="1" dirty="0" smtClean="0">
                <a:cs typeface="Arial" panose="020B0604020202020204" pitchFamily="34" charset="0"/>
              </a:rPr>
              <a:t>OUTER JOIN</a:t>
            </a:r>
            <a:r>
              <a:rPr lang="en-US" sz="2000" dirty="0" smtClean="0">
                <a:cs typeface="Arial" panose="020B0604020202020204" pitchFamily="34" charset="0"/>
              </a:rPr>
              <a:t> </a:t>
            </a:r>
            <a:r>
              <a:rPr lang="en-US" sz="2000" dirty="0">
                <a:cs typeface="Arial" panose="020B0604020202020204" pitchFamily="34" charset="0"/>
              </a:rPr>
              <a:t>− </a:t>
            </a:r>
            <a:r>
              <a:rPr lang="en-US" sz="2000" dirty="0" smtClean="0">
                <a:cs typeface="Arial" panose="020B0604020202020204" pitchFamily="34" charset="0"/>
              </a:rPr>
              <a:t>Returns </a:t>
            </a:r>
            <a:r>
              <a:rPr lang="en-US" sz="2000" dirty="0">
                <a:cs typeface="Arial" panose="020B0604020202020204" pitchFamily="34" charset="0"/>
              </a:rPr>
              <a:t>rows when there is a match in one of the tables.</a:t>
            </a:r>
          </a:p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2000" dirty="0" smtClean="0">
              <a:cs typeface="Arial" panose="020B0604020202020204" pitchFamily="34" charset="0"/>
            </a:endParaRPr>
          </a:p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2000" dirty="0" smtClean="0">
              <a:cs typeface="Arial" panose="020B0604020202020204" pitchFamily="34" charset="0"/>
            </a:endParaRPr>
          </a:p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2000" dirty="0" smtClean="0">
              <a:cs typeface="Arial" panose="020B0604020202020204" pitchFamily="34" charset="0"/>
            </a:endParaRPr>
          </a:p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b="1" dirty="0" smtClean="0">
                <a:cs typeface="Arial" panose="020B0604020202020204" pitchFamily="34" charset="0"/>
              </a:rPr>
              <a:t>SELF </a:t>
            </a:r>
            <a:r>
              <a:rPr lang="en-US" sz="2000" b="1" dirty="0">
                <a:cs typeface="Arial" panose="020B0604020202020204" pitchFamily="34" charset="0"/>
              </a:rPr>
              <a:t>JOIN</a:t>
            </a:r>
            <a:r>
              <a:rPr lang="en-US" sz="2000" dirty="0">
                <a:cs typeface="Arial" panose="020B0604020202020204" pitchFamily="34" charset="0"/>
              </a:rPr>
              <a:t> − U</a:t>
            </a:r>
            <a:r>
              <a:rPr lang="en-US" sz="2000" dirty="0" smtClean="0">
                <a:cs typeface="Arial" panose="020B0604020202020204" pitchFamily="34" charset="0"/>
              </a:rPr>
              <a:t>sed </a:t>
            </a:r>
            <a:r>
              <a:rPr lang="en-US" sz="2000" dirty="0">
                <a:cs typeface="Arial" panose="020B0604020202020204" pitchFamily="34" charset="0"/>
              </a:rPr>
              <a:t>to join a table to itself as if the table were two tables, temporarily renaming at least one table in the SQL statement</a:t>
            </a:r>
            <a:r>
              <a:rPr lang="en-US" sz="2000" dirty="0" smtClean="0">
                <a:cs typeface="Arial" panose="020B0604020202020204" pitchFamily="34" charset="0"/>
              </a:rPr>
              <a:t>.</a:t>
            </a:r>
          </a:p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2000" dirty="0">
              <a:cs typeface="Arial" panose="020B0604020202020204" pitchFamily="34" charset="0"/>
            </a:endParaRPr>
          </a:p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2000" dirty="0">
              <a:cs typeface="Arial" panose="020B0604020202020204" pitchFamily="34" charset="0"/>
            </a:endParaRPr>
          </a:p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2000" dirty="0">
              <a:cs typeface="Arial" panose="020B0604020202020204" pitchFamily="34" charset="0"/>
            </a:endParaRPr>
          </a:p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b="1" dirty="0">
                <a:cs typeface="Arial" panose="020B0604020202020204" pitchFamily="34" charset="0"/>
              </a:rPr>
              <a:t>CARTESIAN </a:t>
            </a:r>
            <a:r>
              <a:rPr lang="en-US" sz="2000" b="1" dirty="0" smtClean="0">
                <a:cs typeface="Arial" panose="020B0604020202020204" pitchFamily="34" charset="0"/>
              </a:rPr>
              <a:t>JOIN (CROSS JOIN)</a:t>
            </a:r>
            <a:r>
              <a:rPr lang="en-US" sz="2000" dirty="0" smtClean="0">
                <a:cs typeface="Arial" panose="020B0604020202020204" pitchFamily="34" charset="0"/>
              </a:rPr>
              <a:t> </a:t>
            </a:r>
            <a:r>
              <a:rPr lang="en-US" sz="2000" dirty="0">
                <a:cs typeface="Arial" panose="020B0604020202020204" pitchFamily="34" charset="0"/>
              </a:rPr>
              <a:t>− </a:t>
            </a:r>
            <a:r>
              <a:rPr lang="en-US" sz="2000" dirty="0" smtClean="0">
                <a:cs typeface="Arial" panose="020B0604020202020204" pitchFamily="34" charset="0"/>
              </a:rPr>
              <a:t>Returns </a:t>
            </a:r>
            <a:r>
              <a:rPr lang="en-US" sz="2000" dirty="0">
                <a:cs typeface="Arial" panose="020B0604020202020204" pitchFamily="34" charset="0"/>
              </a:rPr>
              <a:t>the Cartesian product of the sets of records from the two or more joined tables.</a:t>
            </a:r>
            <a:endParaRPr lang="en-US" sz="2000" dirty="0" smtClean="0"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44" r="40528" b="20151"/>
          <a:stretch/>
        </p:blipFill>
        <p:spPr>
          <a:xfrm>
            <a:off x="9189731" y="4656242"/>
            <a:ext cx="725714" cy="1419005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8593396" y="1433741"/>
            <a:ext cx="1130300" cy="1130300"/>
          </a:xfrm>
          <a:prstGeom prst="ellipse">
            <a:avLst/>
          </a:prstGeom>
          <a:solidFill>
            <a:schemeClr val="accent1">
              <a:lumMod val="75000"/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/>
          <p:cNvSpPr/>
          <p:nvPr/>
        </p:nvSpPr>
        <p:spPr>
          <a:xfrm>
            <a:off x="9206059" y="1433741"/>
            <a:ext cx="1130300" cy="1130300"/>
          </a:xfrm>
          <a:prstGeom prst="ellipse">
            <a:avLst/>
          </a:prstGeom>
          <a:solidFill>
            <a:schemeClr val="accent1">
              <a:lumMod val="75000"/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/>
          <p:cNvSpPr/>
          <p:nvPr/>
        </p:nvSpPr>
        <p:spPr>
          <a:xfrm>
            <a:off x="8999797" y="3102884"/>
            <a:ext cx="1130300" cy="1130300"/>
          </a:xfrm>
          <a:prstGeom prst="ellipse">
            <a:avLst/>
          </a:prstGeom>
          <a:solidFill>
            <a:schemeClr val="accent1">
              <a:lumMod val="75000"/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/>
          <p:cNvSpPr/>
          <p:nvPr/>
        </p:nvSpPr>
        <p:spPr>
          <a:xfrm>
            <a:off x="8172482" y="4874643"/>
            <a:ext cx="1130300" cy="1130300"/>
          </a:xfrm>
          <a:prstGeom prst="ellipse">
            <a:avLst/>
          </a:prstGeom>
          <a:solidFill>
            <a:srgbClr val="A7C5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/>
          <p:cNvSpPr/>
          <p:nvPr/>
        </p:nvSpPr>
        <p:spPr>
          <a:xfrm>
            <a:off x="9857421" y="4874643"/>
            <a:ext cx="1130300" cy="1130300"/>
          </a:xfrm>
          <a:prstGeom prst="ellipse">
            <a:avLst/>
          </a:prstGeom>
          <a:solidFill>
            <a:schemeClr val="accent1">
              <a:lumMod val="75000"/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/>
          <p:cNvSpPr txBox="1"/>
          <p:nvPr/>
        </p:nvSpPr>
        <p:spPr>
          <a:xfrm flipH="1">
            <a:off x="8699810" y="1057757"/>
            <a:ext cx="2598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(A ∩ B) U (A-B)U(B-A)</a:t>
            </a:r>
            <a:endParaRPr lang="en-IN" b="1" dirty="0"/>
          </a:p>
        </p:txBody>
      </p:sp>
      <p:sp>
        <p:nvSpPr>
          <p:cNvPr id="17" name="TextBox 16"/>
          <p:cNvSpPr txBox="1"/>
          <p:nvPr/>
        </p:nvSpPr>
        <p:spPr>
          <a:xfrm flipH="1">
            <a:off x="8560545" y="1751795"/>
            <a:ext cx="7197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Table </a:t>
            </a:r>
          </a:p>
          <a:p>
            <a:pPr algn="ctr"/>
            <a:r>
              <a:rPr lang="en-US" sz="1400" dirty="0" smtClean="0"/>
              <a:t>A</a:t>
            </a:r>
            <a:endParaRPr lang="en-IN" sz="1400" dirty="0"/>
          </a:p>
        </p:txBody>
      </p:sp>
      <p:sp>
        <p:nvSpPr>
          <p:cNvPr id="18" name="TextBox 17"/>
          <p:cNvSpPr txBox="1"/>
          <p:nvPr/>
        </p:nvSpPr>
        <p:spPr>
          <a:xfrm flipH="1">
            <a:off x="9670155" y="1751795"/>
            <a:ext cx="7197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Table </a:t>
            </a:r>
          </a:p>
          <a:p>
            <a:pPr algn="ctr"/>
            <a:r>
              <a:rPr lang="en-US" sz="1400" dirty="0" smtClean="0"/>
              <a:t>B</a:t>
            </a:r>
            <a:endParaRPr lang="en-IN" sz="1400" dirty="0"/>
          </a:p>
        </p:txBody>
      </p:sp>
      <p:cxnSp>
        <p:nvCxnSpPr>
          <p:cNvPr id="19" name="Straight Arrow Connector 18"/>
          <p:cNvCxnSpPr>
            <a:stCxn id="16" idx="3"/>
          </p:cNvCxnSpPr>
          <p:nvPr/>
        </p:nvCxnSpPr>
        <p:spPr>
          <a:xfrm flipH="1">
            <a:off x="8556844" y="1242423"/>
            <a:ext cx="142966" cy="1846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 flipH="1">
            <a:off x="8955145" y="3267542"/>
            <a:ext cx="121960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Table </a:t>
            </a:r>
          </a:p>
          <a:p>
            <a:pPr algn="ctr"/>
            <a:r>
              <a:rPr lang="en-US" sz="1400" dirty="0" smtClean="0"/>
              <a:t>A</a:t>
            </a:r>
          </a:p>
          <a:p>
            <a:pPr algn="ctr"/>
            <a:r>
              <a:rPr lang="en-US" sz="1400" dirty="0" smtClean="0"/>
              <a:t>(Join Itself)</a:t>
            </a:r>
            <a:endParaRPr lang="en-IN" sz="1400" dirty="0"/>
          </a:p>
        </p:txBody>
      </p:sp>
      <p:sp>
        <p:nvSpPr>
          <p:cNvPr id="22" name="TextBox 21"/>
          <p:cNvSpPr txBox="1"/>
          <p:nvPr/>
        </p:nvSpPr>
        <p:spPr>
          <a:xfrm flipH="1">
            <a:off x="8377759" y="5219098"/>
            <a:ext cx="7197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Table </a:t>
            </a:r>
          </a:p>
          <a:p>
            <a:pPr algn="ctr"/>
            <a:r>
              <a:rPr lang="en-US" sz="1400" dirty="0" smtClean="0"/>
              <a:t>A</a:t>
            </a:r>
            <a:endParaRPr lang="en-IN" sz="1400" dirty="0"/>
          </a:p>
        </p:txBody>
      </p:sp>
      <p:sp>
        <p:nvSpPr>
          <p:cNvPr id="23" name="TextBox 22"/>
          <p:cNvSpPr txBox="1"/>
          <p:nvPr/>
        </p:nvSpPr>
        <p:spPr>
          <a:xfrm flipH="1">
            <a:off x="10102877" y="5178183"/>
            <a:ext cx="7197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Table </a:t>
            </a:r>
          </a:p>
          <a:p>
            <a:pPr algn="ctr"/>
            <a:r>
              <a:rPr lang="en-US" sz="1400" dirty="0" smtClean="0"/>
              <a:t>B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583532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/>
      <p:bldP spid="17" grpId="0"/>
      <p:bldP spid="18" grpId="0"/>
      <p:bldP spid="20" grpId="0"/>
      <p:bldP spid="22" grpId="0"/>
      <p:bldP spid="2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SQL INNER JOIN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75EB18E-7DE0-462F-925E-B153ED663F68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80805" y="1495968"/>
            <a:ext cx="9067813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 smtClean="0">
                <a:solidFill>
                  <a:srgbClr val="000000"/>
                </a:solidFill>
                <a:ea typeface="Segoe UI" panose="020B0502040204020203" pitchFamily="34" charset="0"/>
                <a:cs typeface="Arial" panose="020B0604020202020204" pitchFamily="34" charset="0"/>
              </a:rPr>
              <a:t>The </a:t>
            </a:r>
            <a:r>
              <a:rPr lang="en-US" sz="2000" dirty="0">
                <a:solidFill>
                  <a:srgbClr val="000000"/>
                </a:solidFill>
                <a:ea typeface="Segoe UI" panose="020B0502040204020203" pitchFamily="34" charset="0"/>
                <a:cs typeface="Arial" panose="020B0604020202020204" pitchFamily="34" charset="0"/>
              </a:rPr>
              <a:t>INNER JOIN creates a new result table by combining column values of two </a:t>
            </a:r>
            <a:r>
              <a:rPr lang="en-US" sz="2000" dirty="0" smtClean="0">
                <a:solidFill>
                  <a:srgbClr val="000000"/>
                </a:solidFill>
                <a:ea typeface="Segoe UI" panose="020B0502040204020203" pitchFamily="34" charset="0"/>
                <a:cs typeface="Arial" panose="020B0604020202020204" pitchFamily="34" charset="0"/>
              </a:rPr>
              <a:t>tables (table1 </a:t>
            </a:r>
            <a:r>
              <a:rPr lang="en-US" sz="2000" dirty="0">
                <a:solidFill>
                  <a:srgbClr val="000000"/>
                </a:solidFill>
                <a:ea typeface="Segoe UI" panose="020B0502040204020203" pitchFamily="34" charset="0"/>
                <a:cs typeface="Arial" panose="020B0604020202020204" pitchFamily="34" charset="0"/>
              </a:rPr>
              <a:t>and table2) based upon the join-predicate. The query compares each row of </a:t>
            </a:r>
            <a:r>
              <a:rPr lang="en-US" sz="2000" dirty="0" smtClean="0">
                <a:solidFill>
                  <a:srgbClr val="000000"/>
                </a:solidFill>
                <a:ea typeface="Segoe UI" panose="020B0502040204020203" pitchFamily="34" charset="0"/>
                <a:cs typeface="Arial" panose="020B0604020202020204" pitchFamily="34" charset="0"/>
              </a:rPr>
              <a:t>table1 with </a:t>
            </a:r>
            <a:r>
              <a:rPr lang="en-US" sz="2000" dirty="0">
                <a:solidFill>
                  <a:srgbClr val="000000"/>
                </a:solidFill>
                <a:ea typeface="Segoe UI" panose="020B0502040204020203" pitchFamily="34" charset="0"/>
                <a:cs typeface="Arial" panose="020B0604020202020204" pitchFamily="34" charset="0"/>
              </a:rPr>
              <a:t>each row of table2 to find all pairs of rows which satisfy the </a:t>
            </a:r>
            <a:r>
              <a:rPr lang="en-US" sz="2000" dirty="0" smtClean="0">
                <a:solidFill>
                  <a:srgbClr val="000000"/>
                </a:solidFill>
                <a:ea typeface="Segoe UI" panose="020B0502040204020203" pitchFamily="34" charset="0"/>
                <a:cs typeface="Arial" panose="020B0604020202020204" pitchFamily="34" charset="0"/>
              </a:rPr>
              <a:t>join-predicate.</a:t>
            </a:r>
            <a:endParaRPr lang="en-US" sz="2000" dirty="0">
              <a:solidFill>
                <a:srgbClr val="000000"/>
              </a:solidFill>
              <a:ea typeface="Segoe UI" panose="020B0502040204020203" pitchFamily="34" charset="0"/>
              <a:cs typeface="Arial" panose="020B0604020202020204" pitchFamily="34" charset="0"/>
            </a:endParaRPr>
          </a:p>
          <a:p>
            <a:endParaRPr lang="en-US" sz="2000" dirty="0" smtClean="0">
              <a:solidFill>
                <a:srgbClr val="000000"/>
              </a:solidFill>
              <a:ea typeface="Segoe UI" panose="020B0502040204020203" pitchFamily="34" charset="0"/>
              <a:cs typeface="Arial" panose="020B0604020202020204" pitchFamily="34" charset="0"/>
            </a:endParaRPr>
          </a:p>
          <a:p>
            <a:r>
              <a:rPr lang="en-US" sz="2000" b="1" dirty="0" smtClean="0">
                <a:solidFill>
                  <a:srgbClr val="000000"/>
                </a:solidFill>
                <a:ea typeface="Segoe UI" panose="020B0502040204020203" pitchFamily="34" charset="0"/>
                <a:cs typeface="Arial" panose="020B0604020202020204" pitchFamily="34" charset="0"/>
              </a:rPr>
              <a:t>SYNTAX :</a:t>
            </a:r>
          </a:p>
          <a:p>
            <a:endParaRPr lang="en-US" sz="2000" dirty="0" smtClean="0">
              <a:solidFill>
                <a:srgbClr val="000000"/>
              </a:solidFill>
              <a:ea typeface="Segoe UI" panose="020B0502040204020203" pitchFamily="34" charset="0"/>
              <a:cs typeface="Arial" panose="020B0604020202020204" pitchFamily="34" charset="0"/>
            </a:endParaRPr>
          </a:p>
          <a:p>
            <a:r>
              <a:rPr lang="en-US" sz="2000" dirty="0" smtClean="0">
                <a:solidFill>
                  <a:srgbClr val="000000"/>
                </a:solidFill>
                <a:ea typeface="Segoe UI" panose="020B0502040204020203" pitchFamily="34" charset="0"/>
                <a:cs typeface="Arial" panose="020B0604020202020204" pitchFamily="34" charset="0"/>
              </a:rPr>
              <a:t>SELECT table1.col1, table2.col2,…, table1.coln </a:t>
            </a:r>
          </a:p>
          <a:p>
            <a:r>
              <a:rPr lang="en-US" sz="2000" dirty="0" smtClean="0">
                <a:solidFill>
                  <a:srgbClr val="000000"/>
                </a:solidFill>
                <a:ea typeface="Segoe UI" panose="020B0502040204020203" pitchFamily="34" charset="0"/>
                <a:cs typeface="Arial" panose="020B0604020202020204" pitchFamily="34" charset="0"/>
              </a:rPr>
              <a:t>FROM table1 </a:t>
            </a:r>
          </a:p>
          <a:p>
            <a:r>
              <a:rPr lang="en-US" sz="2000" dirty="0" smtClean="0">
                <a:solidFill>
                  <a:srgbClr val="000000"/>
                </a:solidFill>
                <a:ea typeface="Segoe UI" panose="020B0502040204020203" pitchFamily="34" charset="0"/>
                <a:cs typeface="Arial" panose="020B0604020202020204" pitchFamily="34" charset="0"/>
              </a:rPr>
              <a:t>INNER JOIN table2 </a:t>
            </a:r>
          </a:p>
          <a:p>
            <a:r>
              <a:rPr lang="en-US" sz="2000" dirty="0" smtClean="0">
                <a:solidFill>
                  <a:srgbClr val="000000"/>
                </a:solidFill>
                <a:ea typeface="Segoe UI" panose="020B0502040204020203" pitchFamily="34" charset="0"/>
                <a:cs typeface="Arial" panose="020B0604020202020204" pitchFamily="34" charset="0"/>
              </a:rPr>
              <a:t>ON table1.commonfield = table2.commonfield;</a:t>
            </a:r>
          </a:p>
        </p:txBody>
      </p:sp>
    </p:spTree>
    <p:extLst>
      <p:ext uri="{BB962C8B-B14F-4D97-AF65-F5344CB8AC3E}">
        <p14:creationId xmlns:p14="http://schemas.microsoft.com/office/powerpoint/2010/main" val="463076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780618" y="1498168"/>
            <a:ext cx="9724010" cy="4904394"/>
          </a:xfrm>
        </p:spPr>
        <p:txBody>
          <a:bodyPr>
            <a:normAutofit/>
          </a:bodyPr>
          <a:lstStyle/>
          <a:p>
            <a:pPr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+mn-lt"/>
                <a:ea typeface="Segoe UI" panose="020B0502040204020203" pitchFamily="34" charset="0"/>
                <a:cs typeface="Arial" panose="020B0604020202020204" pitchFamily="34" charset="0"/>
              </a:rPr>
              <a:t>Display details of employee and </a:t>
            </a:r>
            <a:r>
              <a:rPr lang="en-US" sz="2000" dirty="0" smtClean="0">
                <a:solidFill>
                  <a:srgbClr val="000000"/>
                </a:solidFill>
                <a:latin typeface="+mn-lt"/>
                <a:ea typeface="Segoe UI" panose="020B0502040204020203" pitchFamily="34" charset="0"/>
                <a:cs typeface="Arial" panose="020B0604020202020204" pitchFamily="34" charset="0"/>
              </a:rPr>
              <a:t>department</a:t>
            </a:r>
          </a:p>
          <a:p>
            <a:pPr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0000"/>
              </a:solidFill>
              <a:latin typeface="+mn-lt"/>
              <a:ea typeface="Segoe UI" panose="020B0502040204020203" pitchFamily="34" charset="0"/>
              <a:cs typeface="Arial" panose="020B0604020202020204" pitchFamily="34" charset="0"/>
            </a:endParaRPr>
          </a:p>
          <a:p>
            <a:pPr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+mn-lt"/>
                <a:ea typeface="Segoe UI" panose="020B0502040204020203" pitchFamily="34" charset="0"/>
                <a:cs typeface="Arial" panose="020B0604020202020204" pitchFamily="34" charset="0"/>
              </a:rPr>
              <a:t>department_id is a common column between employees &amp; departments </a:t>
            </a:r>
            <a:r>
              <a:rPr lang="en-US" sz="2000" dirty="0" smtClean="0">
                <a:solidFill>
                  <a:srgbClr val="000000"/>
                </a:solidFill>
                <a:latin typeface="+mn-lt"/>
                <a:ea typeface="Segoe UI" panose="020B0502040204020203" pitchFamily="34" charset="0"/>
                <a:cs typeface="Arial" panose="020B0604020202020204" pitchFamily="34" charset="0"/>
              </a:rPr>
              <a:t>tables</a:t>
            </a:r>
          </a:p>
          <a:p>
            <a:pPr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0000"/>
              </a:solidFill>
              <a:latin typeface="+mn-lt"/>
              <a:ea typeface="Segoe UI" panose="020B0502040204020203" pitchFamily="34" charset="0"/>
              <a:cs typeface="Arial" panose="020B0604020202020204" pitchFamily="34" charset="0"/>
            </a:endParaRPr>
          </a:p>
          <a:p>
            <a:pPr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+mn-lt"/>
                <a:ea typeface="Segoe UI" panose="020B0502040204020203" pitchFamily="34" charset="0"/>
                <a:cs typeface="Arial" panose="020B0604020202020204" pitchFamily="34" charset="0"/>
              </a:rPr>
              <a:t>'e' and 'd' are alias for the table names</a:t>
            </a:r>
          </a:p>
          <a:p>
            <a:pPr marL="0" indent="0">
              <a:buNone/>
            </a:pPr>
            <a:endParaRPr lang="en-IN" sz="2000" dirty="0">
              <a:latin typeface="+mn-lt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SQL INNER JOIN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DBMS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A7BD299-4115-435C-9390-0BF281B3F2C8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3539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938" y="782989"/>
            <a:ext cx="9545006" cy="369812"/>
          </a:xfrm>
        </p:spPr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SQL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INNER JOIN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75EB18E-7DE0-462F-925E-B153ED663F68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69346" y="3845339"/>
            <a:ext cx="4424521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SELECT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e.employee_id, e.first_name, e.last_name, 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d.department_id,</a:t>
            </a:r>
          </a:p>
          <a:p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d.department_name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  <a:ea typeface="Segoe UI" panose="020B0502040204020203" pitchFamily="34" charset="0"/>
              <a:cs typeface="Courier New" panose="02070309020205020404" pitchFamily="49" charset="0"/>
            </a:endParaRPr>
          </a:p>
          <a:p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FROM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employees e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  <a:ea typeface="Segoe UI" panose="020B0502040204020203" pitchFamily="34" charset="0"/>
              <a:cs typeface="Courier New" panose="02070309020205020404" pitchFamily="49" charset="0"/>
            </a:endParaRPr>
          </a:p>
          <a:p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INNER 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JOIN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departments d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  <a:ea typeface="Segoe UI" panose="020B0502040204020203" pitchFamily="34" charset="0"/>
              <a:cs typeface="Courier New" panose="02070309020205020404" pitchFamily="49" charset="0"/>
            </a:endParaRPr>
          </a:p>
          <a:p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ON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e.department_id=d.department_id;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2848712"/>
              </p:ext>
            </p:extLst>
          </p:nvPr>
        </p:nvGraphicFramePr>
        <p:xfrm>
          <a:off x="5207722" y="4571693"/>
          <a:ext cx="6508405" cy="137160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301681">
                  <a:extLst>
                    <a:ext uri="{9D8B030D-6E8A-4147-A177-3AD203B41FA5}">
                      <a16:colId xmlns:a16="http://schemas.microsoft.com/office/drawing/2014/main" val="328544852"/>
                    </a:ext>
                  </a:extLst>
                </a:gridCol>
                <a:gridCol w="1301681">
                  <a:extLst>
                    <a:ext uri="{9D8B030D-6E8A-4147-A177-3AD203B41FA5}">
                      <a16:colId xmlns:a16="http://schemas.microsoft.com/office/drawing/2014/main" val="1654274954"/>
                    </a:ext>
                  </a:extLst>
                </a:gridCol>
                <a:gridCol w="1301681">
                  <a:extLst>
                    <a:ext uri="{9D8B030D-6E8A-4147-A177-3AD203B41FA5}">
                      <a16:colId xmlns:a16="http://schemas.microsoft.com/office/drawing/2014/main" val="3951039205"/>
                    </a:ext>
                  </a:extLst>
                </a:gridCol>
                <a:gridCol w="1301681">
                  <a:extLst>
                    <a:ext uri="{9D8B030D-6E8A-4147-A177-3AD203B41FA5}">
                      <a16:colId xmlns:a16="http://schemas.microsoft.com/office/drawing/2014/main" val="1483700120"/>
                    </a:ext>
                  </a:extLst>
                </a:gridCol>
                <a:gridCol w="1301681">
                  <a:extLst>
                    <a:ext uri="{9D8B030D-6E8A-4147-A177-3AD203B41FA5}">
                      <a16:colId xmlns:a16="http://schemas.microsoft.com/office/drawing/2014/main" val="1576953597"/>
                    </a:ext>
                  </a:extLst>
                </a:gridCol>
              </a:tblGrid>
              <a:tr h="252102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employee_id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first_name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last_name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department_id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department_name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2778847"/>
                  </a:ext>
                </a:extLst>
              </a:tr>
              <a:tr h="252102">
                <a:tc>
                  <a:txBody>
                    <a:bodyPr/>
                    <a:lstStyle/>
                    <a:p>
                      <a:r>
                        <a:rPr lang="en-US" dirty="0" smtClean="0"/>
                        <a:t>101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Steven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Cohen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8588803"/>
                  </a:ext>
                </a:extLst>
              </a:tr>
              <a:tr h="252102">
                <a:tc>
                  <a:txBody>
                    <a:bodyPr/>
                    <a:lstStyle/>
                    <a:p>
                      <a:r>
                        <a:rPr lang="en-US" dirty="0" smtClean="0"/>
                        <a:t>102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Edwin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Thomas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Marketing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4025746"/>
                  </a:ext>
                </a:extLst>
              </a:tr>
            </a:tbl>
          </a:graphicData>
        </a:graphic>
      </p:graphicFrame>
      <p:graphicFrame>
        <p:nvGraphicFramePr>
          <p:cNvPr id="41" name="Table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8656787"/>
              </p:ext>
            </p:extLst>
          </p:nvPr>
        </p:nvGraphicFramePr>
        <p:xfrm>
          <a:off x="768644" y="1484314"/>
          <a:ext cx="4501376" cy="210312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125344">
                  <a:extLst>
                    <a:ext uri="{9D8B030D-6E8A-4147-A177-3AD203B41FA5}">
                      <a16:colId xmlns:a16="http://schemas.microsoft.com/office/drawing/2014/main" val="420006210"/>
                    </a:ext>
                  </a:extLst>
                </a:gridCol>
                <a:gridCol w="1125344">
                  <a:extLst>
                    <a:ext uri="{9D8B030D-6E8A-4147-A177-3AD203B41FA5}">
                      <a16:colId xmlns:a16="http://schemas.microsoft.com/office/drawing/2014/main" val="2249173104"/>
                    </a:ext>
                  </a:extLst>
                </a:gridCol>
                <a:gridCol w="1125344">
                  <a:extLst>
                    <a:ext uri="{9D8B030D-6E8A-4147-A177-3AD203B41FA5}">
                      <a16:colId xmlns:a16="http://schemas.microsoft.com/office/drawing/2014/main" val="55307333"/>
                    </a:ext>
                  </a:extLst>
                </a:gridCol>
                <a:gridCol w="1125344">
                  <a:extLst>
                    <a:ext uri="{9D8B030D-6E8A-4147-A177-3AD203B41FA5}">
                      <a16:colId xmlns:a16="http://schemas.microsoft.com/office/drawing/2014/main" val="688084317"/>
                    </a:ext>
                  </a:extLst>
                </a:gridCol>
              </a:tblGrid>
              <a:tr h="48711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employee_id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first_name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last_name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salary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2002686"/>
                  </a:ext>
                </a:extLst>
              </a:tr>
              <a:tr h="28225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8429340"/>
                  </a:ext>
                </a:extLst>
              </a:tr>
              <a:tr h="28225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4903056"/>
                  </a:ext>
                </a:extLst>
              </a:tr>
              <a:tr h="28225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4107410"/>
                  </a:ext>
                </a:extLst>
              </a:tr>
              <a:tr h="282252">
                <a:tc>
                  <a:txBody>
                    <a:bodyPr/>
                    <a:lstStyle/>
                    <a:p>
                      <a:r>
                        <a:rPr lang="en-US" dirty="0" smtClean="0"/>
                        <a:t>   100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 Erik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 John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10000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143347"/>
                  </a:ext>
                </a:extLst>
              </a:tr>
            </a:tbl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928232" y="2110632"/>
            <a:ext cx="661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103</a:t>
            </a:r>
            <a:endParaRPr lang="en-IN" dirty="0"/>
          </a:p>
        </p:txBody>
      </p:sp>
      <p:sp>
        <p:nvSpPr>
          <p:cNvPr id="43" name="TextBox 42"/>
          <p:cNvSpPr txBox="1"/>
          <p:nvPr/>
        </p:nvSpPr>
        <p:spPr>
          <a:xfrm>
            <a:off x="2172102" y="2867720"/>
            <a:ext cx="890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Steven</a:t>
            </a:r>
            <a:endParaRPr lang="en-IN" dirty="0"/>
          </a:p>
        </p:txBody>
      </p:sp>
      <p:sp>
        <p:nvSpPr>
          <p:cNvPr id="44" name="TextBox 43"/>
          <p:cNvSpPr txBox="1"/>
          <p:nvPr/>
        </p:nvSpPr>
        <p:spPr>
          <a:xfrm>
            <a:off x="3206568" y="2867720"/>
            <a:ext cx="913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Cohen</a:t>
            </a:r>
            <a:endParaRPr lang="en-IN" dirty="0"/>
          </a:p>
        </p:txBody>
      </p:sp>
      <p:sp>
        <p:nvSpPr>
          <p:cNvPr id="45" name="TextBox 44"/>
          <p:cNvSpPr txBox="1"/>
          <p:nvPr/>
        </p:nvSpPr>
        <p:spPr>
          <a:xfrm>
            <a:off x="4353296" y="2867720"/>
            <a:ext cx="840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10000</a:t>
            </a:r>
            <a:endParaRPr lang="en-IN" dirty="0"/>
          </a:p>
        </p:txBody>
      </p:sp>
      <p:sp>
        <p:nvSpPr>
          <p:cNvPr id="46" name="TextBox 45"/>
          <p:cNvSpPr txBox="1"/>
          <p:nvPr/>
        </p:nvSpPr>
        <p:spPr>
          <a:xfrm>
            <a:off x="928232" y="2442144"/>
            <a:ext cx="661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102</a:t>
            </a:r>
            <a:endParaRPr lang="en-IN" dirty="0"/>
          </a:p>
        </p:txBody>
      </p:sp>
      <p:sp>
        <p:nvSpPr>
          <p:cNvPr id="47" name="TextBox 46"/>
          <p:cNvSpPr txBox="1"/>
          <p:nvPr/>
        </p:nvSpPr>
        <p:spPr>
          <a:xfrm>
            <a:off x="2163688" y="2489176"/>
            <a:ext cx="906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Edwin</a:t>
            </a:r>
            <a:endParaRPr lang="en-IN" dirty="0"/>
          </a:p>
        </p:txBody>
      </p:sp>
      <p:sp>
        <p:nvSpPr>
          <p:cNvPr id="48" name="TextBox 47"/>
          <p:cNvSpPr txBox="1"/>
          <p:nvPr/>
        </p:nvSpPr>
        <p:spPr>
          <a:xfrm>
            <a:off x="3231358" y="2504565"/>
            <a:ext cx="9165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Thomas</a:t>
            </a:r>
            <a:endParaRPr lang="en-IN" sz="1600" dirty="0"/>
          </a:p>
        </p:txBody>
      </p:sp>
      <p:sp>
        <p:nvSpPr>
          <p:cNvPr id="49" name="TextBox 48"/>
          <p:cNvSpPr txBox="1"/>
          <p:nvPr/>
        </p:nvSpPr>
        <p:spPr>
          <a:xfrm>
            <a:off x="4316864" y="2471145"/>
            <a:ext cx="1077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15000</a:t>
            </a:r>
            <a:endParaRPr lang="en-IN" dirty="0"/>
          </a:p>
        </p:txBody>
      </p:sp>
      <p:sp>
        <p:nvSpPr>
          <p:cNvPr id="50" name="TextBox 49"/>
          <p:cNvSpPr txBox="1"/>
          <p:nvPr/>
        </p:nvSpPr>
        <p:spPr>
          <a:xfrm>
            <a:off x="928233" y="2845087"/>
            <a:ext cx="661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101</a:t>
            </a:r>
            <a:endParaRPr lang="en-IN" dirty="0"/>
          </a:p>
        </p:txBody>
      </p:sp>
      <p:sp>
        <p:nvSpPr>
          <p:cNvPr id="51" name="TextBox 50"/>
          <p:cNvSpPr txBox="1"/>
          <p:nvPr/>
        </p:nvSpPr>
        <p:spPr>
          <a:xfrm>
            <a:off x="2172102" y="2110632"/>
            <a:ext cx="890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Harry </a:t>
            </a:r>
            <a:endParaRPr lang="en-IN" dirty="0"/>
          </a:p>
        </p:txBody>
      </p:sp>
      <p:sp>
        <p:nvSpPr>
          <p:cNvPr id="52" name="TextBox 51"/>
          <p:cNvSpPr txBox="1"/>
          <p:nvPr/>
        </p:nvSpPr>
        <p:spPr>
          <a:xfrm>
            <a:off x="3275796" y="2093197"/>
            <a:ext cx="773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Potter</a:t>
            </a:r>
            <a:endParaRPr lang="en-IN" dirty="0"/>
          </a:p>
        </p:txBody>
      </p:sp>
      <p:sp>
        <p:nvSpPr>
          <p:cNvPr id="53" name="TextBox 52"/>
          <p:cNvSpPr txBox="1"/>
          <p:nvPr/>
        </p:nvSpPr>
        <p:spPr>
          <a:xfrm>
            <a:off x="4330271" y="2110632"/>
            <a:ext cx="1077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20000</a:t>
            </a:r>
            <a:endParaRPr lang="en-IN" dirty="0"/>
          </a:p>
        </p:txBody>
      </p:sp>
      <p:graphicFrame>
        <p:nvGraphicFramePr>
          <p:cNvPr id="55" name="Table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5666950"/>
              </p:ext>
            </p:extLst>
          </p:nvPr>
        </p:nvGraphicFramePr>
        <p:xfrm>
          <a:off x="5273452" y="1482421"/>
          <a:ext cx="1319631" cy="210312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319631">
                  <a:extLst>
                    <a:ext uri="{9D8B030D-6E8A-4147-A177-3AD203B41FA5}">
                      <a16:colId xmlns:a16="http://schemas.microsoft.com/office/drawing/2014/main" val="3862492285"/>
                    </a:ext>
                  </a:extLst>
                </a:gridCol>
              </a:tblGrid>
              <a:tr h="62632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department_id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1136965"/>
                  </a:ext>
                </a:extLst>
              </a:tr>
              <a:tr h="357897">
                <a:tc>
                  <a:txBody>
                    <a:bodyPr/>
                    <a:lstStyle/>
                    <a:p>
                      <a:r>
                        <a:rPr lang="en-US" dirty="0" smtClean="0"/>
                        <a:t>12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0305279"/>
                  </a:ext>
                </a:extLst>
              </a:tr>
              <a:tr h="357897">
                <a:tc>
                  <a:txBody>
                    <a:bodyPr/>
                    <a:lstStyle/>
                    <a:p>
                      <a:r>
                        <a:rPr lang="en-US" dirty="0" smtClean="0"/>
                        <a:t>11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7277247"/>
                  </a:ext>
                </a:extLst>
              </a:tr>
              <a:tr h="357897"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0651549"/>
                  </a:ext>
                </a:extLst>
              </a:tr>
              <a:tr h="357897">
                <a:tc>
                  <a:txBody>
                    <a:bodyPr/>
                    <a:lstStyle/>
                    <a:p>
                      <a:r>
                        <a:rPr lang="en-US" dirty="0" smtClean="0"/>
                        <a:t>12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4736428"/>
                  </a:ext>
                </a:extLst>
              </a:tr>
            </a:tbl>
          </a:graphicData>
        </a:graphic>
      </p:graphicFrame>
      <p:graphicFrame>
        <p:nvGraphicFramePr>
          <p:cNvPr id="56" name="Table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3287142"/>
              </p:ext>
            </p:extLst>
          </p:nvPr>
        </p:nvGraphicFramePr>
        <p:xfrm>
          <a:off x="6771085" y="1484313"/>
          <a:ext cx="5371620" cy="210312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342905">
                  <a:extLst>
                    <a:ext uri="{9D8B030D-6E8A-4147-A177-3AD203B41FA5}">
                      <a16:colId xmlns:a16="http://schemas.microsoft.com/office/drawing/2014/main" val="2865986226"/>
                    </a:ext>
                  </a:extLst>
                </a:gridCol>
                <a:gridCol w="1342905">
                  <a:extLst>
                    <a:ext uri="{9D8B030D-6E8A-4147-A177-3AD203B41FA5}">
                      <a16:colId xmlns:a16="http://schemas.microsoft.com/office/drawing/2014/main" val="4266919079"/>
                    </a:ext>
                  </a:extLst>
                </a:gridCol>
                <a:gridCol w="1342905">
                  <a:extLst>
                    <a:ext uri="{9D8B030D-6E8A-4147-A177-3AD203B41FA5}">
                      <a16:colId xmlns:a16="http://schemas.microsoft.com/office/drawing/2014/main" val="83839121"/>
                    </a:ext>
                  </a:extLst>
                </a:gridCol>
                <a:gridCol w="1342905">
                  <a:extLst>
                    <a:ext uri="{9D8B030D-6E8A-4147-A177-3AD203B41FA5}">
                      <a16:colId xmlns:a16="http://schemas.microsoft.com/office/drawing/2014/main" val="35562137"/>
                    </a:ext>
                  </a:extLst>
                </a:gridCol>
              </a:tblGrid>
              <a:tr h="636117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department_id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department_name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manager_id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location_id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6926479"/>
                  </a:ext>
                </a:extLst>
              </a:tr>
              <a:tr h="364937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492626"/>
                  </a:ext>
                </a:extLst>
              </a:tr>
              <a:tr h="364937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78989"/>
                  </a:ext>
                </a:extLst>
              </a:tr>
              <a:tr h="364937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8874892"/>
                  </a:ext>
                </a:extLst>
              </a:tr>
              <a:tr h="364937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8774765"/>
                  </a:ext>
                </a:extLst>
              </a:tr>
            </a:tbl>
          </a:graphicData>
        </a:graphic>
      </p:graphicFrame>
      <p:sp>
        <p:nvSpPr>
          <p:cNvPr id="57" name="TextBox 56"/>
          <p:cNvSpPr txBox="1"/>
          <p:nvPr/>
        </p:nvSpPr>
        <p:spPr>
          <a:xfrm>
            <a:off x="7210661" y="2137913"/>
            <a:ext cx="5995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10</a:t>
            </a:r>
            <a:endParaRPr lang="en-IN" sz="1600" dirty="0"/>
          </a:p>
        </p:txBody>
      </p:sp>
      <p:sp>
        <p:nvSpPr>
          <p:cNvPr id="58" name="TextBox 57"/>
          <p:cNvSpPr txBox="1"/>
          <p:nvPr/>
        </p:nvSpPr>
        <p:spPr>
          <a:xfrm>
            <a:off x="8748517" y="2137913"/>
            <a:ext cx="7630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IT</a:t>
            </a:r>
            <a:endParaRPr lang="en-IN" sz="1600" dirty="0"/>
          </a:p>
        </p:txBody>
      </p:sp>
      <p:sp>
        <p:nvSpPr>
          <p:cNvPr id="59" name="TextBox 58"/>
          <p:cNvSpPr txBox="1"/>
          <p:nvPr/>
        </p:nvSpPr>
        <p:spPr>
          <a:xfrm>
            <a:off x="9718334" y="2137913"/>
            <a:ext cx="8594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200</a:t>
            </a:r>
            <a:endParaRPr lang="en-IN" sz="1600" dirty="0"/>
          </a:p>
        </p:txBody>
      </p:sp>
      <p:sp>
        <p:nvSpPr>
          <p:cNvPr id="60" name="TextBox 59"/>
          <p:cNvSpPr txBox="1"/>
          <p:nvPr/>
        </p:nvSpPr>
        <p:spPr>
          <a:xfrm>
            <a:off x="11263116" y="2137913"/>
            <a:ext cx="7221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1700</a:t>
            </a:r>
            <a:endParaRPr lang="en-IN" sz="1600" dirty="0"/>
          </a:p>
        </p:txBody>
      </p:sp>
      <p:sp>
        <p:nvSpPr>
          <p:cNvPr id="61" name="TextBox 60"/>
          <p:cNvSpPr txBox="1"/>
          <p:nvPr/>
        </p:nvSpPr>
        <p:spPr>
          <a:xfrm>
            <a:off x="7245532" y="2501372"/>
            <a:ext cx="5995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11</a:t>
            </a:r>
            <a:endParaRPr lang="en-IN" sz="1600" dirty="0"/>
          </a:p>
        </p:txBody>
      </p:sp>
      <p:sp>
        <p:nvSpPr>
          <p:cNvPr id="62" name="TextBox 61"/>
          <p:cNvSpPr txBox="1"/>
          <p:nvPr/>
        </p:nvSpPr>
        <p:spPr>
          <a:xfrm>
            <a:off x="8312332" y="2476467"/>
            <a:ext cx="13080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Marketing</a:t>
            </a:r>
            <a:endParaRPr lang="en-IN" sz="1600" dirty="0"/>
          </a:p>
        </p:txBody>
      </p:sp>
      <p:sp>
        <p:nvSpPr>
          <p:cNvPr id="63" name="TextBox 62"/>
          <p:cNvSpPr txBox="1"/>
          <p:nvPr/>
        </p:nvSpPr>
        <p:spPr>
          <a:xfrm>
            <a:off x="9753205" y="2461067"/>
            <a:ext cx="8594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201</a:t>
            </a:r>
            <a:endParaRPr lang="en-IN" sz="1600" dirty="0"/>
          </a:p>
        </p:txBody>
      </p:sp>
      <p:sp>
        <p:nvSpPr>
          <p:cNvPr id="64" name="TextBox 63"/>
          <p:cNvSpPr txBox="1"/>
          <p:nvPr/>
        </p:nvSpPr>
        <p:spPr>
          <a:xfrm>
            <a:off x="11242569" y="2461067"/>
            <a:ext cx="7221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1800</a:t>
            </a:r>
            <a:endParaRPr lang="en-IN" sz="1600" dirty="0"/>
          </a:p>
        </p:txBody>
      </p:sp>
      <p:sp>
        <p:nvSpPr>
          <p:cNvPr id="65" name="TextBox 64"/>
          <p:cNvSpPr txBox="1"/>
          <p:nvPr/>
        </p:nvSpPr>
        <p:spPr>
          <a:xfrm>
            <a:off x="7259386" y="2935421"/>
            <a:ext cx="5995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13</a:t>
            </a:r>
            <a:endParaRPr lang="en-IN" sz="1600" dirty="0"/>
          </a:p>
        </p:txBody>
      </p:sp>
      <p:sp>
        <p:nvSpPr>
          <p:cNvPr id="66" name="TextBox 65"/>
          <p:cNvSpPr txBox="1"/>
          <p:nvPr/>
        </p:nvSpPr>
        <p:spPr>
          <a:xfrm>
            <a:off x="8322723" y="2905777"/>
            <a:ext cx="13080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Resources</a:t>
            </a:r>
            <a:endParaRPr lang="en-IN" sz="1600" dirty="0"/>
          </a:p>
        </p:txBody>
      </p:sp>
      <p:sp>
        <p:nvSpPr>
          <p:cNvPr id="67" name="TextBox 66"/>
          <p:cNvSpPr txBox="1"/>
          <p:nvPr/>
        </p:nvSpPr>
        <p:spPr>
          <a:xfrm>
            <a:off x="9773986" y="2905777"/>
            <a:ext cx="8594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203</a:t>
            </a:r>
            <a:endParaRPr lang="en-IN" sz="1600" dirty="0"/>
          </a:p>
        </p:txBody>
      </p:sp>
      <p:sp>
        <p:nvSpPr>
          <p:cNvPr id="68" name="TextBox 67"/>
          <p:cNvSpPr txBox="1"/>
          <p:nvPr/>
        </p:nvSpPr>
        <p:spPr>
          <a:xfrm>
            <a:off x="11228713" y="2905777"/>
            <a:ext cx="7221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2400</a:t>
            </a:r>
            <a:endParaRPr lang="en-IN" sz="1600" dirty="0"/>
          </a:p>
        </p:txBody>
      </p:sp>
      <p:sp>
        <p:nvSpPr>
          <p:cNvPr id="69" name="TextBox 68"/>
          <p:cNvSpPr txBox="1"/>
          <p:nvPr/>
        </p:nvSpPr>
        <p:spPr>
          <a:xfrm>
            <a:off x="7259386" y="3310114"/>
            <a:ext cx="5995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14</a:t>
            </a:r>
            <a:endParaRPr lang="en-IN" sz="1600" dirty="0"/>
          </a:p>
        </p:txBody>
      </p:sp>
      <p:sp>
        <p:nvSpPr>
          <p:cNvPr id="70" name="TextBox 69"/>
          <p:cNvSpPr txBox="1"/>
          <p:nvPr/>
        </p:nvSpPr>
        <p:spPr>
          <a:xfrm>
            <a:off x="8326186" y="3285209"/>
            <a:ext cx="13080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Shipping</a:t>
            </a:r>
            <a:endParaRPr lang="en-IN" sz="1600" dirty="0"/>
          </a:p>
        </p:txBody>
      </p:sp>
      <p:sp>
        <p:nvSpPr>
          <p:cNvPr id="71" name="TextBox 70"/>
          <p:cNvSpPr txBox="1"/>
          <p:nvPr/>
        </p:nvSpPr>
        <p:spPr>
          <a:xfrm>
            <a:off x="9739350" y="3281910"/>
            <a:ext cx="8594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121</a:t>
            </a:r>
            <a:endParaRPr lang="en-IN" sz="1600" dirty="0"/>
          </a:p>
        </p:txBody>
      </p:sp>
      <p:sp>
        <p:nvSpPr>
          <p:cNvPr id="72" name="TextBox 71"/>
          <p:cNvSpPr txBox="1"/>
          <p:nvPr/>
        </p:nvSpPr>
        <p:spPr>
          <a:xfrm>
            <a:off x="11180224" y="3310114"/>
            <a:ext cx="7221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1500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849244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938" y="765175"/>
            <a:ext cx="9545006" cy="369812"/>
          </a:xfrm>
        </p:spPr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SQL LEFT JOIN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75EB18E-7DE0-462F-925E-B153ED663F68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80618" y="1498168"/>
            <a:ext cx="8929267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 smtClean="0">
                <a:solidFill>
                  <a:srgbClr val="000000"/>
                </a:solidFill>
                <a:ea typeface="Segoe UI" panose="020B0502040204020203" pitchFamily="34" charset="0"/>
                <a:cs typeface="Arial" panose="020B0604020202020204" pitchFamily="34" charset="0"/>
              </a:rPr>
              <a:t>The LEFT JOIN r</a:t>
            </a:r>
            <a:r>
              <a:rPr lang="en-US" sz="2000" dirty="0" smtClean="0">
                <a:cs typeface="Arial" panose="020B0604020202020204" pitchFamily="34" charset="0"/>
              </a:rPr>
              <a:t>eturns </a:t>
            </a:r>
            <a:r>
              <a:rPr lang="en-US" sz="2000" dirty="0">
                <a:cs typeface="Arial" panose="020B0604020202020204" pitchFamily="34" charset="0"/>
              </a:rPr>
              <a:t>all the values from the left table, plus matched </a:t>
            </a:r>
            <a:r>
              <a:rPr lang="en-US" sz="2000" dirty="0" smtClean="0">
                <a:cs typeface="Arial" panose="020B0604020202020204" pitchFamily="34" charset="0"/>
              </a:rPr>
              <a:t>values from </a:t>
            </a:r>
            <a:r>
              <a:rPr lang="en-US" sz="2000" dirty="0">
                <a:cs typeface="Arial" panose="020B0604020202020204" pitchFamily="34" charset="0"/>
              </a:rPr>
              <a:t>the right table or NULL in case of no matching join predicate</a:t>
            </a:r>
            <a:r>
              <a:rPr lang="en-US" sz="2000" dirty="0" smtClean="0">
                <a:cs typeface="Arial" panose="020B0604020202020204" pitchFamily="34" charset="0"/>
              </a:rPr>
              <a:t>.</a:t>
            </a:r>
          </a:p>
          <a:p>
            <a:pPr algn="just"/>
            <a:endParaRPr lang="en-US" sz="2000" dirty="0">
              <a:ea typeface="Segoe UI" panose="020B0502040204020203" pitchFamily="34" charset="0"/>
              <a:cs typeface="Arial" panose="020B0604020202020204" pitchFamily="34" charset="0"/>
            </a:endParaRPr>
          </a:p>
          <a:p>
            <a:r>
              <a:rPr lang="en-US" sz="2000" b="1" dirty="0" smtClean="0">
                <a:solidFill>
                  <a:srgbClr val="000000"/>
                </a:solidFill>
                <a:ea typeface="Segoe UI" panose="020B0502040204020203" pitchFamily="34" charset="0"/>
                <a:cs typeface="Arial" panose="020B0604020202020204" pitchFamily="34" charset="0"/>
              </a:rPr>
              <a:t>SYNTAX :</a:t>
            </a:r>
          </a:p>
          <a:p>
            <a:endParaRPr lang="en-US" sz="2000" dirty="0" smtClean="0">
              <a:solidFill>
                <a:srgbClr val="000000"/>
              </a:solidFill>
              <a:ea typeface="Segoe UI" panose="020B0502040204020203" pitchFamily="34" charset="0"/>
              <a:cs typeface="Arial" panose="020B0604020202020204" pitchFamily="34" charset="0"/>
            </a:endParaRPr>
          </a:p>
          <a:p>
            <a:r>
              <a:rPr lang="en-US" sz="2000" dirty="0" smtClean="0">
                <a:solidFill>
                  <a:srgbClr val="000000"/>
                </a:solidFill>
                <a:ea typeface="Segoe UI" panose="020B0502040204020203" pitchFamily="34" charset="0"/>
                <a:cs typeface="Arial" panose="020B0604020202020204" pitchFamily="34" charset="0"/>
              </a:rPr>
              <a:t>SELECT table1.col1, table2.col2,…, table1.coln </a:t>
            </a:r>
          </a:p>
          <a:p>
            <a:r>
              <a:rPr lang="en-US" sz="2000" dirty="0" smtClean="0">
                <a:solidFill>
                  <a:srgbClr val="000000"/>
                </a:solidFill>
                <a:ea typeface="Segoe UI" panose="020B0502040204020203" pitchFamily="34" charset="0"/>
                <a:cs typeface="Arial" panose="020B0604020202020204" pitchFamily="34" charset="0"/>
              </a:rPr>
              <a:t>FROM table1 </a:t>
            </a:r>
          </a:p>
          <a:p>
            <a:r>
              <a:rPr lang="en-US" sz="2000" dirty="0" smtClean="0">
                <a:solidFill>
                  <a:srgbClr val="000000"/>
                </a:solidFill>
                <a:ea typeface="Segoe UI" panose="020B0502040204020203" pitchFamily="34" charset="0"/>
                <a:cs typeface="Arial" panose="020B0604020202020204" pitchFamily="34" charset="0"/>
              </a:rPr>
              <a:t>LEFT JOIN table2 </a:t>
            </a:r>
          </a:p>
          <a:p>
            <a:r>
              <a:rPr lang="en-US" sz="2000" dirty="0" smtClean="0">
                <a:solidFill>
                  <a:srgbClr val="000000"/>
                </a:solidFill>
                <a:ea typeface="Segoe UI" panose="020B0502040204020203" pitchFamily="34" charset="0"/>
                <a:cs typeface="Arial" panose="020B0604020202020204" pitchFamily="34" charset="0"/>
              </a:rPr>
              <a:t>ON table1.commonfield = table2.commonfield;</a:t>
            </a:r>
          </a:p>
        </p:txBody>
      </p:sp>
    </p:spTree>
    <p:extLst>
      <p:ext uri="{BB962C8B-B14F-4D97-AF65-F5344CB8AC3E}">
        <p14:creationId xmlns:p14="http://schemas.microsoft.com/office/powerpoint/2010/main" val="39745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780618" y="1498168"/>
            <a:ext cx="8267046" cy="4904394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  <a:cs typeface="Arial" panose="020B0604020202020204" pitchFamily="34" charset="0"/>
              </a:rPr>
              <a:t>List all employees those with and without </a:t>
            </a:r>
            <a:r>
              <a:rPr lang="en-US" sz="2000" dirty="0" smtClean="0">
                <a:latin typeface="+mn-lt"/>
                <a:cs typeface="Arial" panose="020B0604020202020204" pitchFamily="34" charset="0"/>
              </a:rPr>
              <a:t>departments</a:t>
            </a:r>
          </a:p>
          <a:p>
            <a:pPr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2000" dirty="0">
              <a:latin typeface="+mn-lt"/>
              <a:cs typeface="Arial" panose="020B0604020202020204" pitchFamily="34" charset="0"/>
            </a:endParaRP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+mn-lt"/>
                <a:cs typeface="Arial" panose="020B0604020202020204" pitchFamily="34" charset="0"/>
              </a:rPr>
              <a:t>Department </a:t>
            </a:r>
            <a:r>
              <a:rPr lang="en-US" sz="2000" dirty="0">
                <a:latin typeface="+mn-lt"/>
                <a:cs typeface="Arial" panose="020B0604020202020204" pitchFamily="34" charset="0"/>
              </a:rPr>
              <a:t>names will be NULL for those employees in which there are no departments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000" dirty="0">
              <a:latin typeface="+mn-lt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42209" y="782154"/>
            <a:ext cx="9545006" cy="369812"/>
          </a:xfrm>
        </p:spPr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SQL LEFT JOIN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DBMS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A7BD299-4115-435C-9390-0BF281B3F2C8}" type="slidenum">
              <a:rPr lang="en-US" smtClean="0"/>
              <a:pPr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3716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SQL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LEFT JOIN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75EB18E-7DE0-462F-925E-B153ED663F68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7735" y="3683786"/>
            <a:ext cx="490050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US" dirty="0" smtClean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e.employee_id, e.first_name, 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e.last_name, 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d.department_id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d.department_name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employees e </a:t>
            </a:r>
          </a:p>
          <a:p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LEFT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OUTER JOIN 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departments d </a:t>
            </a:r>
          </a:p>
          <a:p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 e.department_id = d.department_id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0782772"/>
              </p:ext>
            </p:extLst>
          </p:nvPr>
        </p:nvGraphicFramePr>
        <p:xfrm>
          <a:off x="6754877" y="1483445"/>
          <a:ext cx="5395568" cy="2139516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348892">
                  <a:extLst>
                    <a:ext uri="{9D8B030D-6E8A-4147-A177-3AD203B41FA5}">
                      <a16:colId xmlns:a16="http://schemas.microsoft.com/office/drawing/2014/main" val="2865986226"/>
                    </a:ext>
                  </a:extLst>
                </a:gridCol>
                <a:gridCol w="1348892">
                  <a:extLst>
                    <a:ext uri="{9D8B030D-6E8A-4147-A177-3AD203B41FA5}">
                      <a16:colId xmlns:a16="http://schemas.microsoft.com/office/drawing/2014/main" val="4266919079"/>
                    </a:ext>
                  </a:extLst>
                </a:gridCol>
                <a:gridCol w="1348892">
                  <a:extLst>
                    <a:ext uri="{9D8B030D-6E8A-4147-A177-3AD203B41FA5}">
                      <a16:colId xmlns:a16="http://schemas.microsoft.com/office/drawing/2014/main" val="83839121"/>
                    </a:ext>
                  </a:extLst>
                </a:gridCol>
                <a:gridCol w="1348892">
                  <a:extLst>
                    <a:ext uri="{9D8B030D-6E8A-4147-A177-3AD203B41FA5}">
                      <a16:colId xmlns:a16="http://schemas.microsoft.com/office/drawing/2014/main" val="35562137"/>
                    </a:ext>
                  </a:extLst>
                </a:gridCol>
              </a:tblGrid>
              <a:tr h="610081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department_id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department_name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manager_id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location_id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6926479"/>
                  </a:ext>
                </a:extLst>
              </a:tr>
              <a:tr h="374859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492626"/>
                  </a:ext>
                </a:extLst>
              </a:tr>
              <a:tr h="374859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78989"/>
                  </a:ext>
                </a:extLst>
              </a:tr>
              <a:tr h="374859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8874892"/>
                  </a:ext>
                </a:extLst>
              </a:tr>
              <a:tr h="374859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8774765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7218399" y="2137045"/>
            <a:ext cx="5995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10</a:t>
            </a:r>
            <a:endParaRPr lang="en-IN" sz="1600" dirty="0"/>
          </a:p>
        </p:txBody>
      </p:sp>
      <p:sp>
        <p:nvSpPr>
          <p:cNvPr id="26" name="TextBox 25"/>
          <p:cNvSpPr txBox="1"/>
          <p:nvPr/>
        </p:nvSpPr>
        <p:spPr>
          <a:xfrm>
            <a:off x="8756255" y="2137045"/>
            <a:ext cx="7630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IT</a:t>
            </a:r>
            <a:endParaRPr lang="en-IN" sz="1600" dirty="0"/>
          </a:p>
        </p:txBody>
      </p:sp>
      <p:sp>
        <p:nvSpPr>
          <p:cNvPr id="27" name="TextBox 26"/>
          <p:cNvSpPr txBox="1"/>
          <p:nvPr/>
        </p:nvSpPr>
        <p:spPr>
          <a:xfrm>
            <a:off x="9726072" y="2137045"/>
            <a:ext cx="8594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200</a:t>
            </a:r>
            <a:endParaRPr lang="en-IN" sz="1600" dirty="0"/>
          </a:p>
        </p:txBody>
      </p:sp>
      <p:sp>
        <p:nvSpPr>
          <p:cNvPr id="28" name="TextBox 27"/>
          <p:cNvSpPr txBox="1"/>
          <p:nvPr/>
        </p:nvSpPr>
        <p:spPr>
          <a:xfrm>
            <a:off x="11270854" y="2137045"/>
            <a:ext cx="7221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1700</a:t>
            </a:r>
            <a:endParaRPr lang="en-IN" sz="1600" dirty="0"/>
          </a:p>
        </p:txBody>
      </p:sp>
      <p:sp>
        <p:nvSpPr>
          <p:cNvPr id="29" name="TextBox 28"/>
          <p:cNvSpPr txBox="1"/>
          <p:nvPr/>
        </p:nvSpPr>
        <p:spPr>
          <a:xfrm>
            <a:off x="7253270" y="2500504"/>
            <a:ext cx="5995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11</a:t>
            </a:r>
            <a:endParaRPr lang="en-IN" sz="1600" dirty="0"/>
          </a:p>
        </p:txBody>
      </p:sp>
      <p:sp>
        <p:nvSpPr>
          <p:cNvPr id="30" name="TextBox 29"/>
          <p:cNvSpPr txBox="1"/>
          <p:nvPr/>
        </p:nvSpPr>
        <p:spPr>
          <a:xfrm>
            <a:off x="8320070" y="2475599"/>
            <a:ext cx="13080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Marketing</a:t>
            </a:r>
            <a:endParaRPr lang="en-IN" sz="1600" dirty="0"/>
          </a:p>
        </p:txBody>
      </p:sp>
      <p:sp>
        <p:nvSpPr>
          <p:cNvPr id="31" name="TextBox 30"/>
          <p:cNvSpPr txBox="1"/>
          <p:nvPr/>
        </p:nvSpPr>
        <p:spPr>
          <a:xfrm>
            <a:off x="9760943" y="2460199"/>
            <a:ext cx="8594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201</a:t>
            </a:r>
            <a:endParaRPr lang="en-IN" sz="1600" dirty="0"/>
          </a:p>
        </p:txBody>
      </p:sp>
      <p:sp>
        <p:nvSpPr>
          <p:cNvPr id="32" name="TextBox 31"/>
          <p:cNvSpPr txBox="1"/>
          <p:nvPr/>
        </p:nvSpPr>
        <p:spPr>
          <a:xfrm>
            <a:off x="11250307" y="2460199"/>
            <a:ext cx="7221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1800</a:t>
            </a:r>
            <a:endParaRPr lang="en-IN" sz="1600" dirty="0"/>
          </a:p>
        </p:txBody>
      </p:sp>
      <p:sp>
        <p:nvSpPr>
          <p:cNvPr id="33" name="TextBox 32"/>
          <p:cNvSpPr txBox="1"/>
          <p:nvPr/>
        </p:nvSpPr>
        <p:spPr>
          <a:xfrm>
            <a:off x="7267124" y="2934553"/>
            <a:ext cx="5995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13</a:t>
            </a:r>
            <a:endParaRPr lang="en-IN" sz="1600" dirty="0"/>
          </a:p>
        </p:txBody>
      </p:sp>
      <p:sp>
        <p:nvSpPr>
          <p:cNvPr id="34" name="TextBox 33"/>
          <p:cNvSpPr txBox="1"/>
          <p:nvPr/>
        </p:nvSpPr>
        <p:spPr>
          <a:xfrm>
            <a:off x="8330461" y="2904909"/>
            <a:ext cx="13080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Resources</a:t>
            </a:r>
            <a:endParaRPr lang="en-IN" sz="1600" dirty="0"/>
          </a:p>
        </p:txBody>
      </p:sp>
      <p:sp>
        <p:nvSpPr>
          <p:cNvPr id="35" name="TextBox 34"/>
          <p:cNvSpPr txBox="1"/>
          <p:nvPr/>
        </p:nvSpPr>
        <p:spPr>
          <a:xfrm>
            <a:off x="9781724" y="2904909"/>
            <a:ext cx="8594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203</a:t>
            </a:r>
            <a:endParaRPr lang="en-IN" sz="1600" dirty="0"/>
          </a:p>
        </p:txBody>
      </p:sp>
      <p:sp>
        <p:nvSpPr>
          <p:cNvPr id="36" name="TextBox 35"/>
          <p:cNvSpPr txBox="1"/>
          <p:nvPr/>
        </p:nvSpPr>
        <p:spPr>
          <a:xfrm>
            <a:off x="11236451" y="2904909"/>
            <a:ext cx="7221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2400</a:t>
            </a:r>
            <a:endParaRPr lang="en-IN" sz="1600" dirty="0"/>
          </a:p>
        </p:txBody>
      </p:sp>
      <p:sp>
        <p:nvSpPr>
          <p:cNvPr id="37" name="TextBox 36"/>
          <p:cNvSpPr txBox="1"/>
          <p:nvPr/>
        </p:nvSpPr>
        <p:spPr>
          <a:xfrm>
            <a:off x="7267124" y="3309246"/>
            <a:ext cx="5995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14</a:t>
            </a:r>
            <a:endParaRPr lang="en-IN" sz="1600" dirty="0"/>
          </a:p>
        </p:txBody>
      </p:sp>
      <p:sp>
        <p:nvSpPr>
          <p:cNvPr id="38" name="TextBox 37"/>
          <p:cNvSpPr txBox="1"/>
          <p:nvPr/>
        </p:nvSpPr>
        <p:spPr>
          <a:xfrm>
            <a:off x="8333924" y="3284341"/>
            <a:ext cx="13080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Shipping</a:t>
            </a:r>
            <a:endParaRPr lang="en-IN" sz="1600" dirty="0"/>
          </a:p>
        </p:txBody>
      </p:sp>
      <p:sp>
        <p:nvSpPr>
          <p:cNvPr id="39" name="TextBox 38"/>
          <p:cNvSpPr txBox="1"/>
          <p:nvPr/>
        </p:nvSpPr>
        <p:spPr>
          <a:xfrm>
            <a:off x="9747088" y="3281042"/>
            <a:ext cx="8594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121</a:t>
            </a:r>
            <a:endParaRPr lang="en-IN" sz="1600" dirty="0"/>
          </a:p>
        </p:txBody>
      </p:sp>
      <p:sp>
        <p:nvSpPr>
          <p:cNvPr id="40" name="TextBox 39"/>
          <p:cNvSpPr txBox="1"/>
          <p:nvPr/>
        </p:nvSpPr>
        <p:spPr>
          <a:xfrm>
            <a:off x="11187962" y="3309246"/>
            <a:ext cx="7221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1500</a:t>
            </a:r>
            <a:endParaRPr lang="en-IN" sz="16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6950023"/>
              </p:ext>
            </p:extLst>
          </p:nvPr>
        </p:nvGraphicFramePr>
        <p:xfrm>
          <a:off x="5678243" y="4207035"/>
          <a:ext cx="6106920" cy="216880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221384">
                  <a:extLst>
                    <a:ext uri="{9D8B030D-6E8A-4147-A177-3AD203B41FA5}">
                      <a16:colId xmlns:a16="http://schemas.microsoft.com/office/drawing/2014/main" val="947547011"/>
                    </a:ext>
                  </a:extLst>
                </a:gridCol>
                <a:gridCol w="1221384">
                  <a:extLst>
                    <a:ext uri="{9D8B030D-6E8A-4147-A177-3AD203B41FA5}">
                      <a16:colId xmlns:a16="http://schemas.microsoft.com/office/drawing/2014/main" val="3860931884"/>
                    </a:ext>
                  </a:extLst>
                </a:gridCol>
                <a:gridCol w="1221384">
                  <a:extLst>
                    <a:ext uri="{9D8B030D-6E8A-4147-A177-3AD203B41FA5}">
                      <a16:colId xmlns:a16="http://schemas.microsoft.com/office/drawing/2014/main" val="795893704"/>
                    </a:ext>
                  </a:extLst>
                </a:gridCol>
                <a:gridCol w="1221384">
                  <a:extLst>
                    <a:ext uri="{9D8B030D-6E8A-4147-A177-3AD203B41FA5}">
                      <a16:colId xmlns:a16="http://schemas.microsoft.com/office/drawing/2014/main" val="2774027876"/>
                    </a:ext>
                  </a:extLst>
                </a:gridCol>
                <a:gridCol w="1221384">
                  <a:extLst>
                    <a:ext uri="{9D8B030D-6E8A-4147-A177-3AD203B41FA5}">
                      <a16:colId xmlns:a16="http://schemas.microsoft.com/office/drawing/2014/main" val="4049993728"/>
                    </a:ext>
                  </a:extLst>
                </a:gridCol>
              </a:tblGrid>
              <a:tr h="382180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employee_id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first_name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last_name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department_id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department_name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3901547"/>
                  </a:ext>
                </a:extLst>
              </a:tr>
              <a:tr h="382180">
                <a:tc>
                  <a:txBody>
                    <a:bodyPr/>
                    <a:lstStyle/>
                    <a:p>
                      <a:r>
                        <a:rPr lang="en-US" dirty="0" smtClean="0"/>
                        <a:t>101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Steven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Cohen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3447763"/>
                  </a:ext>
                </a:extLst>
              </a:tr>
              <a:tr h="382180">
                <a:tc>
                  <a:txBody>
                    <a:bodyPr/>
                    <a:lstStyle/>
                    <a:p>
                      <a:r>
                        <a:rPr lang="en-US" dirty="0" smtClean="0"/>
                        <a:t>102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Edwin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Thomas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Marketing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8264580"/>
                  </a:ext>
                </a:extLst>
              </a:tr>
              <a:tr h="382180">
                <a:tc>
                  <a:txBody>
                    <a:bodyPr/>
                    <a:lstStyle/>
                    <a:p>
                      <a:r>
                        <a:rPr lang="en-US" dirty="0" smtClean="0"/>
                        <a:t>103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Null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Null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9683602"/>
                  </a:ext>
                </a:extLst>
              </a:tr>
              <a:tr h="382180">
                <a:tc>
                  <a:txBody>
                    <a:bodyPr/>
                    <a:lstStyle/>
                    <a:p>
                      <a:r>
                        <a:rPr lang="en-US" dirty="0" smtClean="0"/>
                        <a:t>100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Erik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John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Null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Null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662865"/>
                  </a:ext>
                </a:extLst>
              </a:tr>
            </a:tbl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6916857" y="5582836"/>
            <a:ext cx="890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Harry </a:t>
            </a:r>
            <a:endParaRPr lang="en-IN" dirty="0"/>
          </a:p>
        </p:txBody>
      </p:sp>
      <p:sp>
        <p:nvSpPr>
          <p:cNvPr id="42" name="TextBox 41"/>
          <p:cNvSpPr txBox="1"/>
          <p:nvPr/>
        </p:nvSpPr>
        <p:spPr>
          <a:xfrm>
            <a:off x="8161682" y="5582396"/>
            <a:ext cx="773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Potter</a:t>
            </a:r>
            <a:endParaRPr lang="en-IN" dirty="0"/>
          </a:p>
        </p:txBody>
      </p:sp>
      <p:graphicFrame>
        <p:nvGraphicFramePr>
          <p:cNvPr id="43" name="Table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1674301"/>
              </p:ext>
            </p:extLst>
          </p:nvPr>
        </p:nvGraphicFramePr>
        <p:xfrm>
          <a:off x="768644" y="1484314"/>
          <a:ext cx="4501376" cy="210312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125344">
                  <a:extLst>
                    <a:ext uri="{9D8B030D-6E8A-4147-A177-3AD203B41FA5}">
                      <a16:colId xmlns:a16="http://schemas.microsoft.com/office/drawing/2014/main" val="420006210"/>
                    </a:ext>
                  </a:extLst>
                </a:gridCol>
                <a:gridCol w="1125344">
                  <a:extLst>
                    <a:ext uri="{9D8B030D-6E8A-4147-A177-3AD203B41FA5}">
                      <a16:colId xmlns:a16="http://schemas.microsoft.com/office/drawing/2014/main" val="2249173104"/>
                    </a:ext>
                  </a:extLst>
                </a:gridCol>
                <a:gridCol w="1125344">
                  <a:extLst>
                    <a:ext uri="{9D8B030D-6E8A-4147-A177-3AD203B41FA5}">
                      <a16:colId xmlns:a16="http://schemas.microsoft.com/office/drawing/2014/main" val="55307333"/>
                    </a:ext>
                  </a:extLst>
                </a:gridCol>
                <a:gridCol w="1125344">
                  <a:extLst>
                    <a:ext uri="{9D8B030D-6E8A-4147-A177-3AD203B41FA5}">
                      <a16:colId xmlns:a16="http://schemas.microsoft.com/office/drawing/2014/main" val="688084317"/>
                    </a:ext>
                  </a:extLst>
                </a:gridCol>
              </a:tblGrid>
              <a:tr h="487114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employee_id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first_name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last_name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salary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2002686"/>
                  </a:ext>
                </a:extLst>
              </a:tr>
              <a:tr h="28225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8429340"/>
                  </a:ext>
                </a:extLst>
              </a:tr>
              <a:tr h="28225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4903056"/>
                  </a:ext>
                </a:extLst>
              </a:tr>
              <a:tr h="28225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4107410"/>
                  </a:ext>
                </a:extLst>
              </a:tr>
              <a:tr h="282252">
                <a:tc>
                  <a:txBody>
                    <a:bodyPr/>
                    <a:lstStyle/>
                    <a:p>
                      <a:r>
                        <a:rPr lang="en-US" dirty="0" smtClean="0"/>
                        <a:t>   100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 Erik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 John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10000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143347"/>
                  </a:ext>
                </a:extLst>
              </a:tr>
            </a:tbl>
          </a:graphicData>
        </a:graphic>
      </p:graphicFrame>
      <p:sp>
        <p:nvSpPr>
          <p:cNvPr id="44" name="TextBox 43"/>
          <p:cNvSpPr txBox="1"/>
          <p:nvPr/>
        </p:nvSpPr>
        <p:spPr>
          <a:xfrm>
            <a:off x="928232" y="2110632"/>
            <a:ext cx="661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103</a:t>
            </a:r>
            <a:endParaRPr lang="en-IN" dirty="0"/>
          </a:p>
        </p:txBody>
      </p:sp>
      <p:sp>
        <p:nvSpPr>
          <p:cNvPr id="45" name="TextBox 44"/>
          <p:cNvSpPr txBox="1"/>
          <p:nvPr/>
        </p:nvSpPr>
        <p:spPr>
          <a:xfrm>
            <a:off x="2172102" y="2867720"/>
            <a:ext cx="890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Steven</a:t>
            </a:r>
            <a:endParaRPr lang="en-IN" dirty="0"/>
          </a:p>
        </p:txBody>
      </p:sp>
      <p:sp>
        <p:nvSpPr>
          <p:cNvPr id="46" name="TextBox 45"/>
          <p:cNvSpPr txBox="1"/>
          <p:nvPr/>
        </p:nvSpPr>
        <p:spPr>
          <a:xfrm>
            <a:off x="3206568" y="2867720"/>
            <a:ext cx="913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Cohen</a:t>
            </a:r>
            <a:endParaRPr lang="en-IN" dirty="0"/>
          </a:p>
        </p:txBody>
      </p:sp>
      <p:sp>
        <p:nvSpPr>
          <p:cNvPr id="47" name="TextBox 46"/>
          <p:cNvSpPr txBox="1"/>
          <p:nvPr/>
        </p:nvSpPr>
        <p:spPr>
          <a:xfrm>
            <a:off x="4353296" y="2867720"/>
            <a:ext cx="840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10000</a:t>
            </a:r>
            <a:endParaRPr lang="en-IN" dirty="0"/>
          </a:p>
        </p:txBody>
      </p:sp>
      <p:sp>
        <p:nvSpPr>
          <p:cNvPr id="48" name="TextBox 47"/>
          <p:cNvSpPr txBox="1"/>
          <p:nvPr/>
        </p:nvSpPr>
        <p:spPr>
          <a:xfrm>
            <a:off x="928232" y="2442144"/>
            <a:ext cx="661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102</a:t>
            </a:r>
            <a:endParaRPr lang="en-IN" dirty="0"/>
          </a:p>
        </p:txBody>
      </p:sp>
      <p:sp>
        <p:nvSpPr>
          <p:cNvPr id="49" name="TextBox 48"/>
          <p:cNvSpPr txBox="1"/>
          <p:nvPr/>
        </p:nvSpPr>
        <p:spPr>
          <a:xfrm>
            <a:off x="2163688" y="2489176"/>
            <a:ext cx="906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Edwin</a:t>
            </a:r>
            <a:endParaRPr lang="en-IN" dirty="0"/>
          </a:p>
        </p:txBody>
      </p:sp>
      <p:sp>
        <p:nvSpPr>
          <p:cNvPr id="50" name="TextBox 49"/>
          <p:cNvSpPr txBox="1"/>
          <p:nvPr/>
        </p:nvSpPr>
        <p:spPr>
          <a:xfrm>
            <a:off x="3231358" y="2504565"/>
            <a:ext cx="9165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Thomas</a:t>
            </a:r>
            <a:endParaRPr lang="en-IN" sz="1600" dirty="0"/>
          </a:p>
        </p:txBody>
      </p:sp>
      <p:sp>
        <p:nvSpPr>
          <p:cNvPr id="51" name="TextBox 50"/>
          <p:cNvSpPr txBox="1"/>
          <p:nvPr/>
        </p:nvSpPr>
        <p:spPr>
          <a:xfrm>
            <a:off x="4316864" y="2471145"/>
            <a:ext cx="1077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15000</a:t>
            </a:r>
            <a:endParaRPr lang="en-IN" dirty="0"/>
          </a:p>
        </p:txBody>
      </p:sp>
      <p:sp>
        <p:nvSpPr>
          <p:cNvPr id="52" name="TextBox 51"/>
          <p:cNvSpPr txBox="1"/>
          <p:nvPr/>
        </p:nvSpPr>
        <p:spPr>
          <a:xfrm>
            <a:off x="928233" y="2845087"/>
            <a:ext cx="661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101</a:t>
            </a:r>
            <a:endParaRPr lang="en-IN" dirty="0"/>
          </a:p>
        </p:txBody>
      </p:sp>
      <p:sp>
        <p:nvSpPr>
          <p:cNvPr id="53" name="TextBox 52"/>
          <p:cNvSpPr txBox="1"/>
          <p:nvPr/>
        </p:nvSpPr>
        <p:spPr>
          <a:xfrm>
            <a:off x="2172102" y="2110632"/>
            <a:ext cx="890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Harry </a:t>
            </a:r>
            <a:endParaRPr lang="en-IN" dirty="0"/>
          </a:p>
        </p:txBody>
      </p:sp>
      <p:sp>
        <p:nvSpPr>
          <p:cNvPr id="54" name="TextBox 53"/>
          <p:cNvSpPr txBox="1"/>
          <p:nvPr/>
        </p:nvSpPr>
        <p:spPr>
          <a:xfrm>
            <a:off x="3275796" y="2093197"/>
            <a:ext cx="773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Potter</a:t>
            </a:r>
            <a:endParaRPr lang="en-IN" dirty="0"/>
          </a:p>
        </p:txBody>
      </p:sp>
      <p:sp>
        <p:nvSpPr>
          <p:cNvPr id="55" name="TextBox 54"/>
          <p:cNvSpPr txBox="1"/>
          <p:nvPr/>
        </p:nvSpPr>
        <p:spPr>
          <a:xfrm>
            <a:off x="4330271" y="2110632"/>
            <a:ext cx="1077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20000</a:t>
            </a:r>
            <a:endParaRPr lang="en-IN" dirty="0"/>
          </a:p>
        </p:txBody>
      </p:sp>
      <p:graphicFrame>
        <p:nvGraphicFramePr>
          <p:cNvPr id="56" name="Table 55"/>
          <p:cNvGraphicFramePr>
            <a:graphicFrameLocks noGrp="1"/>
          </p:cNvGraphicFramePr>
          <p:nvPr>
            <p:extLst/>
          </p:nvPr>
        </p:nvGraphicFramePr>
        <p:xfrm>
          <a:off x="5273452" y="1482421"/>
          <a:ext cx="1323621" cy="210312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323621">
                  <a:extLst>
                    <a:ext uri="{9D8B030D-6E8A-4147-A177-3AD203B41FA5}">
                      <a16:colId xmlns:a16="http://schemas.microsoft.com/office/drawing/2014/main" val="3862492285"/>
                    </a:ext>
                  </a:extLst>
                </a:gridCol>
              </a:tblGrid>
              <a:tr h="487114">
                <a:tc>
                  <a:txBody>
                    <a:bodyPr/>
                    <a:lstStyle/>
                    <a:p>
                      <a:r>
                        <a:rPr lang="en-US" dirty="0" smtClean="0"/>
                        <a:t>Department_id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1136965"/>
                  </a:ext>
                </a:extLst>
              </a:tr>
              <a:tr h="278351">
                <a:tc>
                  <a:txBody>
                    <a:bodyPr/>
                    <a:lstStyle/>
                    <a:p>
                      <a:r>
                        <a:rPr lang="en-US" dirty="0" smtClean="0"/>
                        <a:t>12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0305279"/>
                  </a:ext>
                </a:extLst>
              </a:tr>
              <a:tr h="278351">
                <a:tc>
                  <a:txBody>
                    <a:bodyPr/>
                    <a:lstStyle/>
                    <a:p>
                      <a:r>
                        <a:rPr lang="en-US" dirty="0" smtClean="0"/>
                        <a:t>11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7277247"/>
                  </a:ext>
                </a:extLst>
              </a:tr>
              <a:tr h="332524"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0651549"/>
                  </a:ext>
                </a:extLst>
              </a:tr>
              <a:tr h="302993">
                <a:tc>
                  <a:txBody>
                    <a:bodyPr/>
                    <a:lstStyle/>
                    <a:p>
                      <a:r>
                        <a:rPr lang="en-US" dirty="0" smtClean="0"/>
                        <a:t>12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47364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7970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SQL RIGHT JOIN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75EB18E-7DE0-462F-925E-B153ED663F68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82772" y="1494261"/>
            <a:ext cx="8929267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000000"/>
                </a:solidFill>
                <a:ea typeface="Segoe UI" panose="020B0502040204020203" pitchFamily="34" charset="0"/>
                <a:cs typeface="Arial" panose="020B0604020202020204" pitchFamily="34" charset="0"/>
              </a:rPr>
              <a:t>The RIGHT JOIN re</a:t>
            </a:r>
            <a:r>
              <a:rPr lang="en-US" sz="2000" dirty="0" smtClean="0">
                <a:cs typeface="Arial" panose="020B0604020202020204" pitchFamily="34" charset="0"/>
              </a:rPr>
              <a:t>turns </a:t>
            </a:r>
            <a:r>
              <a:rPr lang="en-US" sz="2000" dirty="0">
                <a:cs typeface="Arial" panose="020B0604020202020204" pitchFamily="34" charset="0"/>
              </a:rPr>
              <a:t>all the values from the right table, plus matched values from the left table or NULL in case of no matching join predicate.</a:t>
            </a:r>
          </a:p>
          <a:p>
            <a:pPr algn="just"/>
            <a:endParaRPr lang="en-US" sz="2000" dirty="0">
              <a:ea typeface="Segoe UI" panose="020B0502040204020203" pitchFamily="34" charset="0"/>
              <a:cs typeface="Arial" panose="020B0604020202020204" pitchFamily="34" charset="0"/>
            </a:endParaRPr>
          </a:p>
          <a:p>
            <a:r>
              <a:rPr lang="en-US" sz="2000" dirty="0" smtClean="0">
                <a:solidFill>
                  <a:srgbClr val="000000"/>
                </a:solidFill>
                <a:ea typeface="Segoe UI" panose="020B0502040204020203" pitchFamily="34" charset="0"/>
                <a:cs typeface="Arial" panose="020B0604020202020204" pitchFamily="34" charset="0"/>
              </a:rPr>
              <a:t>SYNTAX :</a:t>
            </a:r>
          </a:p>
          <a:p>
            <a:endParaRPr lang="en-US" sz="2000" dirty="0" smtClean="0">
              <a:solidFill>
                <a:srgbClr val="000000"/>
              </a:solidFill>
              <a:ea typeface="Segoe UI" panose="020B0502040204020203" pitchFamily="34" charset="0"/>
              <a:cs typeface="Arial" panose="020B0604020202020204" pitchFamily="34" charset="0"/>
            </a:endParaRPr>
          </a:p>
          <a:p>
            <a:r>
              <a:rPr lang="en-US" sz="2000" dirty="0" smtClean="0">
                <a:solidFill>
                  <a:srgbClr val="000000"/>
                </a:solidFill>
                <a:ea typeface="Segoe UI" panose="020B0502040204020203" pitchFamily="34" charset="0"/>
                <a:cs typeface="Arial" panose="020B0604020202020204" pitchFamily="34" charset="0"/>
              </a:rPr>
              <a:t>SELECT table1.col1, table2.col2,…, table1.coln </a:t>
            </a:r>
          </a:p>
          <a:p>
            <a:r>
              <a:rPr lang="en-US" sz="2000" dirty="0" smtClean="0">
                <a:solidFill>
                  <a:srgbClr val="000000"/>
                </a:solidFill>
                <a:ea typeface="Segoe UI" panose="020B0502040204020203" pitchFamily="34" charset="0"/>
                <a:cs typeface="Arial" panose="020B0604020202020204" pitchFamily="34" charset="0"/>
              </a:rPr>
              <a:t>FROM table1 </a:t>
            </a:r>
          </a:p>
          <a:p>
            <a:r>
              <a:rPr lang="en-US" sz="2000" dirty="0" smtClean="0">
                <a:solidFill>
                  <a:srgbClr val="000000"/>
                </a:solidFill>
                <a:ea typeface="Segoe UI" panose="020B0502040204020203" pitchFamily="34" charset="0"/>
                <a:cs typeface="Arial" panose="020B0604020202020204" pitchFamily="34" charset="0"/>
              </a:rPr>
              <a:t>RIGHT JOIN table2 </a:t>
            </a:r>
          </a:p>
          <a:p>
            <a:r>
              <a:rPr lang="en-US" sz="2000" dirty="0" smtClean="0">
                <a:solidFill>
                  <a:srgbClr val="000000"/>
                </a:solidFill>
                <a:ea typeface="Segoe UI" panose="020B0502040204020203" pitchFamily="34" charset="0"/>
                <a:cs typeface="Arial" panose="020B0604020202020204" pitchFamily="34" charset="0"/>
              </a:rPr>
              <a:t>ON table1.commonfield = table2.commonfield;</a:t>
            </a:r>
          </a:p>
        </p:txBody>
      </p:sp>
    </p:spTree>
    <p:extLst>
      <p:ext uri="{BB962C8B-B14F-4D97-AF65-F5344CB8AC3E}">
        <p14:creationId xmlns:p14="http://schemas.microsoft.com/office/powerpoint/2010/main" val="1883312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780618" y="1489849"/>
            <a:ext cx="10622576" cy="4904394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  <a:cs typeface="Arial" panose="020B0604020202020204" pitchFamily="34" charset="0"/>
              </a:rPr>
              <a:t>List all departments those with and without </a:t>
            </a:r>
            <a:r>
              <a:rPr lang="en-US" sz="2000" dirty="0" smtClean="0">
                <a:latin typeface="+mn-lt"/>
                <a:cs typeface="Arial" panose="020B0604020202020204" pitchFamily="34" charset="0"/>
              </a:rPr>
              <a:t>managers</a:t>
            </a:r>
          </a:p>
          <a:p>
            <a:pPr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2000" dirty="0">
              <a:latin typeface="+mn-lt"/>
              <a:cs typeface="Arial" panose="020B0604020202020204" pitchFamily="34" charset="0"/>
            </a:endParaRP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+mn-lt"/>
                <a:cs typeface="Arial" panose="020B0604020202020204" pitchFamily="34" charset="0"/>
              </a:rPr>
              <a:t>For </a:t>
            </a:r>
            <a:r>
              <a:rPr lang="en-US" sz="2000" dirty="0">
                <a:latin typeface="+mn-lt"/>
                <a:cs typeface="Arial" panose="020B0604020202020204" pitchFamily="34" charset="0"/>
              </a:rPr>
              <a:t>those departments where there are no managers, their names will be shown as NULL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000" dirty="0"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DBMS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A7BD299-4115-435C-9390-0BF281B3F2C8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SQL RIGHT JOIN</a:t>
            </a:r>
          </a:p>
        </p:txBody>
      </p:sp>
    </p:spTree>
    <p:extLst>
      <p:ext uri="{BB962C8B-B14F-4D97-AF65-F5344CB8AC3E}">
        <p14:creationId xmlns:p14="http://schemas.microsoft.com/office/powerpoint/2010/main" val="1649835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SQL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RIGHT JOIN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75EB18E-7DE0-462F-925E-B153ED663F68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8691" y="3696342"/>
            <a:ext cx="625422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e.employee_id, e.first_name, e.last_name, 	d.department_id, d.department_name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employees e </a:t>
            </a:r>
          </a:p>
          <a:p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RIGHT 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JOIN departments d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 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e.department_id=d.department_id;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41" name="Table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9119004"/>
              </p:ext>
            </p:extLst>
          </p:nvPr>
        </p:nvGraphicFramePr>
        <p:xfrm>
          <a:off x="5678243" y="4207035"/>
          <a:ext cx="6106920" cy="216880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221384">
                  <a:extLst>
                    <a:ext uri="{9D8B030D-6E8A-4147-A177-3AD203B41FA5}">
                      <a16:colId xmlns:a16="http://schemas.microsoft.com/office/drawing/2014/main" val="947547011"/>
                    </a:ext>
                  </a:extLst>
                </a:gridCol>
                <a:gridCol w="1221384">
                  <a:extLst>
                    <a:ext uri="{9D8B030D-6E8A-4147-A177-3AD203B41FA5}">
                      <a16:colId xmlns:a16="http://schemas.microsoft.com/office/drawing/2014/main" val="3860931884"/>
                    </a:ext>
                  </a:extLst>
                </a:gridCol>
                <a:gridCol w="1221384">
                  <a:extLst>
                    <a:ext uri="{9D8B030D-6E8A-4147-A177-3AD203B41FA5}">
                      <a16:colId xmlns:a16="http://schemas.microsoft.com/office/drawing/2014/main" val="795893704"/>
                    </a:ext>
                  </a:extLst>
                </a:gridCol>
                <a:gridCol w="1221384">
                  <a:extLst>
                    <a:ext uri="{9D8B030D-6E8A-4147-A177-3AD203B41FA5}">
                      <a16:colId xmlns:a16="http://schemas.microsoft.com/office/drawing/2014/main" val="2774027876"/>
                    </a:ext>
                  </a:extLst>
                </a:gridCol>
                <a:gridCol w="1221384">
                  <a:extLst>
                    <a:ext uri="{9D8B030D-6E8A-4147-A177-3AD203B41FA5}">
                      <a16:colId xmlns:a16="http://schemas.microsoft.com/office/drawing/2014/main" val="4049993728"/>
                    </a:ext>
                  </a:extLst>
                </a:gridCol>
              </a:tblGrid>
              <a:tr h="382180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employee_id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first_name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last_name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department_id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department_name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3901547"/>
                  </a:ext>
                </a:extLst>
              </a:tr>
              <a:tr h="382180">
                <a:tc>
                  <a:txBody>
                    <a:bodyPr/>
                    <a:lstStyle/>
                    <a:p>
                      <a:r>
                        <a:rPr lang="en-US" dirty="0" smtClean="0"/>
                        <a:t>101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Steven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Cohen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3447763"/>
                  </a:ext>
                </a:extLst>
              </a:tr>
              <a:tr h="382180">
                <a:tc>
                  <a:txBody>
                    <a:bodyPr/>
                    <a:lstStyle/>
                    <a:p>
                      <a:r>
                        <a:rPr lang="en-US" dirty="0" smtClean="0"/>
                        <a:t>102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Edwin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Thomas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Marketing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8264580"/>
                  </a:ext>
                </a:extLst>
              </a:tr>
              <a:tr h="3821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Null</a:t>
                      </a:r>
                      <a:endParaRPr lang="en-IN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Null</a:t>
                      </a:r>
                      <a:endParaRPr lang="en-IN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Null</a:t>
                      </a:r>
                      <a:endParaRPr lang="en-IN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Resources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9683602"/>
                  </a:ext>
                </a:extLst>
              </a:tr>
              <a:tr h="3821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Null</a:t>
                      </a:r>
                      <a:endParaRPr lang="en-IN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Null</a:t>
                      </a:r>
                      <a:endParaRPr lang="en-IN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Null</a:t>
                      </a:r>
                      <a:endParaRPr lang="en-IN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Shipping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662865"/>
                  </a:ext>
                </a:extLst>
              </a:tr>
            </a:tbl>
          </a:graphicData>
        </a:graphic>
      </p:graphicFrame>
      <p:graphicFrame>
        <p:nvGraphicFramePr>
          <p:cNvPr id="57" name="Table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6711627"/>
              </p:ext>
            </p:extLst>
          </p:nvPr>
        </p:nvGraphicFramePr>
        <p:xfrm>
          <a:off x="6741021" y="1483445"/>
          <a:ext cx="5395568" cy="2139516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348892">
                  <a:extLst>
                    <a:ext uri="{9D8B030D-6E8A-4147-A177-3AD203B41FA5}">
                      <a16:colId xmlns:a16="http://schemas.microsoft.com/office/drawing/2014/main" val="2865986226"/>
                    </a:ext>
                  </a:extLst>
                </a:gridCol>
                <a:gridCol w="1348892">
                  <a:extLst>
                    <a:ext uri="{9D8B030D-6E8A-4147-A177-3AD203B41FA5}">
                      <a16:colId xmlns:a16="http://schemas.microsoft.com/office/drawing/2014/main" val="4266919079"/>
                    </a:ext>
                  </a:extLst>
                </a:gridCol>
                <a:gridCol w="1348892">
                  <a:extLst>
                    <a:ext uri="{9D8B030D-6E8A-4147-A177-3AD203B41FA5}">
                      <a16:colId xmlns:a16="http://schemas.microsoft.com/office/drawing/2014/main" val="83839121"/>
                    </a:ext>
                  </a:extLst>
                </a:gridCol>
                <a:gridCol w="1348892">
                  <a:extLst>
                    <a:ext uri="{9D8B030D-6E8A-4147-A177-3AD203B41FA5}">
                      <a16:colId xmlns:a16="http://schemas.microsoft.com/office/drawing/2014/main" val="35562137"/>
                    </a:ext>
                  </a:extLst>
                </a:gridCol>
              </a:tblGrid>
              <a:tr h="610081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department_id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department_name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manager_id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location_id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6926479"/>
                  </a:ext>
                </a:extLst>
              </a:tr>
              <a:tr h="374859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492626"/>
                  </a:ext>
                </a:extLst>
              </a:tr>
              <a:tr h="374859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78989"/>
                  </a:ext>
                </a:extLst>
              </a:tr>
              <a:tr h="374859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8874892"/>
                  </a:ext>
                </a:extLst>
              </a:tr>
              <a:tr h="374859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8774765"/>
                  </a:ext>
                </a:extLst>
              </a:tr>
            </a:tbl>
          </a:graphicData>
        </a:graphic>
      </p:graphicFrame>
      <p:sp>
        <p:nvSpPr>
          <p:cNvPr id="58" name="TextBox 57"/>
          <p:cNvSpPr txBox="1"/>
          <p:nvPr/>
        </p:nvSpPr>
        <p:spPr>
          <a:xfrm>
            <a:off x="7204543" y="2137045"/>
            <a:ext cx="5995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10</a:t>
            </a:r>
            <a:endParaRPr lang="en-IN" sz="1600" dirty="0"/>
          </a:p>
        </p:txBody>
      </p:sp>
      <p:sp>
        <p:nvSpPr>
          <p:cNvPr id="59" name="TextBox 58"/>
          <p:cNvSpPr txBox="1"/>
          <p:nvPr/>
        </p:nvSpPr>
        <p:spPr>
          <a:xfrm>
            <a:off x="8742399" y="2137045"/>
            <a:ext cx="7630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IT</a:t>
            </a:r>
            <a:endParaRPr lang="en-IN" sz="1600" dirty="0"/>
          </a:p>
        </p:txBody>
      </p:sp>
      <p:sp>
        <p:nvSpPr>
          <p:cNvPr id="60" name="TextBox 59"/>
          <p:cNvSpPr txBox="1"/>
          <p:nvPr/>
        </p:nvSpPr>
        <p:spPr>
          <a:xfrm>
            <a:off x="9712216" y="2137045"/>
            <a:ext cx="8594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200</a:t>
            </a:r>
            <a:endParaRPr lang="en-IN" sz="1600" dirty="0"/>
          </a:p>
        </p:txBody>
      </p:sp>
      <p:sp>
        <p:nvSpPr>
          <p:cNvPr id="61" name="TextBox 60"/>
          <p:cNvSpPr txBox="1"/>
          <p:nvPr/>
        </p:nvSpPr>
        <p:spPr>
          <a:xfrm>
            <a:off x="11256998" y="2137045"/>
            <a:ext cx="7221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1700</a:t>
            </a:r>
            <a:endParaRPr lang="en-IN" sz="1600" dirty="0"/>
          </a:p>
        </p:txBody>
      </p:sp>
      <p:sp>
        <p:nvSpPr>
          <p:cNvPr id="62" name="TextBox 61"/>
          <p:cNvSpPr txBox="1"/>
          <p:nvPr/>
        </p:nvSpPr>
        <p:spPr>
          <a:xfrm>
            <a:off x="7239414" y="2500504"/>
            <a:ext cx="5995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11</a:t>
            </a:r>
            <a:endParaRPr lang="en-IN" sz="1600" dirty="0"/>
          </a:p>
        </p:txBody>
      </p:sp>
      <p:sp>
        <p:nvSpPr>
          <p:cNvPr id="63" name="TextBox 62"/>
          <p:cNvSpPr txBox="1"/>
          <p:nvPr/>
        </p:nvSpPr>
        <p:spPr>
          <a:xfrm>
            <a:off x="8306214" y="2475599"/>
            <a:ext cx="13080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Marketing</a:t>
            </a:r>
            <a:endParaRPr lang="en-IN" sz="1600" dirty="0"/>
          </a:p>
        </p:txBody>
      </p:sp>
      <p:sp>
        <p:nvSpPr>
          <p:cNvPr id="64" name="TextBox 63"/>
          <p:cNvSpPr txBox="1"/>
          <p:nvPr/>
        </p:nvSpPr>
        <p:spPr>
          <a:xfrm>
            <a:off x="9747087" y="2460199"/>
            <a:ext cx="8594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201</a:t>
            </a:r>
            <a:endParaRPr lang="en-IN" sz="1600" dirty="0"/>
          </a:p>
        </p:txBody>
      </p:sp>
      <p:sp>
        <p:nvSpPr>
          <p:cNvPr id="65" name="TextBox 64"/>
          <p:cNvSpPr txBox="1"/>
          <p:nvPr/>
        </p:nvSpPr>
        <p:spPr>
          <a:xfrm>
            <a:off x="11236451" y="2460199"/>
            <a:ext cx="7221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1800</a:t>
            </a:r>
            <a:endParaRPr lang="en-IN" sz="1600" dirty="0"/>
          </a:p>
        </p:txBody>
      </p:sp>
      <p:sp>
        <p:nvSpPr>
          <p:cNvPr id="66" name="TextBox 65"/>
          <p:cNvSpPr txBox="1"/>
          <p:nvPr/>
        </p:nvSpPr>
        <p:spPr>
          <a:xfrm>
            <a:off x="7253268" y="2934553"/>
            <a:ext cx="5995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13</a:t>
            </a:r>
            <a:endParaRPr lang="en-IN" sz="1600" dirty="0"/>
          </a:p>
        </p:txBody>
      </p:sp>
      <p:sp>
        <p:nvSpPr>
          <p:cNvPr id="67" name="TextBox 66"/>
          <p:cNvSpPr txBox="1"/>
          <p:nvPr/>
        </p:nvSpPr>
        <p:spPr>
          <a:xfrm>
            <a:off x="8316605" y="2904909"/>
            <a:ext cx="13080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Resources</a:t>
            </a:r>
            <a:endParaRPr lang="en-IN" sz="1600" dirty="0"/>
          </a:p>
        </p:txBody>
      </p:sp>
      <p:sp>
        <p:nvSpPr>
          <p:cNvPr id="68" name="TextBox 67"/>
          <p:cNvSpPr txBox="1"/>
          <p:nvPr/>
        </p:nvSpPr>
        <p:spPr>
          <a:xfrm>
            <a:off x="9767868" y="2904909"/>
            <a:ext cx="8594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203</a:t>
            </a:r>
            <a:endParaRPr lang="en-IN" sz="1600" dirty="0"/>
          </a:p>
        </p:txBody>
      </p:sp>
      <p:sp>
        <p:nvSpPr>
          <p:cNvPr id="69" name="TextBox 68"/>
          <p:cNvSpPr txBox="1"/>
          <p:nvPr/>
        </p:nvSpPr>
        <p:spPr>
          <a:xfrm>
            <a:off x="11222595" y="2904909"/>
            <a:ext cx="7221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2400</a:t>
            </a:r>
            <a:endParaRPr lang="en-IN" sz="1600" dirty="0"/>
          </a:p>
        </p:txBody>
      </p:sp>
      <p:sp>
        <p:nvSpPr>
          <p:cNvPr id="70" name="TextBox 69"/>
          <p:cNvSpPr txBox="1"/>
          <p:nvPr/>
        </p:nvSpPr>
        <p:spPr>
          <a:xfrm>
            <a:off x="7253268" y="3309246"/>
            <a:ext cx="5995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14</a:t>
            </a:r>
            <a:endParaRPr lang="en-IN" sz="1600" dirty="0"/>
          </a:p>
        </p:txBody>
      </p:sp>
      <p:sp>
        <p:nvSpPr>
          <p:cNvPr id="71" name="TextBox 70"/>
          <p:cNvSpPr txBox="1"/>
          <p:nvPr/>
        </p:nvSpPr>
        <p:spPr>
          <a:xfrm>
            <a:off x="8320068" y="3284341"/>
            <a:ext cx="13080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Shipping</a:t>
            </a:r>
            <a:endParaRPr lang="en-IN" sz="1600" dirty="0"/>
          </a:p>
        </p:txBody>
      </p:sp>
      <p:sp>
        <p:nvSpPr>
          <p:cNvPr id="72" name="TextBox 71"/>
          <p:cNvSpPr txBox="1"/>
          <p:nvPr/>
        </p:nvSpPr>
        <p:spPr>
          <a:xfrm>
            <a:off x="9733232" y="3281042"/>
            <a:ext cx="8594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121</a:t>
            </a:r>
            <a:endParaRPr lang="en-IN" sz="1600" dirty="0"/>
          </a:p>
        </p:txBody>
      </p:sp>
      <p:sp>
        <p:nvSpPr>
          <p:cNvPr id="73" name="TextBox 72"/>
          <p:cNvSpPr txBox="1"/>
          <p:nvPr/>
        </p:nvSpPr>
        <p:spPr>
          <a:xfrm>
            <a:off x="11174106" y="3309246"/>
            <a:ext cx="7221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1500</a:t>
            </a:r>
            <a:endParaRPr lang="en-IN" sz="1600" dirty="0"/>
          </a:p>
        </p:txBody>
      </p:sp>
      <p:graphicFrame>
        <p:nvGraphicFramePr>
          <p:cNvPr id="39" name="Table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2893558"/>
              </p:ext>
            </p:extLst>
          </p:nvPr>
        </p:nvGraphicFramePr>
        <p:xfrm>
          <a:off x="768644" y="1484314"/>
          <a:ext cx="4501376" cy="210312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125344">
                  <a:extLst>
                    <a:ext uri="{9D8B030D-6E8A-4147-A177-3AD203B41FA5}">
                      <a16:colId xmlns:a16="http://schemas.microsoft.com/office/drawing/2014/main" val="420006210"/>
                    </a:ext>
                  </a:extLst>
                </a:gridCol>
                <a:gridCol w="1125344">
                  <a:extLst>
                    <a:ext uri="{9D8B030D-6E8A-4147-A177-3AD203B41FA5}">
                      <a16:colId xmlns:a16="http://schemas.microsoft.com/office/drawing/2014/main" val="2249173104"/>
                    </a:ext>
                  </a:extLst>
                </a:gridCol>
                <a:gridCol w="1125344">
                  <a:extLst>
                    <a:ext uri="{9D8B030D-6E8A-4147-A177-3AD203B41FA5}">
                      <a16:colId xmlns:a16="http://schemas.microsoft.com/office/drawing/2014/main" val="55307333"/>
                    </a:ext>
                  </a:extLst>
                </a:gridCol>
                <a:gridCol w="1125344">
                  <a:extLst>
                    <a:ext uri="{9D8B030D-6E8A-4147-A177-3AD203B41FA5}">
                      <a16:colId xmlns:a16="http://schemas.microsoft.com/office/drawing/2014/main" val="688084317"/>
                    </a:ext>
                  </a:extLst>
                </a:gridCol>
              </a:tblGrid>
              <a:tr h="48711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employee_id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first_name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last_name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salary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2002686"/>
                  </a:ext>
                </a:extLst>
              </a:tr>
              <a:tr h="28225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8429340"/>
                  </a:ext>
                </a:extLst>
              </a:tr>
              <a:tr h="28225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4903056"/>
                  </a:ext>
                </a:extLst>
              </a:tr>
              <a:tr h="28225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4107410"/>
                  </a:ext>
                </a:extLst>
              </a:tr>
              <a:tr h="282252">
                <a:tc>
                  <a:txBody>
                    <a:bodyPr/>
                    <a:lstStyle/>
                    <a:p>
                      <a:r>
                        <a:rPr lang="en-US" dirty="0" smtClean="0"/>
                        <a:t>   100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 Erik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 John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10000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143347"/>
                  </a:ext>
                </a:extLst>
              </a:tr>
            </a:tbl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928232" y="2110632"/>
            <a:ext cx="661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103</a:t>
            </a:r>
            <a:endParaRPr lang="en-IN" dirty="0"/>
          </a:p>
        </p:txBody>
      </p:sp>
      <p:sp>
        <p:nvSpPr>
          <p:cNvPr id="74" name="TextBox 73"/>
          <p:cNvSpPr txBox="1"/>
          <p:nvPr/>
        </p:nvSpPr>
        <p:spPr>
          <a:xfrm>
            <a:off x="2172102" y="2867720"/>
            <a:ext cx="890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Steven</a:t>
            </a:r>
            <a:endParaRPr lang="en-IN" dirty="0"/>
          </a:p>
        </p:txBody>
      </p:sp>
      <p:sp>
        <p:nvSpPr>
          <p:cNvPr id="75" name="TextBox 74"/>
          <p:cNvSpPr txBox="1"/>
          <p:nvPr/>
        </p:nvSpPr>
        <p:spPr>
          <a:xfrm>
            <a:off x="3206568" y="2867720"/>
            <a:ext cx="913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Cohen</a:t>
            </a:r>
            <a:endParaRPr lang="en-IN" dirty="0"/>
          </a:p>
        </p:txBody>
      </p:sp>
      <p:sp>
        <p:nvSpPr>
          <p:cNvPr id="76" name="TextBox 75"/>
          <p:cNvSpPr txBox="1"/>
          <p:nvPr/>
        </p:nvSpPr>
        <p:spPr>
          <a:xfrm>
            <a:off x="4353296" y="2867720"/>
            <a:ext cx="840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10000</a:t>
            </a:r>
            <a:endParaRPr lang="en-IN" dirty="0"/>
          </a:p>
        </p:txBody>
      </p:sp>
      <p:sp>
        <p:nvSpPr>
          <p:cNvPr id="77" name="TextBox 76"/>
          <p:cNvSpPr txBox="1"/>
          <p:nvPr/>
        </p:nvSpPr>
        <p:spPr>
          <a:xfrm>
            <a:off x="928232" y="2442144"/>
            <a:ext cx="661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102</a:t>
            </a:r>
            <a:endParaRPr lang="en-IN" dirty="0"/>
          </a:p>
        </p:txBody>
      </p:sp>
      <p:sp>
        <p:nvSpPr>
          <p:cNvPr id="78" name="TextBox 77"/>
          <p:cNvSpPr txBox="1"/>
          <p:nvPr/>
        </p:nvSpPr>
        <p:spPr>
          <a:xfrm>
            <a:off x="2163688" y="2489176"/>
            <a:ext cx="906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Edwin</a:t>
            </a:r>
            <a:endParaRPr lang="en-IN" dirty="0"/>
          </a:p>
        </p:txBody>
      </p:sp>
      <p:sp>
        <p:nvSpPr>
          <p:cNvPr id="79" name="TextBox 78"/>
          <p:cNvSpPr txBox="1"/>
          <p:nvPr/>
        </p:nvSpPr>
        <p:spPr>
          <a:xfrm>
            <a:off x="3231358" y="2504565"/>
            <a:ext cx="9165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Thomas</a:t>
            </a:r>
            <a:endParaRPr lang="en-IN" sz="1600" dirty="0"/>
          </a:p>
        </p:txBody>
      </p:sp>
      <p:sp>
        <p:nvSpPr>
          <p:cNvPr id="80" name="TextBox 79"/>
          <p:cNvSpPr txBox="1"/>
          <p:nvPr/>
        </p:nvSpPr>
        <p:spPr>
          <a:xfrm>
            <a:off x="4316864" y="2471145"/>
            <a:ext cx="1077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15000</a:t>
            </a:r>
            <a:endParaRPr lang="en-IN" dirty="0"/>
          </a:p>
        </p:txBody>
      </p:sp>
      <p:sp>
        <p:nvSpPr>
          <p:cNvPr id="81" name="TextBox 80"/>
          <p:cNvSpPr txBox="1"/>
          <p:nvPr/>
        </p:nvSpPr>
        <p:spPr>
          <a:xfrm>
            <a:off x="928233" y="2845087"/>
            <a:ext cx="661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101</a:t>
            </a:r>
            <a:endParaRPr lang="en-IN" dirty="0"/>
          </a:p>
        </p:txBody>
      </p:sp>
      <p:sp>
        <p:nvSpPr>
          <p:cNvPr id="82" name="TextBox 81"/>
          <p:cNvSpPr txBox="1"/>
          <p:nvPr/>
        </p:nvSpPr>
        <p:spPr>
          <a:xfrm>
            <a:off x="2172102" y="2110632"/>
            <a:ext cx="890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Harry </a:t>
            </a:r>
            <a:endParaRPr lang="en-IN" dirty="0"/>
          </a:p>
        </p:txBody>
      </p:sp>
      <p:sp>
        <p:nvSpPr>
          <p:cNvPr id="83" name="TextBox 82"/>
          <p:cNvSpPr txBox="1"/>
          <p:nvPr/>
        </p:nvSpPr>
        <p:spPr>
          <a:xfrm>
            <a:off x="3275796" y="2093197"/>
            <a:ext cx="773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Potter</a:t>
            </a:r>
            <a:endParaRPr lang="en-IN" dirty="0"/>
          </a:p>
        </p:txBody>
      </p:sp>
      <p:sp>
        <p:nvSpPr>
          <p:cNvPr id="84" name="TextBox 83"/>
          <p:cNvSpPr txBox="1"/>
          <p:nvPr/>
        </p:nvSpPr>
        <p:spPr>
          <a:xfrm>
            <a:off x="4330271" y="2110632"/>
            <a:ext cx="1077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20000</a:t>
            </a:r>
            <a:endParaRPr lang="en-IN" dirty="0"/>
          </a:p>
        </p:txBody>
      </p:sp>
      <p:graphicFrame>
        <p:nvGraphicFramePr>
          <p:cNvPr id="85" name="Table 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9912874"/>
              </p:ext>
            </p:extLst>
          </p:nvPr>
        </p:nvGraphicFramePr>
        <p:xfrm>
          <a:off x="5273452" y="1482421"/>
          <a:ext cx="1323621" cy="210312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323621">
                  <a:extLst>
                    <a:ext uri="{9D8B030D-6E8A-4147-A177-3AD203B41FA5}">
                      <a16:colId xmlns:a16="http://schemas.microsoft.com/office/drawing/2014/main" val="3862492285"/>
                    </a:ext>
                  </a:extLst>
                </a:gridCol>
              </a:tblGrid>
              <a:tr h="487114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department_id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1136965"/>
                  </a:ext>
                </a:extLst>
              </a:tr>
              <a:tr h="278351">
                <a:tc>
                  <a:txBody>
                    <a:bodyPr/>
                    <a:lstStyle/>
                    <a:p>
                      <a:r>
                        <a:rPr lang="en-US" dirty="0" smtClean="0"/>
                        <a:t>12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0305279"/>
                  </a:ext>
                </a:extLst>
              </a:tr>
              <a:tr h="278351">
                <a:tc>
                  <a:txBody>
                    <a:bodyPr/>
                    <a:lstStyle/>
                    <a:p>
                      <a:r>
                        <a:rPr lang="en-US" dirty="0" smtClean="0"/>
                        <a:t>11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7277247"/>
                  </a:ext>
                </a:extLst>
              </a:tr>
              <a:tr h="332524"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0651549"/>
                  </a:ext>
                </a:extLst>
              </a:tr>
              <a:tr h="302993">
                <a:tc>
                  <a:txBody>
                    <a:bodyPr/>
                    <a:lstStyle/>
                    <a:p>
                      <a:r>
                        <a:rPr lang="en-US" dirty="0" smtClean="0"/>
                        <a:t>12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47364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7817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SQL FULL OUTER JOIN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75EB18E-7DE0-462F-925E-B153ED663F68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82771" y="1494264"/>
            <a:ext cx="8929267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 smtClean="0">
                <a:solidFill>
                  <a:srgbClr val="000000"/>
                </a:solidFill>
                <a:ea typeface="Segoe UI" panose="020B0502040204020203" pitchFamily="34" charset="0"/>
                <a:cs typeface="Arial" panose="020B0604020202020204" pitchFamily="34" charset="0"/>
              </a:rPr>
              <a:t>The FULL OUTER JOIN combines </a:t>
            </a:r>
            <a:r>
              <a:rPr lang="en-US" sz="2000" dirty="0">
                <a:solidFill>
                  <a:srgbClr val="000000"/>
                </a:solidFill>
                <a:ea typeface="Segoe UI" panose="020B0502040204020203" pitchFamily="34" charset="0"/>
                <a:cs typeface="Arial" panose="020B0604020202020204" pitchFamily="34" charset="0"/>
              </a:rPr>
              <a:t>the results of both left and right outer joins. The joined </a:t>
            </a:r>
            <a:r>
              <a:rPr lang="en-US" sz="2000" dirty="0" smtClean="0">
                <a:solidFill>
                  <a:srgbClr val="000000"/>
                </a:solidFill>
                <a:ea typeface="Segoe UI" panose="020B0502040204020203" pitchFamily="34" charset="0"/>
                <a:cs typeface="Arial" panose="020B0604020202020204" pitchFamily="34" charset="0"/>
              </a:rPr>
              <a:t>table </a:t>
            </a:r>
            <a:r>
              <a:rPr lang="en-US" sz="2000" dirty="0">
                <a:solidFill>
                  <a:srgbClr val="000000"/>
                </a:solidFill>
                <a:ea typeface="Segoe UI" panose="020B0502040204020203" pitchFamily="34" charset="0"/>
                <a:cs typeface="Arial" panose="020B0604020202020204" pitchFamily="34" charset="0"/>
              </a:rPr>
              <a:t>will contain all records from both the tables and fill in NULLs for missing matches on either side.</a:t>
            </a:r>
            <a:endParaRPr lang="en-US" sz="2000" dirty="0">
              <a:cs typeface="Arial" panose="020B0604020202020204" pitchFamily="34" charset="0"/>
            </a:endParaRPr>
          </a:p>
          <a:p>
            <a:pPr algn="just"/>
            <a:endParaRPr lang="en-US" sz="2000" dirty="0">
              <a:ea typeface="Segoe UI" panose="020B0502040204020203" pitchFamily="34" charset="0"/>
              <a:cs typeface="Arial" panose="020B0604020202020204" pitchFamily="34" charset="0"/>
            </a:endParaRPr>
          </a:p>
          <a:p>
            <a:r>
              <a:rPr lang="en-US" sz="2000" b="1" dirty="0" smtClean="0">
                <a:solidFill>
                  <a:srgbClr val="000000"/>
                </a:solidFill>
                <a:ea typeface="Segoe UI" panose="020B0502040204020203" pitchFamily="34" charset="0"/>
                <a:cs typeface="Arial" panose="020B0604020202020204" pitchFamily="34" charset="0"/>
              </a:rPr>
              <a:t>SYNTAX :</a:t>
            </a:r>
          </a:p>
          <a:p>
            <a:endParaRPr lang="en-US" sz="2000" dirty="0" smtClean="0">
              <a:solidFill>
                <a:srgbClr val="000000"/>
              </a:solidFill>
              <a:ea typeface="Segoe UI" panose="020B0502040204020203" pitchFamily="34" charset="0"/>
              <a:cs typeface="Arial" panose="020B0604020202020204" pitchFamily="34" charset="0"/>
            </a:endParaRPr>
          </a:p>
          <a:p>
            <a:r>
              <a:rPr lang="en-US" sz="2000" dirty="0" smtClean="0">
                <a:solidFill>
                  <a:srgbClr val="000000"/>
                </a:solidFill>
                <a:ea typeface="Segoe UI" panose="020B0502040204020203" pitchFamily="34" charset="0"/>
                <a:cs typeface="Arial" panose="020B0604020202020204" pitchFamily="34" charset="0"/>
              </a:rPr>
              <a:t>SELECT table1.col1, table2.col2,…, table1.coln </a:t>
            </a:r>
          </a:p>
          <a:p>
            <a:r>
              <a:rPr lang="en-US" sz="2000" dirty="0" smtClean="0">
                <a:solidFill>
                  <a:srgbClr val="000000"/>
                </a:solidFill>
                <a:ea typeface="Segoe UI" panose="020B0502040204020203" pitchFamily="34" charset="0"/>
                <a:cs typeface="Arial" panose="020B0604020202020204" pitchFamily="34" charset="0"/>
              </a:rPr>
              <a:t>FROM table1 </a:t>
            </a:r>
          </a:p>
          <a:p>
            <a:r>
              <a:rPr lang="en-US" sz="2000" dirty="0">
                <a:solidFill>
                  <a:srgbClr val="000000"/>
                </a:solidFill>
                <a:ea typeface="Segoe UI" panose="020B0502040204020203" pitchFamily="34" charset="0"/>
                <a:cs typeface="Arial" panose="020B0604020202020204" pitchFamily="34" charset="0"/>
              </a:rPr>
              <a:t>L</a:t>
            </a:r>
            <a:r>
              <a:rPr lang="en-US" sz="2000" dirty="0" smtClean="0">
                <a:solidFill>
                  <a:srgbClr val="000000"/>
                </a:solidFill>
                <a:ea typeface="Segoe UI" panose="020B0502040204020203" pitchFamily="34" charset="0"/>
                <a:cs typeface="Arial" panose="020B0604020202020204" pitchFamily="34" charset="0"/>
              </a:rPr>
              <a:t>eft</a:t>
            </a:r>
            <a:r>
              <a:rPr lang="en-US" sz="2000" dirty="0" smtClean="0">
                <a:solidFill>
                  <a:srgbClr val="000000"/>
                </a:solidFill>
                <a:ea typeface="Segoe UI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ea typeface="Segoe UI" panose="020B0502040204020203" pitchFamily="34" charset="0"/>
                <a:cs typeface="Arial" panose="020B0604020202020204" pitchFamily="34" charset="0"/>
              </a:rPr>
              <a:t>JOIN table2 </a:t>
            </a:r>
          </a:p>
          <a:p>
            <a:r>
              <a:rPr lang="en-US" sz="2000" dirty="0" smtClean="0">
                <a:solidFill>
                  <a:srgbClr val="000000"/>
                </a:solidFill>
                <a:ea typeface="Segoe UI" panose="020B0502040204020203" pitchFamily="34" charset="0"/>
                <a:cs typeface="Arial" panose="020B0604020202020204" pitchFamily="34" charset="0"/>
              </a:rPr>
              <a:t>ON table1.commonfield = table2.commonfield</a:t>
            </a:r>
            <a:r>
              <a:rPr lang="en-US" sz="2000" dirty="0" smtClean="0">
                <a:solidFill>
                  <a:srgbClr val="000000"/>
                </a:solidFill>
                <a:ea typeface="Segoe UI" panose="020B0502040204020203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en-US" sz="2000" dirty="0" smtClean="0">
                <a:solidFill>
                  <a:srgbClr val="000000"/>
                </a:solidFill>
                <a:cs typeface="Arial" panose="020B0604020202020204" pitchFamily="34" charset="0"/>
              </a:rPr>
              <a:t>Union</a:t>
            </a:r>
          </a:p>
          <a:p>
            <a:r>
              <a:rPr lang="en-US" sz="2000" dirty="0">
                <a:solidFill>
                  <a:srgbClr val="000000"/>
                </a:solidFill>
                <a:ea typeface="Segoe UI" panose="020B0502040204020203" pitchFamily="34" charset="0"/>
                <a:cs typeface="Arial" panose="020B0604020202020204" pitchFamily="34" charset="0"/>
              </a:rPr>
              <a:t>SELECT table1.col1, table2.col2,…, table1.coln </a:t>
            </a:r>
          </a:p>
          <a:p>
            <a:r>
              <a:rPr lang="en-US" sz="2000" dirty="0">
                <a:solidFill>
                  <a:srgbClr val="000000"/>
                </a:solidFill>
                <a:ea typeface="Segoe UI" panose="020B0502040204020203" pitchFamily="34" charset="0"/>
                <a:cs typeface="Arial" panose="020B0604020202020204" pitchFamily="34" charset="0"/>
              </a:rPr>
              <a:t>FROM table1 </a:t>
            </a:r>
          </a:p>
          <a:p>
            <a:r>
              <a:rPr lang="en-US" sz="2000" dirty="0" smtClean="0">
                <a:solidFill>
                  <a:srgbClr val="000000"/>
                </a:solidFill>
                <a:ea typeface="Segoe UI" panose="020B0502040204020203" pitchFamily="34" charset="0"/>
                <a:cs typeface="Arial" panose="020B0604020202020204" pitchFamily="34" charset="0"/>
              </a:rPr>
              <a:t>Right </a:t>
            </a:r>
            <a:r>
              <a:rPr lang="en-US" sz="2000" dirty="0">
                <a:solidFill>
                  <a:srgbClr val="000000"/>
                </a:solidFill>
                <a:ea typeface="Segoe UI" panose="020B0502040204020203" pitchFamily="34" charset="0"/>
                <a:cs typeface="Arial" panose="020B0604020202020204" pitchFamily="34" charset="0"/>
              </a:rPr>
              <a:t>JOIN table2 </a:t>
            </a:r>
          </a:p>
          <a:p>
            <a:r>
              <a:rPr lang="en-US" sz="2000" dirty="0">
                <a:solidFill>
                  <a:srgbClr val="000000"/>
                </a:solidFill>
                <a:ea typeface="Segoe UI" panose="020B0502040204020203" pitchFamily="34" charset="0"/>
                <a:cs typeface="Arial" panose="020B0604020202020204" pitchFamily="34" charset="0"/>
              </a:rPr>
              <a:t>ON table1.commonfield = table2.commonfield;</a:t>
            </a:r>
          </a:p>
          <a:p>
            <a:endParaRPr lang="en-US" sz="2000" dirty="0" smtClean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0184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SQL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FULL OUTER JOIN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75EB18E-7DE0-462F-925E-B153ED663F68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50260" y="3062221"/>
            <a:ext cx="6899020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Ø"/>
            </a:pPr>
            <a:endParaRPr lang="en-US" dirty="0" smtClean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chemeClr val="accent1"/>
              </a:buClr>
            </a:pP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e.employee_id, e.first_name, e.last_name, 	d.department_id, d.department_name </a:t>
            </a:r>
          </a:p>
          <a:p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employees e </a:t>
            </a:r>
          </a:p>
          <a:p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LEFT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JOIN departments d </a:t>
            </a:r>
          </a:p>
          <a:p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 e.department_id=d.department_id</a:t>
            </a:r>
          </a:p>
          <a:p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UNION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e.employee_id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e.first_name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e.last_name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	d.department_id, d.department_name 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 employees e </a:t>
            </a:r>
          </a:p>
          <a:p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RIGHT 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JOIN departments d 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 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e.department_id=d.department_id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5304871"/>
              </p:ext>
            </p:extLst>
          </p:nvPr>
        </p:nvGraphicFramePr>
        <p:xfrm>
          <a:off x="6741020" y="1483445"/>
          <a:ext cx="5395568" cy="2139516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348892">
                  <a:extLst>
                    <a:ext uri="{9D8B030D-6E8A-4147-A177-3AD203B41FA5}">
                      <a16:colId xmlns:a16="http://schemas.microsoft.com/office/drawing/2014/main" val="2865986226"/>
                    </a:ext>
                  </a:extLst>
                </a:gridCol>
                <a:gridCol w="1348892">
                  <a:extLst>
                    <a:ext uri="{9D8B030D-6E8A-4147-A177-3AD203B41FA5}">
                      <a16:colId xmlns:a16="http://schemas.microsoft.com/office/drawing/2014/main" val="4266919079"/>
                    </a:ext>
                  </a:extLst>
                </a:gridCol>
                <a:gridCol w="1348892">
                  <a:extLst>
                    <a:ext uri="{9D8B030D-6E8A-4147-A177-3AD203B41FA5}">
                      <a16:colId xmlns:a16="http://schemas.microsoft.com/office/drawing/2014/main" val="83839121"/>
                    </a:ext>
                  </a:extLst>
                </a:gridCol>
                <a:gridCol w="1348892">
                  <a:extLst>
                    <a:ext uri="{9D8B030D-6E8A-4147-A177-3AD203B41FA5}">
                      <a16:colId xmlns:a16="http://schemas.microsoft.com/office/drawing/2014/main" val="35562137"/>
                    </a:ext>
                  </a:extLst>
                </a:gridCol>
              </a:tblGrid>
              <a:tr h="610081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department_id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department_name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manager_id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location_id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6926479"/>
                  </a:ext>
                </a:extLst>
              </a:tr>
              <a:tr h="374859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492626"/>
                  </a:ext>
                </a:extLst>
              </a:tr>
              <a:tr h="374859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78989"/>
                  </a:ext>
                </a:extLst>
              </a:tr>
              <a:tr h="374859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8874892"/>
                  </a:ext>
                </a:extLst>
              </a:tr>
              <a:tr h="374859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8774765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7204542" y="2137045"/>
            <a:ext cx="5995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10</a:t>
            </a:r>
            <a:endParaRPr lang="en-IN" sz="1600" dirty="0"/>
          </a:p>
        </p:txBody>
      </p:sp>
      <p:sp>
        <p:nvSpPr>
          <p:cNvPr id="26" name="TextBox 25"/>
          <p:cNvSpPr txBox="1"/>
          <p:nvPr/>
        </p:nvSpPr>
        <p:spPr>
          <a:xfrm>
            <a:off x="8742398" y="2137045"/>
            <a:ext cx="7630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IT</a:t>
            </a:r>
            <a:endParaRPr lang="en-IN" sz="1600" dirty="0"/>
          </a:p>
        </p:txBody>
      </p:sp>
      <p:sp>
        <p:nvSpPr>
          <p:cNvPr id="27" name="TextBox 26"/>
          <p:cNvSpPr txBox="1"/>
          <p:nvPr/>
        </p:nvSpPr>
        <p:spPr>
          <a:xfrm>
            <a:off x="9712215" y="2137045"/>
            <a:ext cx="8594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200</a:t>
            </a:r>
            <a:endParaRPr lang="en-IN" sz="1600" dirty="0"/>
          </a:p>
        </p:txBody>
      </p:sp>
      <p:sp>
        <p:nvSpPr>
          <p:cNvPr id="28" name="TextBox 27"/>
          <p:cNvSpPr txBox="1"/>
          <p:nvPr/>
        </p:nvSpPr>
        <p:spPr>
          <a:xfrm>
            <a:off x="11174105" y="2137045"/>
            <a:ext cx="7221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1700</a:t>
            </a:r>
            <a:endParaRPr lang="en-IN" sz="1600" dirty="0"/>
          </a:p>
        </p:txBody>
      </p:sp>
      <p:sp>
        <p:nvSpPr>
          <p:cNvPr id="29" name="TextBox 28"/>
          <p:cNvSpPr txBox="1"/>
          <p:nvPr/>
        </p:nvSpPr>
        <p:spPr>
          <a:xfrm>
            <a:off x="7239413" y="2500504"/>
            <a:ext cx="5995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11</a:t>
            </a:r>
            <a:endParaRPr lang="en-IN" sz="1600" dirty="0"/>
          </a:p>
        </p:txBody>
      </p:sp>
      <p:sp>
        <p:nvSpPr>
          <p:cNvPr id="30" name="TextBox 29"/>
          <p:cNvSpPr txBox="1"/>
          <p:nvPr/>
        </p:nvSpPr>
        <p:spPr>
          <a:xfrm>
            <a:off x="8306213" y="2475599"/>
            <a:ext cx="13080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Marketing</a:t>
            </a:r>
            <a:endParaRPr lang="en-IN" sz="1600" dirty="0"/>
          </a:p>
        </p:txBody>
      </p:sp>
      <p:sp>
        <p:nvSpPr>
          <p:cNvPr id="31" name="TextBox 30"/>
          <p:cNvSpPr txBox="1"/>
          <p:nvPr/>
        </p:nvSpPr>
        <p:spPr>
          <a:xfrm>
            <a:off x="9712215" y="2460199"/>
            <a:ext cx="8594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201</a:t>
            </a:r>
            <a:endParaRPr lang="en-IN" sz="1600" dirty="0"/>
          </a:p>
        </p:txBody>
      </p:sp>
      <p:sp>
        <p:nvSpPr>
          <p:cNvPr id="32" name="TextBox 31"/>
          <p:cNvSpPr txBox="1"/>
          <p:nvPr/>
        </p:nvSpPr>
        <p:spPr>
          <a:xfrm>
            <a:off x="11174105" y="2460199"/>
            <a:ext cx="7221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1800</a:t>
            </a:r>
            <a:endParaRPr lang="en-IN" sz="1600" dirty="0"/>
          </a:p>
        </p:txBody>
      </p:sp>
      <p:sp>
        <p:nvSpPr>
          <p:cNvPr id="33" name="TextBox 32"/>
          <p:cNvSpPr txBox="1"/>
          <p:nvPr/>
        </p:nvSpPr>
        <p:spPr>
          <a:xfrm>
            <a:off x="7253267" y="2934553"/>
            <a:ext cx="5995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13</a:t>
            </a:r>
            <a:endParaRPr lang="en-IN" sz="1600" dirty="0"/>
          </a:p>
        </p:txBody>
      </p:sp>
      <p:sp>
        <p:nvSpPr>
          <p:cNvPr id="34" name="TextBox 33"/>
          <p:cNvSpPr txBox="1"/>
          <p:nvPr/>
        </p:nvSpPr>
        <p:spPr>
          <a:xfrm>
            <a:off x="8316604" y="2904909"/>
            <a:ext cx="13080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Resources</a:t>
            </a:r>
            <a:endParaRPr lang="en-IN" sz="1600" dirty="0"/>
          </a:p>
        </p:txBody>
      </p:sp>
      <p:sp>
        <p:nvSpPr>
          <p:cNvPr id="35" name="TextBox 34"/>
          <p:cNvSpPr txBox="1"/>
          <p:nvPr/>
        </p:nvSpPr>
        <p:spPr>
          <a:xfrm>
            <a:off x="9712215" y="2904909"/>
            <a:ext cx="8594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203</a:t>
            </a:r>
            <a:endParaRPr lang="en-IN" sz="1600" dirty="0"/>
          </a:p>
        </p:txBody>
      </p:sp>
      <p:sp>
        <p:nvSpPr>
          <p:cNvPr id="36" name="TextBox 35"/>
          <p:cNvSpPr txBox="1"/>
          <p:nvPr/>
        </p:nvSpPr>
        <p:spPr>
          <a:xfrm>
            <a:off x="11174105" y="2904909"/>
            <a:ext cx="7221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2400</a:t>
            </a:r>
            <a:endParaRPr lang="en-IN" sz="1600" dirty="0"/>
          </a:p>
        </p:txBody>
      </p:sp>
      <p:sp>
        <p:nvSpPr>
          <p:cNvPr id="37" name="TextBox 36"/>
          <p:cNvSpPr txBox="1"/>
          <p:nvPr/>
        </p:nvSpPr>
        <p:spPr>
          <a:xfrm>
            <a:off x="7253267" y="3309246"/>
            <a:ext cx="5995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14</a:t>
            </a:r>
            <a:endParaRPr lang="en-IN" sz="1600" dirty="0"/>
          </a:p>
        </p:txBody>
      </p:sp>
      <p:sp>
        <p:nvSpPr>
          <p:cNvPr id="38" name="TextBox 37"/>
          <p:cNvSpPr txBox="1"/>
          <p:nvPr/>
        </p:nvSpPr>
        <p:spPr>
          <a:xfrm>
            <a:off x="8320067" y="3284341"/>
            <a:ext cx="13080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Shipping</a:t>
            </a:r>
            <a:endParaRPr lang="en-IN" sz="1600" dirty="0"/>
          </a:p>
        </p:txBody>
      </p:sp>
      <p:sp>
        <p:nvSpPr>
          <p:cNvPr id="39" name="TextBox 38"/>
          <p:cNvSpPr txBox="1"/>
          <p:nvPr/>
        </p:nvSpPr>
        <p:spPr>
          <a:xfrm>
            <a:off x="9712215" y="3281042"/>
            <a:ext cx="8594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121</a:t>
            </a:r>
            <a:endParaRPr lang="en-IN" sz="1600" dirty="0"/>
          </a:p>
        </p:txBody>
      </p:sp>
      <p:sp>
        <p:nvSpPr>
          <p:cNvPr id="40" name="TextBox 39"/>
          <p:cNvSpPr txBox="1"/>
          <p:nvPr/>
        </p:nvSpPr>
        <p:spPr>
          <a:xfrm>
            <a:off x="11174105" y="3309246"/>
            <a:ext cx="7221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1500</a:t>
            </a:r>
            <a:endParaRPr lang="en-IN" sz="16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1998650"/>
              </p:ext>
            </p:extLst>
          </p:nvPr>
        </p:nvGraphicFramePr>
        <p:xfrm>
          <a:off x="6741020" y="3724116"/>
          <a:ext cx="5155220" cy="310896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031044">
                  <a:extLst>
                    <a:ext uri="{9D8B030D-6E8A-4147-A177-3AD203B41FA5}">
                      <a16:colId xmlns:a16="http://schemas.microsoft.com/office/drawing/2014/main" val="2089343961"/>
                    </a:ext>
                  </a:extLst>
                </a:gridCol>
                <a:gridCol w="1031044">
                  <a:extLst>
                    <a:ext uri="{9D8B030D-6E8A-4147-A177-3AD203B41FA5}">
                      <a16:colId xmlns:a16="http://schemas.microsoft.com/office/drawing/2014/main" val="3294659423"/>
                    </a:ext>
                  </a:extLst>
                </a:gridCol>
                <a:gridCol w="1031044">
                  <a:extLst>
                    <a:ext uri="{9D8B030D-6E8A-4147-A177-3AD203B41FA5}">
                      <a16:colId xmlns:a16="http://schemas.microsoft.com/office/drawing/2014/main" val="883229208"/>
                    </a:ext>
                  </a:extLst>
                </a:gridCol>
                <a:gridCol w="901470">
                  <a:extLst>
                    <a:ext uri="{9D8B030D-6E8A-4147-A177-3AD203B41FA5}">
                      <a16:colId xmlns:a16="http://schemas.microsoft.com/office/drawing/2014/main" val="1313851605"/>
                    </a:ext>
                  </a:extLst>
                </a:gridCol>
                <a:gridCol w="1160618">
                  <a:extLst>
                    <a:ext uri="{9D8B030D-6E8A-4147-A177-3AD203B41FA5}">
                      <a16:colId xmlns:a16="http://schemas.microsoft.com/office/drawing/2014/main" val="4033542144"/>
                    </a:ext>
                  </a:extLst>
                </a:gridCol>
              </a:tblGrid>
              <a:tr h="85671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employee_id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first_name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last_name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department_id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department_name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070122"/>
                  </a:ext>
                </a:extLst>
              </a:tr>
              <a:tr h="342687">
                <a:tc>
                  <a:txBody>
                    <a:bodyPr/>
                    <a:lstStyle/>
                    <a:p>
                      <a:r>
                        <a:rPr lang="en-US" dirty="0" smtClean="0"/>
                        <a:t>101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Steven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Cohen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8270206"/>
                  </a:ext>
                </a:extLst>
              </a:tr>
              <a:tr h="342687">
                <a:tc>
                  <a:txBody>
                    <a:bodyPr/>
                    <a:lstStyle/>
                    <a:p>
                      <a:r>
                        <a:rPr lang="en-US" dirty="0" smtClean="0"/>
                        <a:t>102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Edwin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Thomas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Marketing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068497"/>
                  </a:ext>
                </a:extLst>
              </a:tr>
              <a:tr h="342687">
                <a:tc>
                  <a:txBody>
                    <a:bodyPr/>
                    <a:lstStyle/>
                    <a:p>
                      <a:r>
                        <a:rPr lang="en-US" dirty="0" smtClean="0"/>
                        <a:t>103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Null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Null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656185"/>
                  </a:ext>
                </a:extLst>
              </a:tr>
              <a:tr h="342687">
                <a:tc>
                  <a:txBody>
                    <a:bodyPr/>
                    <a:lstStyle/>
                    <a:p>
                      <a:r>
                        <a:rPr lang="en-US" dirty="0" smtClean="0"/>
                        <a:t>100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Erik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John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Null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Null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4418097"/>
                  </a:ext>
                </a:extLst>
              </a:tr>
              <a:tr h="34268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Null</a:t>
                      </a:r>
                      <a:endParaRPr lang="en-IN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Null</a:t>
                      </a:r>
                      <a:endParaRPr lang="en-IN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Null</a:t>
                      </a:r>
                      <a:endParaRPr lang="en-IN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Resources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8715759"/>
                  </a:ext>
                </a:extLst>
              </a:tr>
              <a:tr h="34268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Null</a:t>
                      </a:r>
                      <a:endParaRPr lang="en-IN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Null</a:t>
                      </a:r>
                      <a:endParaRPr lang="en-IN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Null</a:t>
                      </a:r>
                      <a:endParaRPr lang="en-IN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Shipping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926125"/>
                  </a:ext>
                </a:extLst>
              </a:tr>
            </a:tbl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7776008" y="5342601"/>
            <a:ext cx="890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Harry </a:t>
            </a:r>
            <a:endParaRPr lang="en-IN" dirty="0"/>
          </a:p>
        </p:txBody>
      </p:sp>
      <p:sp>
        <p:nvSpPr>
          <p:cNvPr id="42" name="TextBox 41"/>
          <p:cNvSpPr txBox="1"/>
          <p:nvPr/>
        </p:nvSpPr>
        <p:spPr>
          <a:xfrm>
            <a:off x="8792813" y="5342601"/>
            <a:ext cx="773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Potter</a:t>
            </a:r>
            <a:endParaRPr lang="en-IN" dirty="0"/>
          </a:p>
        </p:txBody>
      </p:sp>
      <p:graphicFrame>
        <p:nvGraphicFramePr>
          <p:cNvPr id="43" name="Table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9527908"/>
              </p:ext>
            </p:extLst>
          </p:nvPr>
        </p:nvGraphicFramePr>
        <p:xfrm>
          <a:off x="768644" y="1484314"/>
          <a:ext cx="4501376" cy="210312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125344">
                  <a:extLst>
                    <a:ext uri="{9D8B030D-6E8A-4147-A177-3AD203B41FA5}">
                      <a16:colId xmlns:a16="http://schemas.microsoft.com/office/drawing/2014/main" val="420006210"/>
                    </a:ext>
                  </a:extLst>
                </a:gridCol>
                <a:gridCol w="1125344">
                  <a:extLst>
                    <a:ext uri="{9D8B030D-6E8A-4147-A177-3AD203B41FA5}">
                      <a16:colId xmlns:a16="http://schemas.microsoft.com/office/drawing/2014/main" val="2249173104"/>
                    </a:ext>
                  </a:extLst>
                </a:gridCol>
                <a:gridCol w="1125344">
                  <a:extLst>
                    <a:ext uri="{9D8B030D-6E8A-4147-A177-3AD203B41FA5}">
                      <a16:colId xmlns:a16="http://schemas.microsoft.com/office/drawing/2014/main" val="55307333"/>
                    </a:ext>
                  </a:extLst>
                </a:gridCol>
                <a:gridCol w="1125344">
                  <a:extLst>
                    <a:ext uri="{9D8B030D-6E8A-4147-A177-3AD203B41FA5}">
                      <a16:colId xmlns:a16="http://schemas.microsoft.com/office/drawing/2014/main" val="688084317"/>
                    </a:ext>
                  </a:extLst>
                </a:gridCol>
              </a:tblGrid>
              <a:tr h="48711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employee_id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first_name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last_name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salary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2002686"/>
                  </a:ext>
                </a:extLst>
              </a:tr>
              <a:tr h="28225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8429340"/>
                  </a:ext>
                </a:extLst>
              </a:tr>
              <a:tr h="28225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4903056"/>
                  </a:ext>
                </a:extLst>
              </a:tr>
              <a:tr h="28225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4107410"/>
                  </a:ext>
                </a:extLst>
              </a:tr>
              <a:tr h="282252">
                <a:tc>
                  <a:txBody>
                    <a:bodyPr/>
                    <a:lstStyle/>
                    <a:p>
                      <a:r>
                        <a:rPr lang="en-US" dirty="0" smtClean="0"/>
                        <a:t>   100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 Erik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 John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10000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143347"/>
                  </a:ext>
                </a:extLst>
              </a:tr>
            </a:tbl>
          </a:graphicData>
        </a:graphic>
      </p:graphicFrame>
      <p:sp>
        <p:nvSpPr>
          <p:cNvPr id="44" name="TextBox 43"/>
          <p:cNvSpPr txBox="1"/>
          <p:nvPr/>
        </p:nvSpPr>
        <p:spPr>
          <a:xfrm>
            <a:off x="928232" y="2110632"/>
            <a:ext cx="661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103</a:t>
            </a:r>
            <a:endParaRPr lang="en-IN" dirty="0"/>
          </a:p>
        </p:txBody>
      </p:sp>
      <p:sp>
        <p:nvSpPr>
          <p:cNvPr id="45" name="TextBox 44"/>
          <p:cNvSpPr txBox="1"/>
          <p:nvPr/>
        </p:nvSpPr>
        <p:spPr>
          <a:xfrm>
            <a:off x="2172102" y="2867720"/>
            <a:ext cx="890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Steven</a:t>
            </a:r>
            <a:endParaRPr lang="en-IN" dirty="0"/>
          </a:p>
        </p:txBody>
      </p:sp>
      <p:sp>
        <p:nvSpPr>
          <p:cNvPr id="46" name="TextBox 45"/>
          <p:cNvSpPr txBox="1"/>
          <p:nvPr/>
        </p:nvSpPr>
        <p:spPr>
          <a:xfrm>
            <a:off x="3206568" y="2867720"/>
            <a:ext cx="913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Cohen</a:t>
            </a:r>
            <a:endParaRPr lang="en-IN" dirty="0"/>
          </a:p>
        </p:txBody>
      </p:sp>
      <p:sp>
        <p:nvSpPr>
          <p:cNvPr id="47" name="TextBox 46"/>
          <p:cNvSpPr txBox="1"/>
          <p:nvPr/>
        </p:nvSpPr>
        <p:spPr>
          <a:xfrm>
            <a:off x="4353296" y="2867720"/>
            <a:ext cx="840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10000</a:t>
            </a:r>
            <a:endParaRPr lang="en-IN" dirty="0"/>
          </a:p>
        </p:txBody>
      </p:sp>
      <p:sp>
        <p:nvSpPr>
          <p:cNvPr id="48" name="TextBox 47"/>
          <p:cNvSpPr txBox="1"/>
          <p:nvPr/>
        </p:nvSpPr>
        <p:spPr>
          <a:xfrm>
            <a:off x="928232" y="2442144"/>
            <a:ext cx="661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102</a:t>
            </a:r>
            <a:endParaRPr lang="en-IN" dirty="0"/>
          </a:p>
        </p:txBody>
      </p:sp>
      <p:sp>
        <p:nvSpPr>
          <p:cNvPr id="49" name="TextBox 48"/>
          <p:cNvSpPr txBox="1"/>
          <p:nvPr/>
        </p:nvSpPr>
        <p:spPr>
          <a:xfrm>
            <a:off x="2163688" y="2489176"/>
            <a:ext cx="906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Edwin</a:t>
            </a:r>
            <a:endParaRPr lang="en-IN" dirty="0"/>
          </a:p>
        </p:txBody>
      </p:sp>
      <p:sp>
        <p:nvSpPr>
          <p:cNvPr id="50" name="TextBox 49"/>
          <p:cNvSpPr txBox="1"/>
          <p:nvPr/>
        </p:nvSpPr>
        <p:spPr>
          <a:xfrm>
            <a:off x="3231358" y="2504565"/>
            <a:ext cx="9165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Thomas</a:t>
            </a:r>
            <a:endParaRPr lang="en-IN" sz="1600" dirty="0"/>
          </a:p>
        </p:txBody>
      </p:sp>
      <p:sp>
        <p:nvSpPr>
          <p:cNvPr id="51" name="TextBox 50"/>
          <p:cNvSpPr txBox="1"/>
          <p:nvPr/>
        </p:nvSpPr>
        <p:spPr>
          <a:xfrm>
            <a:off x="4316864" y="2471145"/>
            <a:ext cx="1077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15000</a:t>
            </a:r>
            <a:endParaRPr lang="en-IN" dirty="0"/>
          </a:p>
        </p:txBody>
      </p:sp>
      <p:sp>
        <p:nvSpPr>
          <p:cNvPr id="52" name="TextBox 51"/>
          <p:cNvSpPr txBox="1"/>
          <p:nvPr/>
        </p:nvSpPr>
        <p:spPr>
          <a:xfrm>
            <a:off x="928233" y="2845087"/>
            <a:ext cx="661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101</a:t>
            </a:r>
            <a:endParaRPr lang="en-IN" dirty="0"/>
          </a:p>
        </p:txBody>
      </p:sp>
      <p:sp>
        <p:nvSpPr>
          <p:cNvPr id="53" name="TextBox 52"/>
          <p:cNvSpPr txBox="1"/>
          <p:nvPr/>
        </p:nvSpPr>
        <p:spPr>
          <a:xfrm>
            <a:off x="2172102" y="2110632"/>
            <a:ext cx="890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Harry </a:t>
            </a:r>
            <a:endParaRPr lang="en-IN" dirty="0"/>
          </a:p>
        </p:txBody>
      </p:sp>
      <p:sp>
        <p:nvSpPr>
          <p:cNvPr id="54" name="TextBox 53"/>
          <p:cNvSpPr txBox="1"/>
          <p:nvPr/>
        </p:nvSpPr>
        <p:spPr>
          <a:xfrm>
            <a:off x="3275796" y="2093197"/>
            <a:ext cx="773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Potter</a:t>
            </a:r>
            <a:endParaRPr lang="en-IN" dirty="0"/>
          </a:p>
        </p:txBody>
      </p:sp>
      <p:sp>
        <p:nvSpPr>
          <p:cNvPr id="55" name="TextBox 54"/>
          <p:cNvSpPr txBox="1"/>
          <p:nvPr/>
        </p:nvSpPr>
        <p:spPr>
          <a:xfrm>
            <a:off x="4330271" y="2110632"/>
            <a:ext cx="1077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20000</a:t>
            </a:r>
            <a:endParaRPr lang="en-IN" dirty="0"/>
          </a:p>
        </p:txBody>
      </p:sp>
      <p:graphicFrame>
        <p:nvGraphicFramePr>
          <p:cNvPr id="56" name="Table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5061413"/>
              </p:ext>
            </p:extLst>
          </p:nvPr>
        </p:nvGraphicFramePr>
        <p:xfrm>
          <a:off x="5273452" y="1482421"/>
          <a:ext cx="1323621" cy="210312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323621">
                  <a:extLst>
                    <a:ext uri="{9D8B030D-6E8A-4147-A177-3AD203B41FA5}">
                      <a16:colId xmlns:a16="http://schemas.microsoft.com/office/drawing/2014/main" val="3862492285"/>
                    </a:ext>
                  </a:extLst>
                </a:gridCol>
              </a:tblGrid>
              <a:tr h="487114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department_id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1136965"/>
                  </a:ext>
                </a:extLst>
              </a:tr>
              <a:tr h="278351">
                <a:tc>
                  <a:txBody>
                    <a:bodyPr/>
                    <a:lstStyle/>
                    <a:p>
                      <a:r>
                        <a:rPr lang="en-US" dirty="0" smtClean="0"/>
                        <a:t>12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0305279"/>
                  </a:ext>
                </a:extLst>
              </a:tr>
              <a:tr h="278351">
                <a:tc>
                  <a:txBody>
                    <a:bodyPr/>
                    <a:lstStyle/>
                    <a:p>
                      <a:r>
                        <a:rPr lang="en-US" dirty="0" smtClean="0"/>
                        <a:t>11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7277247"/>
                  </a:ext>
                </a:extLst>
              </a:tr>
              <a:tr h="332524"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0651549"/>
                  </a:ext>
                </a:extLst>
              </a:tr>
              <a:tr h="302993">
                <a:tc>
                  <a:txBody>
                    <a:bodyPr/>
                    <a:lstStyle/>
                    <a:p>
                      <a:r>
                        <a:rPr lang="en-US" dirty="0" smtClean="0"/>
                        <a:t>12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47364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3593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SQL SELF JOIN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75EB18E-7DE0-462F-925E-B153ED663F68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80803" y="1498168"/>
            <a:ext cx="8929267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000000"/>
                </a:solidFill>
                <a:ea typeface="Segoe UI" panose="020B0502040204020203" pitchFamily="34" charset="0"/>
                <a:cs typeface="Arial" panose="020B0604020202020204" pitchFamily="34" charset="0"/>
              </a:rPr>
              <a:t>The SELF </a:t>
            </a:r>
            <a:r>
              <a:rPr lang="en-US" sz="2000" dirty="0">
                <a:solidFill>
                  <a:srgbClr val="000000"/>
                </a:solidFill>
                <a:ea typeface="Segoe UI" panose="020B0502040204020203" pitchFamily="34" charset="0"/>
                <a:cs typeface="Arial" panose="020B0604020202020204" pitchFamily="34" charset="0"/>
              </a:rPr>
              <a:t>JOIN </a:t>
            </a:r>
            <a:r>
              <a:rPr lang="en-US" sz="2000" dirty="0" smtClean="0">
                <a:solidFill>
                  <a:srgbClr val="000000"/>
                </a:solidFill>
                <a:ea typeface="Segoe UI" panose="020B0502040204020203" pitchFamily="34" charset="0"/>
                <a:cs typeface="Arial" panose="020B0604020202020204" pitchFamily="34" charset="0"/>
              </a:rPr>
              <a:t>joins </a:t>
            </a:r>
            <a:r>
              <a:rPr lang="en-US" sz="2000" dirty="0">
                <a:solidFill>
                  <a:srgbClr val="000000"/>
                </a:solidFill>
                <a:ea typeface="Segoe UI" panose="020B0502040204020203" pitchFamily="34" charset="0"/>
                <a:cs typeface="Arial" panose="020B0604020202020204" pitchFamily="34" charset="0"/>
              </a:rPr>
              <a:t>a table to </a:t>
            </a:r>
            <a:r>
              <a:rPr lang="en-US" sz="2000" dirty="0" smtClean="0">
                <a:solidFill>
                  <a:srgbClr val="000000"/>
                </a:solidFill>
                <a:ea typeface="Segoe UI" panose="020B0502040204020203" pitchFamily="34" charset="0"/>
                <a:cs typeface="Arial" panose="020B0604020202020204" pitchFamily="34" charset="0"/>
              </a:rPr>
              <a:t>itself; </a:t>
            </a:r>
            <a:r>
              <a:rPr lang="en-US" sz="2000" dirty="0">
                <a:solidFill>
                  <a:srgbClr val="000000"/>
                </a:solidFill>
                <a:ea typeface="Segoe UI" panose="020B0502040204020203" pitchFamily="34" charset="0"/>
                <a:cs typeface="Arial" panose="020B0604020202020204" pitchFamily="34" charset="0"/>
              </a:rPr>
              <a:t>temporarily renaming at least one table in the SQL </a:t>
            </a:r>
            <a:r>
              <a:rPr lang="en-US" sz="2000" dirty="0" smtClean="0">
                <a:solidFill>
                  <a:srgbClr val="000000"/>
                </a:solidFill>
                <a:ea typeface="Segoe UI" panose="020B0502040204020203" pitchFamily="34" charset="0"/>
                <a:cs typeface="Arial" panose="020B0604020202020204" pitchFamily="34" charset="0"/>
              </a:rPr>
              <a:t>statement</a:t>
            </a:r>
            <a:r>
              <a:rPr lang="en-US" sz="2000" dirty="0" smtClean="0">
                <a:cs typeface="Arial" panose="020B0604020202020204" pitchFamily="34" charset="0"/>
              </a:rPr>
              <a:t>. </a:t>
            </a:r>
          </a:p>
          <a:p>
            <a:endParaRPr lang="en-US" sz="20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r>
              <a:rPr lang="en-US" sz="2000" b="1" dirty="0" smtClean="0">
                <a:solidFill>
                  <a:srgbClr val="000000"/>
                </a:solidFill>
                <a:ea typeface="Segoe UI" panose="020B0502040204020203" pitchFamily="34" charset="0"/>
                <a:cs typeface="Arial" panose="020B0604020202020204" pitchFamily="34" charset="0"/>
              </a:rPr>
              <a:t>SYNTAX:</a:t>
            </a:r>
          </a:p>
          <a:p>
            <a:endParaRPr lang="en-US" sz="2000" dirty="0" smtClean="0">
              <a:solidFill>
                <a:srgbClr val="000000"/>
              </a:solidFill>
              <a:ea typeface="Segoe UI" panose="020B0502040204020203" pitchFamily="34" charset="0"/>
              <a:cs typeface="Arial" panose="020B0604020202020204" pitchFamily="34" charset="0"/>
            </a:endParaRPr>
          </a:p>
          <a:p>
            <a:r>
              <a:rPr lang="en-US" sz="2000" dirty="0" smtClean="0">
                <a:solidFill>
                  <a:srgbClr val="000000"/>
                </a:solidFill>
                <a:ea typeface="Segoe UI" panose="020B0502040204020203" pitchFamily="34" charset="0"/>
                <a:cs typeface="Arial" panose="020B0604020202020204" pitchFamily="34" charset="0"/>
              </a:rPr>
              <a:t>SELECT </a:t>
            </a:r>
            <a:r>
              <a:rPr lang="en-US" sz="2000" dirty="0">
                <a:solidFill>
                  <a:srgbClr val="000000"/>
                </a:solidFill>
                <a:ea typeface="Segoe UI" panose="020B0502040204020203" pitchFamily="34" charset="0"/>
                <a:cs typeface="Arial" panose="020B0604020202020204" pitchFamily="34" charset="0"/>
              </a:rPr>
              <a:t>a.col1, b.col2,..., a.coln </a:t>
            </a:r>
          </a:p>
          <a:p>
            <a:r>
              <a:rPr lang="en-US" sz="2000" dirty="0">
                <a:solidFill>
                  <a:srgbClr val="000000"/>
                </a:solidFill>
                <a:ea typeface="Segoe UI" panose="020B0502040204020203" pitchFamily="34" charset="0"/>
                <a:cs typeface="Arial" panose="020B0604020202020204" pitchFamily="34" charset="0"/>
              </a:rPr>
              <a:t>FROM table1 a, table1 b</a:t>
            </a:r>
          </a:p>
          <a:p>
            <a:r>
              <a:rPr lang="en-US" sz="2000" dirty="0">
                <a:solidFill>
                  <a:srgbClr val="000000"/>
                </a:solidFill>
                <a:ea typeface="Segoe UI" panose="020B0502040204020203" pitchFamily="34" charset="0"/>
                <a:cs typeface="Arial" panose="020B0604020202020204" pitchFamily="34" charset="0"/>
              </a:rPr>
              <a:t>WHERE a.commonfield = b.commonfield</a:t>
            </a:r>
            <a:r>
              <a:rPr lang="en-US" sz="2000" dirty="0" smtClean="0">
                <a:solidFill>
                  <a:srgbClr val="000000"/>
                </a:solidFill>
                <a:ea typeface="Segoe UI" panose="020B0502040204020203" pitchFamily="34" charset="0"/>
                <a:cs typeface="Arial" panose="020B0604020202020204" pitchFamily="34" charset="0"/>
              </a:rPr>
              <a:t>;</a:t>
            </a:r>
            <a:endParaRPr lang="en-US" sz="20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0670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SQL SELF JOIN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75EB18E-7DE0-462F-925E-B153ED663F68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80618" y="4011218"/>
            <a:ext cx="495804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	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  <a:ea typeface="Segoe UI" panose="020B0502040204020203" pitchFamily="34" charset="0"/>
              <a:cs typeface="Courier New" panose="02070309020205020404" pitchFamily="49" charset="0"/>
            </a:endParaRPr>
          </a:p>
          <a:p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  <a:ea typeface="Segoe UI" panose="020B0502040204020203" pitchFamily="34" charset="0"/>
              <a:cs typeface="Courier New" panose="02070309020205020404" pitchFamily="49" charset="0"/>
            </a:endParaRPr>
          </a:p>
          <a:p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emp.employee_id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emp.first_name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IN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emp.manager_id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IN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mgr.first_name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	FROM </a:t>
            </a: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employeess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inner join </a:t>
            </a: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employeess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mgr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	on </a:t>
            </a: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emp.manager_id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mgr.employee_id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  <a:ea typeface="Segoe UI" panose="020B0502040204020203" pitchFamily="34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8372549"/>
              </p:ext>
            </p:extLst>
          </p:nvPr>
        </p:nvGraphicFramePr>
        <p:xfrm>
          <a:off x="3139278" y="1484313"/>
          <a:ext cx="5935449" cy="219456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978483">
                  <a:extLst>
                    <a:ext uri="{9D8B030D-6E8A-4147-A177-3AD203B41FA5}">
                      <a16:colId xmlns:a16="http://schemas.microsoft.com/office/drawing/2014/main" val="3190494272"/>
                    </a:ext>
                  </a:extLst>
                </a:gridCol>
                <a:gridCol w="1978483">
                  <a:extLst>
                    <a:ext uri="{9D8B030D-6E8A-4147-A177-3AD203B41FA5}">
                      <a16:colId xmlns:a16="http://schemas.microsoft.com/office/drawing/2014/main" val="971065709"/>
                    </a:ext>
                  </a:extLst>
                </a:gridCol>
                <a:gridCol w="1978483">
                  <a:extLst>
                    <a:ext uri="{9D8B030D-6E8A-4147-A177-3AD203B41FA5}">
                      <a16:colId xmlns:a16="http://schemas.microsoft.com/office/drawing/2014/main" val="2096366138"/>
                    </a:ext>
                  </a:extLst>
                </a:gridCol>
              </a:tblGrid>
              <a:tr h="313682">
                <a:tc>
                  <a:txBody>
                    <a:bodyPr/>
                    <a:lstStyle/>
                    <a:p>
                      <a:r>
                        <a:rPr lang="en-US" dirty="0" smtClean="0"/>
                        <a:t>employee_id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first_name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manager_id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0470911"/>
                  </a:ext>
                </a:extLst>
              </a:tr>
              <a:tr h="313682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Steven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8963834"/>
                  </a:ext>
                </a:extLst>
              </a:tr>
              <a:tr h="313682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 smtClean="0"/>
                        <a:t>Neena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81126"/>
                  </a:ext>
                </a:extLst>
              </a:tr>
              <a:tr h="313682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Lex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0664898"/>
                  </a:ext>
                </a:extLst>
              </a:tr>
              <a:tr h="313682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Alex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1093915"/>
                  </a:ext>
                </a:extLst>
              </a:tr>
              <a:tr h="313682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Bruce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6249392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3324107"/>
              </p:ext>
            </p:extLst>
          </p:nvPr>
        </p:nvGraphicFramePr>
        <p:xfrm>
          <a:off x="5874327" y="4485215"/>
          <a:ext cx="6072908" cy="1871135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518227">
                  <a:extLst>
                    <a:ext uri="{9D8B030D-6E8A-4147-A177-3AD203B41FA5}">
                      <a16:colId xmlns:a16="http://schemas.microsoft.com/office/drawing/2014/main" val="4098277819"/>
                    </a:ext>
                  </a:extLst>
                </a:gridCol>
                <a:gridCol w="1518227">
                  <a:extLst>
                    <a:ext uri="{9D8B030D-6E8A-4147-A177-3AD203B41FA5}">
                      <a16:colId xmlns:a16="http://schemas.microsoft.com/office/drawing/2014/main" val="2261051587"/>
                    </a:ext>
                  </a:extLst>
                </a:gridCol>
                <a:gridCol w="1518227">
                  <a:extLst>
                    <a:ext uri="{9D8B030D-6E8A-4147-A177-3AD203B41FA5}">
                      <a16:colId xmlns:a16="http://schemas.microsoft.com/office/drawing/2014/main" val="3045449138"/>
                    </a:ext>
                  </a:extLst>
                </a:gridCol>
                <a:gridCol w="1518227">
                  <a:extLst>
                    <a:ext uri="{9D8B030D-6E8A-4147-A177-3AD203B41FA5}">
                      <a16:colId xmlns:a16="http://schemas.microsoft.com/office/drawing/2014/main" val="183011897"/>
                    </a:ext>
                  </a:extLst>
                </a:gridCol>
              </a:tblGrid>
              <a:tr h="374227">
                <a:tc>
                  <a:txBody>
                    <a:bodyPr/>
                    <a:lstStyle/>
                    <a:p>
                      <a:r>
                        <a:rPr lang="en-US" dirty="0" smtClean="0"/>
                        <a:t>employee_id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first_name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manager_id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first_name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1218052"/>
                  </a:ext>
                </a:extLst>
              </a:tr>
              <a:tr h="374227">
                <a:tc>
                  <a:txBody>
                    <a:bodyPr/>
                    <a:lstStyle/>
                    <a:p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 err="1" smtClean="0"/>
                        <a:t>Neena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Steven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1418179"/>
                  </a:ext>
                </a:extLst>
              </a:tr>
              <a:tr h="374227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Lex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 err="1" smtClean="0"/>
                        <a:t>Neena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7307027"/>
                  </a:ext>
                </a:extLst>
              </a:tr>
              <a:tr h="374227">
                <a:tc>
                  <a:txBody>
                    <a:bodyPr/>
                    <a:lstStyle/>
                    <a:p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Alex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Lex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3258709"/>
                  </a:ext>
                </a:extLst>
              </a:tr>
              <a:tr h="374227">
                <a:tc>
                  <a:txBody>
                    <a:bodyPr/>
                    <a:lstStyle/>
                    <a:p>
                      <a:r>
                        <a:rPr lang="en-IN" dirty="0" smtClean="0"/>
                        <a:t>5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Bruce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Lex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91144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658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SQL CROSS JOIN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75EB18E-7DE0-462F-925E-B153ED663F68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82774" y="1494261"/>
            <a:ext cx="8929267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000000"/>
                </a:solidFill>
                <a:ea typeface="Segoe UI" panose="020B0502040204020203" pitchFamily="34" charset="0"/>
                <a:cs typeface="Arial" panose="020B0604020202020204" pitchFamily="34" charset="0"/>
              </a:rPr>
              <a:t>The CROSS </a:t>
            </a:r>
            <a:r>
              <a:rPr lang="en-US" sz="2000" dirty="0">
                <a:solidFill>
                  <a:srgbClr val="000000"/>
                </a:solidFill>
                <a:ea typeface="Segoe UI" panose="020B0502040204020203" pitchFamily="34" charset="0"/>
                <a:cs typeface="Arial" panose="020B0604020202020204" pitchFamily="34" charset="0"/>
              </a:rPr>
              <a:t>JOIN </a:t>
            </a:r>
            <a:r>
              <a:rPr lang="en-US" sz="2000" dirty="0" smtClean="0">
                <a:solidFill>
                  <a:srgbClr val="000000"/>
                </a:solidFill>
                <a:ea typeface="Segoe UI" panose="020B0502040204020203" pitchFamily="34" charset="0"/>
                <a:cs typeface="Arial" panose="020B0604020202020204" pitchFamily="34" charset="0"/>
              </a:rPr>
              <a:t>p</a:t>
            </a:r>
            <a:r>
              <a:rPr lang="en-US" sz="2000" dirty="0" smtClean="0">
                <a:cs typeface="Arial" panose="020B0604020202020204" pitchFamily="34" charset="0"/>
              </a:rPr>
              <a:t>roduces </a:t>
            </a:r>
            <a:r>
              <a:rPr lang="en-US" sz="2000" dirty="0">
                <a:cs typeface="Arial" panose="020B0604020202020204" pitchFamily="34" charset="0"/>
              </a:rPr>
              <a:t>a result set </a:t>
            </a:r>
            <a:r>
              <a:rPr lang="en-US" sz="2000" dirty="0" smtClean="0">
                <a:cs typeface="Arial" panose="020B0604020202020204" pitchFamily="34" charset="0"/>
              </a:rPr>
              <a:t>with the </a:t>
            </a:r>
            <a:r>
              <a:rPr lang="en-US" sz="2000" dirty="0">
                <a:cs typeface="Arial" panose="020B0604020202020204" pitchFamily="34" charset="0"/>
              </a:rPr>
              <a:t>number of rows in the first table multiplied by the number of rows in the </a:t>
            </a:r>
            <a:r>
              <a:rPr lang="en-US" sz="2000" dirty="0" smtClean="0">
                <a:cs typeface="Arial" panose="020B0604020202020204" pitchFamily="34" charset="0"/>
              </a:rPr>
              <a:t>second.</a:t>
            </a:r>
          </a:p>
          <a:p>
            <a:endParaRPr lang="en-US" sz="20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r>
              <a:rPr lang="en-US" sz="2000" b="1" dirty="0" smtClean="0">
                <a:solidFill>
                  <a:srgbClr val="000000"/>
                </a:solidFill>
                <a:ea typeface="Segoe UI" panose="020B0502040204020203" pitchFamily="34" charset="0"/>
                <a:cs typeface="Arial" panose="020B0604020202020204" pitchFamily="34" charset="0"/>
              </a:rPr>
              <a:t>SYNTAX:</a:t>
            </a:r>
          </a:p>
          <a:p>
            <a:endParaRPr lang="en-US" sz="2000" dirty="0" smtClean="0">
              <a:solidFill>
                <a:srgbClr val="000000"/>
              </a:solidFill>
              <a:ea typeface="Segoe UI" panose="020B0502040204020203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rgbClr val="000000"/>
                </a:solidFill>
                <a:ea typeface="Segoe UI" panose="020B0502040204020203" pitchFamily="34" charset="0"/>
                <a:cs typeface="Arial" panose="020B0604020202020204" pitchFamily="34" charset="0"/>
              </a:rPr>
              <a:t>SELECT table1.col1, table2.col2,…, table1.coln </a:t>
            </a:r>
          </a:p>
          <a:p>
            <a:r>
              <a:rPr lang="en-US" sz="2000" dirty="0">
                <a:solidFill>
                  <a:srgbClr val="000000"/>
                </a:solidFill>
                <a:ea typeface="Segoe UI" panose="020B0502040204020203" pitchFamily="34" charset="0"/>
                <a:cs typeface="Arial" panose="020B0604020202020204" pitchFamily="34" charset="0"/>
              </a:rPr>
              <a:t>FROM table1 </a:t>
            </a:r>
          </a:p>
          <a:p>
            <a:r>
              <a:rPr lang="en-US" sz="2000" dirty="0">
                <a:solidFill>
                  <a:srgbClr val="000000"/>
                </a:solidFill>
                <a:ea typeface="Segoe UI" panose="020B0502040204020203" pitchFamily="34" charset="0"/>
                <a:cs typeface="Arial" panose="020B0604020202020204" pitchFamily="34" charset="0"/>
              </a:rPr>
              <a:t>CROSS JOIN table2</a:t>
            </a:r>
            <a:r>
              <a:rPr lang="en-US" sz="2000" dirty="0" smtClean="0">
                <a:solidFill>
                  <a:srgbClr val="000000"/>
                </a:solidFill>
                <a:ea typeface="Segoe UI" panose="020B0502040204020203" pitchFamily="34" charset="0"/>
                <a:cs typeface="Arial" panose="020B0604020202020204" pitchFamily="34" charset="0"/>
              </a:rPr>
              <a:t>;</a:t>
            </a:r>
            <a:endParaRPr lang="en-US" sz="2000" dirty="0">
              <a:solidFill>
                <a:srgbClr val="000000"/>
              </a:solidFill>
              <a:ea typeface="Segoe UI" panose="020B0502040204020203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9864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SQL CROSS JOIN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75EB18E-7DE0-462F-925E-B153ED663F68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80618" y="1493806"/>
            <a:ext cx="5243957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000000"/>
                </a:solidFill>
                <a:ea typeface="Segoe UI" panose="020B0502040204020203" pitchFamily="34" charset="0"/>
                <a:cs typeface="Arial" panose="020B0604020202020204" pitchFamily="34" charset="0"/>
              </a:rPr>
              <a:t>Assume there are 4 records in  table1 and 3 records in table2 </a:t>
            </a:r>
          </a:p>
          <a:p>
            <a:endParaRPr lang="en-US" sz="2200" dirty="0" smtClean="0">
              <a:solidFill>
                <a:srgbClr val="000000"/>
              </a:solidFill>
              <a:latin typeface="Arial" panose="020B0604020202020204" pitchFamily="34" charset="0"/>
              <a:ea typeface="Segoe UI" panose="020B0502040204020203" pitchFamily="34" charset="0"/>
              <a:cs typeface="Arial" panose="020B0604020202020204" pitchFamily="34" charset="0"/>
            </a:endParaRPr>
          </a:p>
          <a:p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SELECT * FROM table1</a:t>
            </a:r>
          </a:p>
          <a:p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CROSS JOIN table2;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  <a:ea typeface="Segoe UI" panose="020B0502040204020203" pitchFamily="34" charset="0"/>
              <a:cs typeface="Courier New" panose="02070309020205020404" pitchFamily="49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4403324"/>
              </p:ext>
            </p:extLst>
          </p:nvPr>
        </p:nvGraphicFramePr>
        <p:xfrm>
          <a:off x="1455622" y="3895831"/>
          <a:ext cx="984819" cy="185420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984819">
                  <a:extLst>
                    <a:ext uri="{9D8B030D-6E8A-4147-A177-3AD203B41FA5}">
                      <a16:colId xmlns:a16="http://schemas.microsoft.com/office/drawing/2014/main" val="16702658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alpha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7226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3269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705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84940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725979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553750" y="3436082"/>
            <a:ext cx="886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Table-1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3460871" y="3486044"/>
            <a:ext cx="1094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Table-2</a:t>
            </a:r>
            <a:endParaRPr lang="en-IN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833738"/>
              </p:ext>
            </p:extLst>
          </p:nvPr>
        </p:nvGraphicFramePr>
        <p:xfrm>
          <a:off x="3469132" y="3895831"/>
          <a:ext cx="734307" cy="1580959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734307">
                  <a:extLst>
                    <a:ext uri="{9D8B030D-6E8A-4147-A177-3AD203B41FA5}">
                      <a16:colId xmlns:a16="http://schemas.microsoft.com/office/drawing/2014/main" val="1315601294"/>
                    </a:ext>
                  </a:extLst>
                </a:gridCol>
              </a:tblGrid>
              <a:tr h="374843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Num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3376287"/>
                  </a:ext>
                </a:extLst>
              </a:tr>
              <a:tr h="271511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593121"/>
                  </a:ext>
                </a:extLst>
              </a:tr>
              <a:tr h="376806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9115158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5900231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0514960"/>
              </p:ext>
            </p:extLst>
          </p:nvPr>
        </p:nvGraphicFramePr>
        <p:xfrm>
          <a:off x="7425976" y="1668088"/>
          <a:ext cx="3786910" cy="445008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893455">
                  <a:extLst>
                    <a:ext uri="{9D8B030D-6E8A-4147-A177-3AD203B41FA5}">
                      <a16:colId xmlns:a16="http://schemas.microsoft.com/office/drawing/2014/main" val="3660434210"/>
                    </a:ext>
                  </a:extLst>
                </a:gridCol>
                <a:gridCol w="1893455">
                  <a:extLst>
                    <a:ext uri="{9D8B030D-6E8A-4147-A177-3AD203B41FA5}">
                      <a16:colId xmlns:a16="http://schemas.microsoft.com/office/drawing/2014/main" val="38189976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209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29285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41607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9930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2557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7062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6205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82491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20581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53241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1932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7848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2781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4807527" y="3297382"/>
            <a:ext cx="6343402" cy="25838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dirty="0" smtClean="0"/>
              <a:t>THANK YOU</a:t>
            </a:r>
            <a:endParaRPr lang="en-IN" sz="4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DBMS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A7BD299-4115-435C-9390-0BF281B3F2C8}" type="slidenum">
              <a:rPr lang="en-US" smtClean="0"/>
              <a:pPr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573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12858</TotalTime>
  <Words>2785</Words>
  <Application>Microsoft Office PowerPoint</Application>
  <PresentationFormat>Widescreen</PresentationFormat>
  <Paragraphs>1196</Paragraphs>
  <Slides>56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5" baseType="lpstr">
      <vt:lpstr>Arial</vt:lpstr>
      <vt:lpstr>Arial Narrow</vt:lpstr>
      <vt:lpstr>Calibri</vt:lpstr>
      <vt:lpstr>Calibri Light</vt:lpstr>
      <vt:lpstr>Courier New</vt:lpstr>
      <vt:lpstr>Helvetica LT Std Cond</vt:lpstr>
      <vt:lpstr>Segoe UI</vt:lpstr>
      <vt:lpstr>Wingdings</vt:lpstr>
      <vt:lpstr>Office Theme</vt:lpstr>
      <vt:lpstr>Structured Query Language</vt:lpstr>
      <vt:lpstr>Table of Contents</vt:lpstr>
      <vt:lpstr>Introduction to SQL</vt:lpstr>
      <vt:lpstr>What is SQL ?</vt:lpstr>
      <vt:lpstr>Why SQL?</vt:lpstr>
      <vt:lpstr>SQL Terms</vt:lpstr>
      <vt:lpstr>SQL Data Types</vt:lpstr>
      <vt:lpstr>SQL Constraints</vt:lpstr>
      <vt:lpstr>Subsets of SQL</vt:lpstr>
      <vt:lpstr>SQL Command Groups</vt:lpstr>
      <vt:lpstr>DDL - Data Definition Language</vt:lpstr>
      <vt:lpstr>DDL - Data Definition Language – Create Command</vt:lpstr>
      <vt:lpstr>DDL - Data Definition Language – Alter Command</vt:lpstr>
      <vt:lpstr>DDL - Data Definition Language – Rename Command</vt:lpstr>
      <vt:lpstr>DDL - Data Definition Language – Truncate Command</vt:lpstr>
      <vt:lpstr>DDL - Data Definition Language – Drop Command</vt:lpstr>
      <vt:lpstr>DML – Data Manipulation Language</vt:lpstr>
      <vt:lpstr>DML – Data Manipulation Language – INSERT Command</vt:lpstr>
      <vt:lpstr>DML – Data Manipulation Language – UPDATE Command</vt:lpstr>
      <vt:lpstr>DML – Data Manipulation Language - DELETE Command</vt:lpstr>
      <vt:lpstr>DCL - Data Control Language </vt:lpstr>
      <vt:lpstr>TCL - Transaction Control</vt:lpstr>
      <vt:lpstr>SQL Operators</vt:lpstr>
      <vt:lpstr>SQL Operators - Filter</vt:lpstr>
      <vt:lpstr>SQL Operators – Logical</vt:lpstr>
      <vt:lpstr>SQL Operators – Comparison</vt:lpstr>
      <vt:lpstr>SQL Operators – Special</vt:lpstr>
      <vt:lpstr>SQL Functions</vt:lpstr>
      <vt:lpstr>SQL Operators – Aggregations</vt:lpstr>
      <vt:lpstr>SQL GROUP BY Clause</vt:lpstr>
      <vt:lpstr>SQL HAVING Clause</vt:lpstr>
      <vt:lpstr>SQL ORDER BY Clause</vt:lpstr>
      <vt:lpstr>SQL Set Operators</vt:lpstr>
      <vt:lpstr>SQL UNION ALL</vt:lpstr>
      <vt:lpstr>SQL UNION ALL</vt:lpstr>
      <vt:lpstr>SQL UNION</vt:lpstr>
      <vt:lpstr>SQL UNION</vt:lpstr>
      <vt:lpstr>SQL Joins</vt:lpstr>
      <vt:lpstr>SQL JOINS</vt:lpstr>
      <vt:lpstr>SQL JOINS</vt:lpstr>
      <vt:lpstr>SQL INNER JOIN</vt:lpstr>
      <vt:lpstr>SQL INNER JOIN</vt:lpstr>
      <vt:lpstr>SQL INNER JOIN</vt:lpstr>
      <vt:lpstr>SQL LEFT JOIN</vt:lpstr>
      <vt:lpstr>SQL LEFT JOIN</vt:lpstr>
      <vt:lpstr>SQL LEFT JOIN</vt:lpstr>
      <vt:lpstr>SQL RIGHT JOIN</vt:lpstr>
      <vt:lpstr>SQL RIGHT JOIN</vt:lpstr>
      <vt:lpstr>SQL RIGHT JOIN</vt:lpstr>
      <vt:lpstr>SQL FULL OUTER JOIN</vt:lpstr>
      <vt:lpstr>SQL FULL OUTER JOIN</vt:lpstr>
      <vt:lpstr>SQL SELF JOIN</vt:lpstr>
      <vt:lpstr>SQL SELF JOIN</vt:lpstr>
      <vt:lpstr>SQL CROSS JOIN</vt:lpstr>
      <vt:lpstr>SQL CROSS JOIN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DBMS USING ORACLE-Day-1</dc:title>
  <dc:creator>Shivani</dc:creator>
  <cp:lastModifiedBy>Dilip Kumar</cp:lastModifiedBy>
  <cp:revision>753</cp:revision>
  <dcterms:created xsi:type="dcterms:W3CDTF">2016-01-12T03:28:29Z</dcterms:created>
  <dcterms:modified xsi:type="dcterms:W3CDTF">2019-04-15T04:17:57Z</dcterms:modified>
</cp:coreProperties>
</file>